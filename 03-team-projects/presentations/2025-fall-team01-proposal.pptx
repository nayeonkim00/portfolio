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88" r:id="rId4"/>
    <p:sldId id="321" r:id="rId5"/>
    <p:sldId id="303" r:id="rId6"/>
    <p:sldId id="304" r:id="rId7"/>
    <p:sldId id="287" r:id="rId8"/>
    <p:sldId id="324" r:id="rId9"/>
    <p:sldId id="322" r:id="rId10"/>
    <p:sldId id="325" r:id="rId11"/>
    <p:sldId id="323" r:id="rId12"/>
    <p:sldId id="313" r:id="rId13"/>
    <p:sldId id="291" r:id="rId14"/>
    <p:sldId id="328" r:id="rId15"/>
    <p:sldId id="318" r:id="rId16"/>
    <p:sldId id="332" r:id="rId17"/>
    <p:sldId id="316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 userDrawn="1">
          <p15:clr>
            <a:srgbClr val="A4A3A4"/>
          </p15:clr>
        </p15:guide>
        <p15:guide id="2" pos="3999" userDrawn="1">
          <p15:clr>
            <a:srgbClr val="A4A3A4"/>
          </p15:clr>
        </p15:guide>
        <p15:guide id="3" pos="234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2750" userDrawn="1">
          <p15:clr>
            <a:srgbClr val="A4A3A4"/>
          </p15:clr>
        </p15:guide>
        <p15:guide id="6" orient="horz" pos="1003" userDrawn="1">
          <p15:clr>
            <a:srgbClr val="A4A3A4"/>
          </p15:clr>
        </p15:guide>
        <p15:guide id="7" orient="horz" pos="3974" userDrawn="1">
          <p15:clr>
            <a:srgbClr val="A4A3A4"/>
          </p15:clr>
        </p15:guide>
        <p15:guide id="8" orient="horz" pos="320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나연 김" initials="나김" lastIdx="1" clrIdx="0">
    <p:extLst>
      <p:ext uri="{19B8F6BF-5375-455C-9EA6-DF929625EA0E}">
        <p15:presenceInfo xmlns:p15="http://schemas.microsoft.com/office/powerpoint/2012/main" userId="00810a2d179b210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77B4"/>
    <a:srgbClr val="D62728"/>
    <a:srgbClr val="2CA02C"/>
    <a:srgbClr val="FFFFFF"/>
    <a:srgbClr val="FF7F0E"/>
    <a:srgbClr val="EA783C"/>
    <a:srgbClr val="F4B899"/>
    <a:srgbClr val="FF0000"/>
    <a:srgbClr val="8DCE47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31DD66-7F0E-46BE-9F61-D5E2E4049707}" v="1" dt="2025-11-14T18:06:42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1821" autoAdjust="0"/>
  </p:normalViewPr>
  <p:slideViewPr>
    <p:cSldViewPr snapToGrid="0">
      <p:cViewPr varScale="1">
        <p:scale>
          <a:sx n="71" d="100"/>
          <a:sy n="71" d="100"/>
        </p:scale>
        <p:origin x="45" y="255"/>
      </p:cViewPr>
      <p:guideLst>
        <p:guide orient="horz" pos="346"/>
        <p:guide pos="3999"/>
        <p:guide pos="234"/>
        <p:guide pos="7469"/>
        <p:guide orient="horz" pos="2750"/>
        <p:guide orient="horz" pos="1003"/>
        <p:guide orient="horz" pos="3974"/>
        <p:guide orient="horz" pos="32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hoppo@gmail.com" userId="696d51eedbf48423" providerId="LiveId" clId="{43C24E96-BED3-4CBB-AD7D-F05D11843987}"/>
    <pc:docChg chg="modSld">
      <pc:chgData name="jinhoppo@gmail.com" userId="696d51eedbf48423" providerId="LiveId" clId="{43C24E96-BED3-4CBB-AD7D-F05D11843987}" dt="2025-11-14T18:07:42.718" v="34" actId="14100"/>
      <pc:docMkLst>
        <pc:docMk/>
      </pc:docMkLst>
      <pc:sldChg chg="modSp">
        <pc:chgData name="jinhoppo@gmail.com" userId="696d51eedbf48423" providerId="LiveId" clId="{43C24E96-BED3-4CBB-AD7D-F05D11843987}" dt="2025-11-14T18:06:42.404" v="30"/>
        <pc:sldMkLst>
          <pc:docMk/>
          <pc:sldMk cId="2198033736" sldId="291"/>
        </pc:sldMkLst>
        <pc:graphicFrameChg chg="mod">
          <ac:chgData name="jinhoppo@gmail.com" userId="696d51eedbf48423" providerId="LiveId" clId="{43C24E96-BED3-4CBB-AD7D-F05D11843987}" dt="2025-11-14T18:06:42.404" v="30"/>
          <ac:graphicFrameMkLst>
            <pc:docMk/>
            <pc:sldMk cId="2198033736" sldId="291"/>
            <ac:graphicFrameMk id="4" creationId="{1D229237-98C2-868B-EC80-55A52D522ABD}"/>
          </ac:graphicFrameMkLst>
        </pc:graphicFrameChg>
      </pc:sldChg>
      <pc:sldChg chg="modSp mod">
        <pc:chgData name="jinhoppo@gmail.com" userId="696d51eedbf48423" providerId="LiveId" clId="{43C24E96-BED3-4CBB-AD7D-F05D11843987}" dt="2025-11-14T08:00:47.845" v="29" actId="1076"/>
        <pc:sldMkLst>
          <pc:docMk/>
          <pc:sldMk cId="1431183000" sldId="304"/>
        </pc:sldMkLst>
        <pc:picChg chg="mod">
          <ac:chgData name="jinhoppo@gmail.com" userId="696d51eedbf48423" providerId="LiveId" clId="{43C24E96-BED3-4CBB-AD7D-F05D11843987}" dt="2025-11-14T08:00:47.845" v="29" actId="1076"/>
          <ac:picMkLst>
            <pc:docMk/>
            <pc:sldMk cId="1431183000" sldId="304"/>
            <ac:picMk id="45" creationId="{2E8E9265-3C35-C8B6-401F-C4B8B59D4C20}"/>
          </ac:picMkLst>
        </pc:picChg>
      </pc:sldChg>
      <pc:sldChg chg="modSp mod">
        <pc:chgData name="jinhoppo@gmail.com" userId="696d51eedbf48423" providerId="LiveId" clId="{43C24E96-BED3-4CBB-AD7D-F05D11843987}" dt="2025-11-14T18:07:42.718" v="34" actId="14100"/>
        <pc:sldMkLst>
          <pc:docMk/>
          <pc:sldMk cId="1762432714" sldId="313"/>
        </pc:sldMkLst>
        <pc:picChg chg="mod">
          <ac:chgData name="jinhoppo@gmail.com" userId="696d51eedbf48423" providerId="LiveId" clId="{43C24E96-BED3-4CBB-AD7D-F05D11843987}" dt="2025-11-14T18:07:42.718" v="34" actId="14100"/>
          <ac:picMkLst>
            <pc:docMk/>
            <pc:sldMk cId="1762432714" sldId="313"/>
            <ac:picMk id="6" creationId="{7247A87D-25EC-007F-F730-E12819C99A15}"/>
          </ac:picMkLst>
        </pc:picChg>
        <pc:picChg chg="mod">
          <ac:chgData name="jinhoppo@gmail.com" userId="696d51eedbf48423" providerId="LiveId" clId="{43C24E96-BED3-4CBB-AD7D-F05D11843987}" dt="2025-11-14T18:07:39.209" v="33" actId="14100"/>
          <ac:picMkLst>
            <pc:docMk/>
            <pc:sldMk cId="1762432714" sldId="313"/>
            <ac:picMk id="39" creationId="{FDC7A151-010B-87E9-0DA1-74D2BD312F42}"/>
          </ac:picMkLst>
        </pc:picChg>
      </pc:sldChg>
      <pc:sldChg chg="modSp mod">
        <pc:chgData name="jinhoppo@gmail.com" userId="696d51eedbf48423" providerId="LiveId" clId="{43C24E96-BED3-4CBB-AD7D-F05D11843987}" dt="2025-11-14T07:55:32.982" v="0" actId="1076"/>
        <pc:sldMkLst>
          <pc:docMk/>
          <pc:sldMk cId="3930441794" sldId="322"/>
        </pc:sldMkLst>
        <pc:spChg chg="mod">
          <ac:chgData name="jinhoppo@gmail.com" userId="696d51eedbf48423" providerId="LiveId" clId="{43C24E96-BED3-4CBB-AD7D-F05D11843987}" dt="2025-11-14T07:55:32.982" v="0" actId="1076"/>
          <ac:spMkLst>
            <pc:docMk/>
            <pc:sldMk cId="3930441794" sldId="322"/>
            <ac:spMk id="45" creationId="{9BC58B90-AB37-6260-6953-61752F01F65A}"/>
          </ac:spMkLst>
        </pc:spChg>
      </pc:sldChg>
      <pc:sldChg chg="modSp mod">
        <pc:chgData name="jinhoppo@gmail.com" userId="696d51eedbf48423" providerId="LiveId" clId="{43C24E96-BED3-4CBB-AD7D-F05D11843987}" dt="2025-11-14T07:56:07.988" v="1" actId="1076"/>
        <pc:sldMkLst>
          <pc:docMk/>
          <pc:sldMk cId="1741128497" sldId="323"/>
        </pc:sldMkLst>
        <pc:spChg chg="mod">
          <ac:chgData name="jinhoppo@gmail.com" userId="696d51eedbf48423" providerId="LiveId" clId="{43C24E96-BED3-4CBB-AD7D-F05D11843987}" dt="2025-11-14T07:56:07.988" v="1" actId="1076"/>
          <ac:spMkLst>
            <pc:docMk/>
            <pc:sldMk cId="1741128497" sldId="323"/>
            <ac:spMk id="45" creationId="{6215F778-01C0-0985-F5DF-0297ECC03D1D}"/>
          </ac:spMkLst>
        </pc:spChg>
      </pc:sldChg>
      <pc:sldChg chg="modSp mod">
        <pc:chgData name="jinhoppo@gmail.com" userId="696d51eedbf48423" providerId="LiveId" clId="{43C24E96-BED3-4CBB-AD7D-F05D11843987}" dt="2025-11-14T07:57:27.192" v="13" actId="1076"/>
        <pc:sldMkLst>
          <pc:docMk/>
          <pc:sldMk cId="1627567382" sldId="324"/>
        </pc:sldMkLst>
        <pc:spChg chg="mod">
          <ac:chgData name="jinhoppo@gmail.com" userId="696d51eedbf48423" providerId="LiveId" clId="{43C24E96-BED3-4CBB-AD7D-F05D11843987}" dt="2025-11-14T07:57:27.192" v="13" actId="1076"/>
          <ac:spMkLst>
            <pc:docMk/>
            <pc:sldMk cId="1627567382" sldId="324"/>
            <ac:spMk id="42" creationId="{959FC830-1ED1-00C3-53E3-1F322EF5B038}"/>
          </ac:spMkLst>
        </pc:spChg>
        <pc:spChg chg="mod">
          <ac:chgData name="jinhoppo@gmail.com" userId="696d51eedbf48423" providerId="LiveId" clId="{43C24E96-BED3-4CBB-AD7D-F05D11843987}" dt="2025-11-14T07:57:13.901" v="3" actId="14100"/>
          <ac:spMkLst>
            <pc:docMk/>
            <pc:sldMk cId="1627567382" sldId="324"/>
            <ac:spMk id="51" creationId="{22ADFF6C-A432-B193-F287-8E93B981F017}"/>
          </ac:spMkLst>
        </pc:spChg>
      </pc:sldChg>
      <pc:sldChg chg="modSp mod">
        <pc:chgData name="jinhoppo@gmail.com" userId="696d51eedbf48423" providerId="LiveId" clId="{43C24E96-BED3-4CBB-AD7D-F05D11843987}" dt="2025-11-14T07:59:00.517" v="28" actId="1076"/>
        <pc:sldMkLst>
          <pc:docMk/>
          <pc:sldMk cId="1676533346" sldId="332"/>
        </pc:sldMkLst>
        <pc:grpChg chg="mod">
          <ac:chgData name="jinhoppo@gmail.com" userId="696d51eedbf48423" providerId="LiveId" clId="{43C24E96-BED3-4CBB-AD7D-F05D11843987}" dt="2025-11-14T07:59:00.517" v="28" actId="1076"/>
          <ac:grpSpMkLst>
            <pc:docMk/>
            <pc:sldMk cId="1676533346" sldId="332"/>
            <ac:grpSpMk id="15" creationId="{AACF9161-23DE-771F-E618-31F7F0923042}"/>
          </ac:grpSpMkLst>
        </pc:gr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5:22:36.62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159 1 24575,'-46'0'0,"117"3"0,-28-3 0,-31 0 0,-32 0 0,-52-1 0,-74 2 0,191 11 0,-20-6 0,1-2 0,-1 0 0,1-1 0,36-2 0,-56-3 0,-15 0 0,-16-1 0,-48 3 0,71 1 0,7 1 0,9 2 0,-7-4-120,-4 1 16,1-1 1,-1 0-1,0 1 0,1-1 0,-1-1 1,0 1-1,1 0 0,-1-1 0,0 0 1,1 0-1,4-2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5:22:39.768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37 2 24575,'-8'0'0,"6"-1"0,0 1 0,-1 0 0,1 0 0,0 0 0,0 0 0,0 0 0,0 0 0,0 1 0,0-1 0,0 1 0,-4 1 0,9-1 0,0 0 0,-1 0 0,1 0 0,0 0 0,-1 0 0,1 0 0,5 0 0,41 4 0,-53-5 0,0-1 0,-1 1 0,1 0 0,0 0 0,-1 1 0,-7 1 0,27 2 0,89 15 0,-96-18 0,-6-1 0,-6 2 0,6-1 0,0 1 0,0-1 0,0 0 0,1 1 0,-1-1 0,5 1 0,1 0 0,1 1 0,0-2 0,0 1 0,0-1 0,18-1 0,-24-2 0,-7-2 0,-10 0 0,-15 1 0,32 2 0,0 1 0,0-1 0,0 0 0,0 0 0,-1 0 0,1-1 0,0 1 0,-1-1 0,1 1 0,-1-1 0,4-3 0,-6 4 0,0 1 0,-1 0 0,1-1 0,0 1 0,0 0 0,-1-1 0,1 1 0,0 0 0,-1-1 0,1 1 0,-1 0 0,1 0 0,0-1 0,-1 1 0,1 0 0,-1 0 0,1 0 0,0 0 0,-1 0 0,1 0 0,-1-1 0,1 1 0,-1 0 0,1 0 0,-1 0 0,1 0 0,-1 1 0,-15-2 0,16 1 0,-24 4 0,-115-4 0,179 1 0,-12-1 0,31-2 0,-59 2 5,1 0-1,-1 0 1,1 0 0,-1 0-1,1 0 1,-1 0-1,1 0 1,-1 0 0,1 0-1,-1 0 1,0-1 0,1 1-1,-1 0 1,1 0-1,-1 0 1,0-1 0,1 1-1,-1 0 1,1-1-1,-1 1 1,0 0 0,0-1-1,1 1 1,-1 0-1,1-1 1,-2 0-56,1 1 0,0 0-1,0-1 1,0 1 0,-1 0 0,1-1 0,0 1-1,0 0 1,-1-1 0,1 1 0,0 0 0,-1 0-1,1-1 1,0 1 0,-1 0 0,1 0-1,0 0 1,-1-1 0,1 1 0,0 0 0,-1 0-1,1 0 1,-1 0 0,1 0 0,0 0 0,-1 0-1,1 0 1,-1 0 0,-4-1-6775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5:22:41.46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74 1 24575,'3'1'0,"0"1"0,0-1 0,0 1 0,1-1 0,-1 0 0,0 0 0,1 0 0,-1-1 0,1 1 0,6-1 0,2 2 0,16 4 0,-17-3 0,-10-3 0,-4-1 0,-61-11 0,65 13 0,3 1 0,-1-1 0,1 1 0,0-1 0,0 1 0,0-1 0,0-1 0,6 2 0,-31-7 0,-14 5 0,56 9 0,-15-7 0,-3-1 0,1 0 0,0 0 0,-1 0 0,1 0 0,0-1 0,0 1 0,0-1 0,-1 0 0,5-1 0,-30-5 0,-29 7 45,36 0-398,-1 0 1,0-2-1,-15-2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7D893B-B216-464F-986F-81354C1F135D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B1E91-A4DC-4F89-9C2B-ED467D818B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986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B1E91-A4DC-4F89-9C2B-ED467D818B7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353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0543E-8D91-55D7-6835-FB0480C65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A0230A-FF7E-AF9E-B048-5BDBC6ED9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4D423F-F838-1057-CD1E-42A9B6251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FA918-4C36-C8BE-F575-D54EE7880F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B1E91-A4DC-4F89-9C2B-ED467D818B7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159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B1E91-A4DC-4F89-9C2B-ED467D818B7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043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2309E-733A-2E88-857E-3D9D23E90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BDB4E8-F9CA-7382-A14C-EDABDD53A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1A4D03-7380-F507-8B92-2091D9064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D53536-29D6-399A-0E7C-E7B4C1740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B1E91-A4DC-4F89-9C2B-ED467D818B7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684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B1E91-A4DC-4F89-9C2B-ED467D818B7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970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52820-79C8-0EF3-9967-BA06BEDEB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3F8948-2F0C-959E-9F55-9AB66F24C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265C21-A834-E3B7-38CA-D5BACD9D4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0433BE-2F0E-5210-5C26-D06C442D70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B1E91-A4DC-4F89-9C2B-ED467D818B7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846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B1E91-A4DC-4F89-9C2B-ED467D818B7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671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D0FDD-789B-F949-BCD8-D5E68F584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36C73E-E8FB-5B09-AC29-F8009B7BC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33A4DC-DDD6-6E1A-1D5F-53A165CD2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9B3520-CDD8-0A42-8441-8F4F4352E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B1E91-A4DC-4F89-9C2B-ED467D818B7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51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307BC-C798-256B-2EE9-024A1B473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D8946B-8901-CA19-DCD9-986E196A0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3B5E6F-48A0-B446-174B-3A1B2A92A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7F929C-D645-3082-8B32-EED0D7D01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5B1E91-A4DC-4F89-9C2B-ED467D818B7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829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B886CA-DDDA-7941-CA4C-7DC38F9B8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37773E6-DBA0-A0D7-DB0D-573C9A2DD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A49879-4F3C-0BCA-43BF-403F7890A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7EEA-EE55-48C2-8704-02B96AA2A60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5099C8-C146-B5DA-2A68-BB5B58DD6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C265D5-E99B-4223-E917-76F629380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5B3D-5CC4-4008-BECD-559761E1D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830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3B1DB-F37B-1982-9DAF-F73EF9234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7BF80C-0402-7485-8E23-9B7F8D4A0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DAAC66-D659-D0D7-41CD-21453D430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7EEA-EE55-48C2-8704-02B96AA2A60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3C8408-CC36-564A-1887-8776D9EFB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51F165-FFAA-9DFB-0519-98202148B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5B3D-5CC4-4008-BECD-559761E1D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84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19FE3-2987-41D3-27A2-1651267D2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A75DC2-F48E-8269-6371-155B00695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287A1F-EF74-3547-92E5-07D840FCC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7EEA-EE55-48C2-8704-02B96AA2A60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12BD93-6F62-1684-E6A0-3E4D685B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BDDBAC-73A1-3E15-BF08-54383CECC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5B3D-5CC4-4008-BECD-559761E1D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510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0B565-A376-6D8F-599A-3912B1622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4B0491-D6EA-463C-D788-871DD33B06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EE2B69-4295-25D4-7AB9-DEA8BCADA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A01372-14DC-6D4E-4385-6340C9DD6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7EEA-EE55-48C2-8704-02B96AA2A60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3790B5-1441-ABF8-F3F2-9176555DB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4553B5-6C62-FB7A-85B3-A6F23D08E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5B3D-5CC4-4008-BECD-559761E1D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3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E8BDD5-64F4-4FB0-0756-198D31DDF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BB8B42-1331-B25F-7258-0E352FE37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9EB8C5-F4D4-3484-F2F9-5F5C658DD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57B26E-7CE8-24B5-6804-AFA5B8561D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08E83B-BE9E-C2D0-BE00-562149AC00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553C7D4-726B-73B1-C8B3-0CDE58FD5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7EEA-EE55-48C2-8704-02B96AA2A60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21CDF4C-E6F3-F3A7-D61C-AD53A6AB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CE16A0A-5D7C-E4AB-0EC2-15FE8CAC1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5B3D-5CC4-4008-BECD-559761E1D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55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DD64E8-D9AA-D115-720B-794AA883B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9454ECB-FC74-E47F-79E4-C3790853B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7EEA-EE55-48C2-8704-02B96AA2A60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EE2127-349B-3B29-CD50-0F53B1452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F7ABA6-93CC-41C6-29C0-F1C228A98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5B3D-5CC4-4008-BECD-559761E1D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53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EC607CD-34CC-EA86-81EC-3C9D7F2CF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7EEA-EE55-48C2-8704-02B96AA2A60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16DF076-1FAA-209D-C03B-64C9145A5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64A55E-D7A0-9F37-2897-0830C0D8E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5B3D-5CC4-4008-BECD-559761E1D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46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D97965-7F83-7B24-8A42-F29B70916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28A47F-E140-4681-1845-438A22C0C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8B343D-5254-0ADF-48DC-41435F9B2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CC2581-8582-80BB-DEC9-26EC399D5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7EEA-EE55-48C2-8704-02B96AA2A60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0ABC27-DD51-036E-22A8-D8C4FC250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3FDFFE-BC56-1A27-B315-55A8525DD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5B3D-5CC4-4008-BECD-559761E1D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548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C137A-C81E-0C7B-E618-3648CF07C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1ED2432-5F51-98B7-5BDD-BA2A7C151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8677A7-BBC6-5E12-6A19-C6F6879D9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187D8A-9544-6A1D-4B54-D0529B9AB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7EEA-EE55-48C2-8704-02B96AA2A60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434086-B72B-6D8F-9D8E-FD0B0661D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EF0E57-9EC1-D02E-DA8C-449B4EBEC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5B3D-5CC4-4008-BECD-559761E1D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083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CB0DD-7138-83FF-2C84-E3DF0E8B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82D3AB-BB11-B245-BD52-27C986EF0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42B84C-521A-E9A1-4BF6-AB0EA3795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7EEA-EE55-48C2-8704-02B96AA2A60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CBF49C-AFE2-0FB0-FD94-E04BFC748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3D9659-B7A2-5272-BCFD-86B10151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5B3D-5CC4-4008-BECD-559761E1D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528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140EBD7-B5A6-5AE8-1BFA-FD5D6524FE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7B4861-5BDD-291A-1C54-230C149A1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52ED66-529E-461D-CBF6-8B359E1AD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7EEA-EE55-48C2-8704-02B96AA2A60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6C53AE-6D55-23A8-DD57-CC5509020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6ADD64-67EF-A795-0AF6-2230E387E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5B3D-5CC4-4008-BECD-559761E1D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787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C10946-055B-1F04-2B44-5FBB91DA8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153542-0369-0BD0-9E1A-6E3DF7D21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BB4FAC-45BB-42FF-CC9A-3EA8DDE228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DD7EEA-EE55-48C2-8704-02B96AA2A60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E10BF4-DBF7-0DC5-AD43-4D2D9A210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7CBD13-960E-649A-0F15-119419A67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F5B3D-5CC4-4008-BECD-559761E1D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121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2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2.png"/><Relationship Id="rId5" Type="http://schemas.openxmlformats.org/officeDocument/2006/relationships/image" Target="../media/image19.png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7.png"/><Relationship Id="rId7" Type="http://schemas.openxmlformats.org/officeDocument/2006/relationships/image" Target="../media/image27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0.png"/><Relationship Id="rId5" Type="http://schemas.openxmlformats.org/officeDocument/2006/relationships/image" Target="../media/image240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0.png"/><Relationship Id="rId5" Type="http://schemas.openxmlformats.org/officeDocument/2006/relationships/image" Target="../media/image300.png"/><Relationship Id="rId4" Type="http://schemas.openxmlformats.org/officeDocument/2006/relationships/image" Target="../media/image29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customXml" Target="../ink/ink2.xml"/><Relationship Id="rId12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0.png"/><Relationship Id="rId11" Type="http://schemas.openxmlformats.org/officeDocument/2006/relationships/image" Target="../media/image35.png"/><Relationship Id="rId10" Type="http://schemas.openxmlformats.org/officeDocument/2006/relationships/image" Target="../media/image39.png"/><Relationship Id="rId4" Type="http://schemas.openxmlformats.org/officeDocument/2006/relationships/customXml" Target="../ink/ink1.xml"/><Relationship Id="rId9" Type="http://schemas.openxmlformats.org/officeDocument/2006/relationships/customXml" Target="../ink/ink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F7E525A4-6814-6EE1-4CE6-8657A9508626}"/>
              </a:ext>
            </a:extLst>
          </p:cNvPr>
          <p:cNvSpPr/>
          <p:nvPr/>
        </p:nvSpPr>
        <p:spPr>
          <a:xfrm rot="5400000">
            <a:off x="28753" y="-28752"/>
            <a:ext cx="1322721" cy="1380224"/>
          </a:xfrm>
          <a:prstGeom prst="rtTriangle">
            <a:avLst/>
          </a:prstGeom>
          <a:solidFill>
            <a:srgbClr val="EFF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1DA0F4B3-6D8C-A250-A0A5-7CFDCFC4510F}"/>
              </a:ext>
            </a:extLst>
          </p:cNvPr>
          <p:cNvSpPr/>
          <p:nvPr/>
        </p:nvSpPr>
        <p:spPr>
          <a:xfrm rot="5400000" flipV="1">
            <a:off x="6282904" y="-560718"/>
            <a:ext cx="5348380" cy="6469816"/>
          </a:xfrm>
          <a:prstGeom prst="rtTriangle">
            <a:avLst/>
          </a:prstGeom>
          <a:solidFill>
            <a:srgbClr val="DFE7F4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각 삼각형 8">
            <a:extLst>
              <a:ext uri="{FF2B5EF4-FFF2-40B4-BE49-F238E27FC236}">
                <a16:creationId xmlns:a16="http://schemas.microsoft.com/office/drawing/2014/main" id="{4C8A1645-6164-472A-90A2-9B5761366101}"/>
              </a:ext>
            </a:extLst>
          </p:cNvPr>
          <p:cNvSpPr/>
          <p:nvPr/>
        </p:nvSpPr>
        <p:spPr>
          <a:xfrm>
            <a:off x="0" y="5477776"/>
            <a:ext cx="1322721" cy="1380224"/>
          </a:xfrm>
          <a:prstGeom prst="rtTriangle">
            <a:avLst/>
          </a:prstGeom>
          <a:solidFill>
            <a:srgbClr val="EFF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7B2CB154-DD65-F65B-9284-AE5549494E7B}"/>
              </a:ext>
            </a:extLst>
          </p:cNvPr>
          <p:cNvSpPr/>
          <p:nvPr/>
        </p:nvSpPr>
        <p:spPr>
          <a:xfrm rot="16200000">
            <a:off x="6282902" y="948902"/>
            <a:ext cx="5348380" cy="6469816"/>
          </a:xfrm>
          <a:prstGeom prst="rtTriangle">
            <a:avLst/>
          </a:prstGeom>
          <a:solidFill>
            <a:srgbClr val="DFE7F4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ABA85AAA-3637-42DD-35DF-ECF4A9BF5883}"/>
              </a:ext>
            </a:extLst>
          </p:cNvPr>
          <p:cNvSpPr/>
          <p:nvPr/>
        </p:nvSpPr>
        <p:spPr>
          <a:xfrm rot="16200000">
            <a:off x="8881614" y="2258682"/>
            <a:ext cx="4280139" cy="2340635"/>
          </a:xfrm>
          <a:prstGeom prst="triangle">
            <a:avLst/>
          </a:prstGeom>
          <a:solidFill>
            <a:srgbClr val="BFD2E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B26F94-5725-82D6-FF7E-74A2EC6A6AF6}"/>
              </a:ext>
            </a:extLst>
          </p:cNvPr>
          <p:cNvSpPr txBox="1"/>
          <p:nvPr/>
        </p:nvSpPr>
        <p:spPr>
          <a:xfrm>
            <a:off x="1071477" y="2739278"/>
            <a:ext cx="904407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Negative </a:t>
            </a:r>
            <a:r>
              <a:rPr lang="en-US" altLang="ko-KR" sz="35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Coskewness</a:t>
            </a:r>
            <a:r>
              <a:rPr lang="en-US" altLang="ko-KR" sz="35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Investment</a:t>
            </a:r>
            <a:endParaRPr lang="ko-KR" altLang="en-US" sz="35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6EB5D2-8B59-880B-DD04-212F3886A464}"/>
              </a:ext>
            </a:extLst>
          </p:cNvPr>
          <p:cNvSpPr txBox="1"/>
          <p:nvPr/>
        </p:nvSpPr>
        <p:spPr>
          <a:xfrm>
            <a:off x="1071477" y="3472038"/>
            <a:ext cx="5875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 Korean Stock Market Application</a:t>
            </a:r>
            <a:endParaRPr lang="ko-KR" altLang="en-US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" name="그림 1" descr="텍스트, 폰트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247691-BF07-EDAB-4E1E-8B50B01F1A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046" y="6140338"/>
            <a:ext cx="1209904" cy="40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55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042C9-607B-9B40-3E8D-E040B31AC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EDC54F60-FB4D-B9FE-D9B2-D22DBB2D3B7E}"/>
              </a:ext>
            </a:extLst>
          </p:cNvPr>
          <p:cNvSpPr/>
          <p:nvPr/>
        </p:nvSpPr>
        <p:spPr>
          <a:xfrm rot="5400000">
            <a:off x="28753" y="-28752"/>
            <a:ext cx="1322721" cy="1380224"/>
          </a:xfrm>
          <a:prstGeom prst="rtTriangle">
            <a:avLst/>
          </a:prstGeom>
          <a:solidFill>
            <a:srgbClr val="EFF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각 삼각형 8">
            <a:extLst>
              <a:ext uri="{FF2B5EF4-FFF2-40B4-BE49-F238E27FC236}">
                <a16:creationId xmlns:a16="http://schemas.microsoft.com/office/drawing/2014/main" id="{A4DB31A2-EC21-DEEE-9414-6278792C3F46}"/>
              </a:ext>
            </a:extLst>
          </p:cNvPr>
          <p:cNvSpPr/>
          <p:nvPr/>
        </p:nvSpPr>
        <p:spPr>
          <a:xfrm>
            <a:off x="0" y="5477776"/>
            <a:ext cx="1322721" cy="1380224"/>
          </a:xfrm>
          <a:prstGeom prst="rtTriangle">
            <a:avLst/>
          </a:prstGeom>
          <a:solidFill>
            <a:srgbClr val="EFF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5FFA1E2C-72B7-EA94-C1CB-33B0A8E7DB38}"/>
              </a:ext>
            </a:extLst>
          </p:cNvPr>
          <p:cNvSpPr/>
          <p:nvPr/>
        </p:nvSpPr>
        <p:spPr>
          <a:xfrm rot="16200000">
            <a:off x="8832382" y="3498382"/>
            <a:ext cx="3176572" cy="3542663"/>
          </a:xfrm>
          <a:prstGeom prst="rtTriangle">
            <a:avLst/>
          </a:prstGeom>
          <a:solidFill>
            <a:srgbClr val="DFE7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1220B0-DA3D-A55A-986A-B1878FBE1423}"/>
              </a:ext>
            </a:extLst>
          </p:cNvPr>
          <p:cNvSpPr txBox="1"/>
          <p:nvPr/>
        </p:nvSpPr>
        <p:spPr>
          <a:xfrm>
            <a:off x="1064270" y="583139"/>
            <a:ext cx="209463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Contents</a:t>
            </a:r>
          </a:p>
        </p:txBody>
      </p:sp>
      <p:sp>
        <p:nvSpPr>
          <p:cNvPr id="2" name="직각 삼각형 1">
            <a:extLst>
              <a:ext uri="{FF2B5EF4-FFF2-40B4-BE49-F238E27FC236}">
                <a16:creationId xmlns:a16="http://schemas.microsoft.com/office/drawing/2014/main" id="{9E34421A-B0A1-1A90-F0C7-383DE4F33801}"/>
              </a:ext>
            </a:extLst>
          </p:cNvPr>
          <p:cNvSpPr/>
          <p:nvPr/>
        </p:nvSpPr>
        <p:spPr>
          <a:xfrm rot="5400000" flipV="1">
            <a:off x="8386289" y="352107"/>
            <a:ext cx="4160981" cy="3450442"/>
          </a:xfrm>
          <a:prstGeom prst="rtTriangle">
            <a:avLst/>
          </a:prstGeom>
          <a:solidFill>
            <a:srgbClr val="DFE7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798E31-2B20-DB5E-D052-D00CAB159B02}"/>
              </a:ext>
            </a:extLst>
          </p:cNvPr>
          <p:cNvSpPr txBox="1"/>
          <p:nvPr/>
        </p:nvSpPr>
        <p:spPr>
          <a:xfrm>
            <a:off x="6331978" y="1795217"/>
            <a:ext cx="2956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Theoretical Framework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1518B7-EB5F-6E20-4CD7-86D5480A6055}"/>
              </a:ext>
            </a:extLst>
          </p:cNvPr>
          <p:cNvSpPr txBox="1"/>
          <p:nvPr/>
        </p:nvSpPr>
        <p:spPr>
          <a:xfrm>
            <a:off x="6331977" y="2776462"/>
            <a:ext cx="2888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Portfolio Construction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E08F34-080B-4C6F-CEAA-E61AAF659F13}"/>
              </a:ext>
            </a:extLst>
          </p:cNvPr>
          <p:cNvSpPr txBox="1"/>
          <p:nvPr/>
        </p:nvSpPr>
        <p:spPr>
          <a:xfrm>
            <a:off x="6331978" y="4738954"/>
            <a:ext cx="1510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Conclusion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A9D8218-43E6-D82D-5F9E-6FC048529BED}"/>
              </a:ext>
            </a:extLst>
          </p:cNvPr>
          <p:cNvGrpSpPr/>
          <p:nvPr/>
        </p:nvGrpSpPr>
        <p:grpSpPr>
          <a:xfrm>
            <a:off x="5815143" y="1795217"/>
            <a:ext cx="577852" cy="3343847"/>
            <a:chOff x="6095998" y="1795217"/>
            <a:chExt cx="577852" cy="334384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7B58D9-8BAF-B3C7-FF54-1ADF34645C0B}"/>
                </a:ext>
              </a:extLst>
            </p:cNvPr>
            <p:cNvSpPr txBox="1"/>
            <p:nvPr/>
          </p:nvSpPr>
          <p:spPr>
            <a:xfrm>
              <a:off x="6096000" y="1795217"/>
              <a:ext cx="5778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/>
                <a:t>01. 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993A53E-7150-ACA4-A603-31143C8F711A}"/>
                </a:ext>
              </a:extLst>
            </p:cNvPr>
            <p:cNvSpPr txBox="1"/>
            <p:nvPr/>
          </p:nvSpPr>
          <p:spPr>
            <a:xfrm>
              <a:off x="6095999" y="2776463"/>
              <a:ext cx="5778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/>
                <a:t>02.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68B029A-5D70-D04E-F019-059B195A76C1}"/>
                </a:ext>
              </a:extLst>
            </p:cNvPr>
            <p:cNvSpPr txBox="1"/>
            <p:nvPr/>
          </p:nvSpPr>
          <p:spPr>
            <a:xfrm>
              <a:off x="6096000" y="3757709"/>
              <a:ext cx="5778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/>
                <a:t>03. 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AD612BD-CEB7-E697-3360-B4EBBBB009C7}"/>
                </a:ext>
              </a:extLst>
            </p:cNvPr>
            <p:cNvSpPr txBox="1"/>
            <p:nvPr/>
          </p:nvSpPr>
          <p:spPr>
            <a:xfrm>
              <a:off x="6095998" y="4738954"/>
              <a:ext cx="5168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/>
                <a:t>04. </a:t>
              </a:r>
            </a:p>
          </p:txBody>
        </p:sp>
      </p:grp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FBEA439-4D7F-C877-1F34-E8C531ADA085}"/>
              </a:ext>
            </a:extLst>
          </p:cNvPr>
          <p:cNvCxnSpPr>
            <a:cxnSpLocks/>
          </p:cNvCxnSpPr>
          <p:nvPr/>
        </p:nvCxnSpPr>
        <p:spPr>
          <a:xfrm>
            <a:off x="5815143" y="2195327"/>
            <a:ext cx="4326837" cy="0"/>
          </a:xfrm>
          <a:prstGeom prst="line">
            <a:avLst/>
          </a:prstGeom>
          <a:ln w="15875">
            <a:solidFill>
              <a:schemeClr val="tx1">
                <a:alpha val="7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085931C-AC9C-4297-81AA-68EB03361987}"/>
              </a:ext>
            </a:extLst>
          </p:cNvPr>
          <p:cNvSpPr txBox="1"/>
          <p:nvPr/>
        </p:nvSpPr>
        <p:spPr>
          <a:xfrm>
            <a:off x="6331978" y="3757706"/>
            <a:ext cx="2843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Performance Analysis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F4DD94E-0240-A4FB-8578-0B42DDD24A17}"/>
              </a:ext>
            </a:extLst>
          </p:cNvPr>
          <p:cNvCxnSpPr>
            <a:cxnSpLocks/>
          </p:cNvCxnSpPr>
          <p:nvPr/>
        </p:nvCxnSpPr>
        <p:spPr>
          <a:xfrm>
            <a:off x="5815143" y="3176572"/>
            <a:ext cx="4326837" cy="0"/>
          </a:xfrm>
          <a:prstGeom prst="line">
            <a:avLst/>
          </a:prstGeom>
          <a:ln w="15875">
            <a:solidFill>
              <a:schemeClr val="tx1">
                <a:alpha val="7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8EF23C6B-4795-7E72-2EF8-BEF297AB9EC9}"/>
              </a:ext>
            </a:extLst>
          </p:cNvPr>
          <p:cNvCxnSpPr>
            <a:cxnSpLocks/>
          </p:cNvCxnSpPr>
          <p:nvPr/>
        </p:nvCxnSpPr>
        <p:spPr>
          <a:xfrm>
            <a:off x="5815142" y="4157816"/>
            <a:ext cx="4326837" cy="0"/>
          </a:xfrm>
          <a:prstGeom prst="line">
            <a:avLst/>
          </a:prstGeom>
          <a:ln w="15875">
            <a:solidFill>
              <a:schemeClr val="tx1">
                <a:alpha val="7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377E08D7-2B78-5153-C0C9-736F15DA41EE}"/>
              </a:ext>
            </a:extLst>
          </p:cNvPr>
          <p:cNvCxnSpPr>
            <a:cxnSpLocks/>
          </p:cNvCxnSpPr>
          <p:nvPr/>
        </p:nvCxnSpPr>
        <p:spPr>
          <a:xfrm>
            <a:off x="5815142" y="5139064"/>
            <a:ext cx="4326837" cy="0"/>
          </a:xfrm>
          <a:prstGeom prst="line">
            <a:avLst/>
          </a:prstGeom>
          <a:ln w="15875">
            <a:solidFill>
              <a:schemeClr val="tx1">
                <a:alpha val="7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그림 2" descr="텍스트, 폰트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F9A396-46BA-516A-5E67-C966A4D66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046" y="6140338"/>
            <a:ext cx="1209904" cy="40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22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DB17F0-D645-8CA8-E2A7-BFE321D2888D}"/>
              </a:ext>
            </a:extLst>
          </p:cNvPr>
          <p:cNvSpPr txBox="1">
            <a:spLocks/>
          </p:cNvSpPr>
          <p:nvPr/>
        </p:nvSpPr>
        <p:spPr>
          <a:xfrm rot="10800000" flipV="1">
            <a:off x="360000" y="180000"/>
            <a:ext cx="4644204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200" b="1" dirty="0">
                <a:solidFill>
                  <a:schemeClr val="tx2">
                    <a:lumMod val="75000"/>
                    <a:lumOff val="25000"/>
                    <a:alpha val="50000"/>
                  </a:schemeClr>
                </a:solidFill>
              </a:rPr>
              <a:t>01.Theoretical Framework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EC3AE8-D4DD-A379-7E01-0A1A36D8EF45}"/>
              </a:ext>
            </a:extLst>
          </p:cNvPr>
          <p:cNvSpPr txBox="1"/>
          <p:nvPr/>
        </p:nvSpPr>
        <p:spPr>
          <a:xfrm>
            <a:off x="539999" y="631593"/>
            <a:ext cx="8930571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Skewness</a:t>
            </a:r>
            <a:r>
              <a:rPr lang="ko-KR" altLang="en-US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&amp; Utility </a:t>
            </a:r>
            <a:r>
              <a:rPr lang="en-US" altLang="ko-KR" sz="1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14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왜도가</a:t>
            </a:r>
            <a:r>
              <a:rPr lang="ko-KR" altLang="en-US" sz="1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효용함수 </a:t>
            </a:r>
            <a:r>
              <a:rPr lang="en-US" altLang="ko-KR" sz="1400" b="1" dirty="0">
                <a:solidFill>
                  <a:schemeClr val="tx2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소비자선호 </a:t>
            </a:r>
            <a:r>
              <a:rPr lang="en-US" altLang="ko-KR" sz="1400" b="1" dirty="0">
                <a:solidFill>
                  <a:schemeClr val="tx2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주가에 반영되며</a:t>
            </a:r>
            <a:r>
              <a:rPr lang="en-US" altLang="ko-KR" sz="1400" b="1" dirty="0">
                <a:solidFill>
                  <a:schemeClr val="tx2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,</a:t>
            </a:r>
            <a:r>
              <a:rPr lang="ko-KR" alt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ko-KR" altLang="en-US" sz="1400" b="1" dirty="0" err="1">
                <a:solidFill>
                  <a:schemeClr val="tx2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왜도</a:t>
            </a:r>
            <a:r>
              <a:rPr lang="ko-KR" alt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 프리미엄이 존재함 </a:t>
            </a:r>
            <a:endParaRPr lang="en-US" altLang="ko-KR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5E4E1E-A30D-4884-744E-F61C406F2605}"/>
                  </a:ext>
                </a:extLst>
              </p:cNvPr>
              <p:cNvSpPr txBox="1"/>
              <p:nvPr/>
            </p:nvSpPr>
            <p:spPr>
              <a:xfrm>
                <a:off x="360001" y="1627200"/>
                <a:ext cx="5472000" cy="905616"/>
              </a:xfrm>
              <a:prstGeom prst="rect">
                <a:avLst/>
              </a:prstGeom>
              <a:noFill/>
            </p:spPr>
            <p:txBody>
              <a:bodyPr wrap="square" lIns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200" dirty="0" err="1"/>
                  <a:t>왜도란</a:t>
                </a:r>
                <a:r>
                  <a:rPr lang="ko-KR" altLang="en-US" sz="1200" dirty="0"/>
                  <a:t> 확률분포의 비대칭정도를 측정하는 통계량이다</a:t>
                </a:r>
                <a:r>
                  <a:rPr lang="en-US" altLang="ko-KR" sz="1200" dirty="0"/>
                  <a:t>.</a:t>
                </a:r>
                <a:endParaRPr lang="en-US" altLang="ko-KR" sz="12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𝑆𝑘𝑒𝑤𝑛𝑒𝑠𝑠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ko-KR" alt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2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 ,  </m:t>
                      </m:r>
                      <m:r>
                        <a:rPr lang="el-GR" altLang="ko-KR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ko-KR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ko-KR" altLang="en-US" sz="120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평</m:t>
                      </m:r>
                      <m:r>
                        <a:rPr lang="ko-KR" altLang="en-US" sz="120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균</m:t>
                      </m:r>
                      <m:r>
                        <a:rPr lang="en-US" altLang="ko-KR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 </m:t>
                      </m:r>
                      <m:r>
                        <a:rPr lang="el-GR" altLang="ko-KR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altLang="ko-KR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 </m:t>
                      </m:r>
                      <m:r>
                        <a:rPr lang="ko-KR" altLang="en-US" sz="120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표</m:t>
                      </m:r>
                      <m:r>
                        <a:rPr lang="ko-KR" altLang="en-US" sz="120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준</m:t>
                      </m:r>
                      <m:r>
                        <a:rPr lang="ko-KR" altLang="en-US" sz="120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편</m:t>
                      </m:r>
                      <m:r>
                        <a:rPr lang="ko-KR" altLang="en-US" sz="120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차</m:t>
                      </m:r>
                    </m:oMath>
                  </m:oMathPara>
                </a14:m>
                <a:endParaRPr lang="en-US" altLang="ko-KR" sz="500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1200" dirty="0"/>
                  <a:t>                         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5E4E1E-A30D-4884-744E-F61C406F2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1627200"/>
                <a:ext cx="5472000" cy="905616"/>
              </a:xfrm>
              <a:prstGeom prst="rect">
                <a:avLst/>
              </a:prstGeom>
              <a:blipFill>
                <a:blip r:embed="rId2"/>
                <a:stretch>
                  <a:fillRect l="-16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직사각형 4">
            <a:extLst>
              <a:ext uri="{FF2B5EF4-FFF2-40B4-BE49-F238E27FC236}">
                <a16:creationId xmlns:a16="http://schemas.microsoft.com/office/drawing/2014/main" id="{23DE4FEB-7709-F069-19C9-B6EB29DC5358}"/>
              </a:ext>
            </a:extLst>
          </p:cNvPr>
          <p:cNvSpPr/>
          <p:nvPr/>
        </p:nvSpPr>
        <p:spPr>
          <a:xfrm>
            <a:off x="360000" y="720000"/>
            <a:ext cx="101948" cy="251534"/>
          </a:xfrm>
          <a:prstGeom prst="rect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BBC431-2117-F585-6136-C023105B851A}"/>
              </a:ext>
            </a:extLst>
          </p:cNvPr>
          <p:cNvGrpSpPr/>
          <p:nvPr/>
        </p:nvGrpSpPr>
        <p:grpSpPr>
          <a:xfrm>
            <a:off x="360000" y="1171990"/>
            <a:ext cx="5472000" cy="311948"/>
            <a:chOff x="360000" y="1171989"/>
            <a:chExt cx="3565389" cy="311949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9EDC2AB-17D6-3E4C-F49A-E3479657B993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rgbClr val="215F9A"/>
                  </a:solidFill>
                </a:rPr>
                <a:t>Skewness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2248BC42-A617-80F2-D36F-63059E448AF3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F9C2458-DD24-ED6C-840B-071D0905739F}"/>
              </a:ext>
            </a:extLst>
          </p:cNvPr>
          <p:cNvGrpSpPr/>
          <p:nvPr/>
        </p:nvGrpSpPr>
        <p:grpSpPr>
          <a:xfrm>
            <a:off x="360000" y="2670127"/>
            <a:ext cx="5472000" cy="311948"/>
            <a:chOff x="360000" y="1171989"/>
            <a:chExt cx="3565389" cy="311949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10A5948-CF2F-26ED-F37F-791DC27BF380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ko-KR" altLang="en-US" sz="1400" b="1" dirty="0">
                  <a:solidFill>
                    <a:srgbClr val="215F9A"/>
                  </a:solidFill>
                </a:rPr>
                <a:t>효용함수의 테일러 전개</a:t>
              </a: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7744F090-BA5B-A503-5ACC-B5F7534354AE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5DE67FF-8C67-3A6F-945F-CBF50608BB37}"/>
              </a:ext>
            </a:extLst>
          </p:cNvPr>
          <p:cNvGrpSpPr/>
          <p:nvPr/>
        </p:nvGrpSpPr>
        <p:grpSpPr>
          <a:xfrm rot="16200000">
            <a:off x="5906953" y="3224102"/>
            <a:ext cx="252001" cy="409789"/>
            <a:chOff x="5970731" y="3758574"/>
            <a:chExt cx="252001" cy="409789"/>
          </a:xfrm>
        </p:grpSpPr>
        <p:sp>
          <p:nvSpPr>
            <p:cNvPr id="18" name="1/2 액자 17">
              <a:extLst>
                <a:ext uri="{FF2B5EF4-FFF2-40B4-BE49-F238E27FC236}">
                  <a16:creationId xmlns:a16="http://schemas.microsoft.com/office/drawing/2014/main" id="{820B5F68-94AA-AF00-6AEC-BA5A0EA0DB23}"/>
                </a:ext>
              </a:extLst>
            </p:cNvPr>
            <p:cNvSpPr/>
            <p:nvPr/>
          </p:nvSpPr>
          <p:spPr>
            <a:xfrm rot="13523242">
              <a:off x="5970731" y="3916363"/>
              <a:ext cx="252000" cy="252000"/>
            </a:xfrm>
            <a:prstGeom prst="halfFrame">
              <a:avLst/>
            </a:prstGeom>
            <a:solidFill>
              <a:srgbClr val="215F9A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1/2 액자 18">
              <a:extLst>
                <a:ext uri="{FF2B5EF4-FFF2-40B4-BE49-F238E27FC236}">
                  <a16:creationId xmlns:a16="http://schemas.microsoft.com/office/drawing/2014/main" id="{7033DC0C-F69C-CA9A-3C35-C1563156A022}"/>
                </a:ext>
              </a:extLst>
            </p:cNvPr>
            <p:cNvSpPr/>
            <p:nvPr/>
          </p:nvSpPr>
          <p:spPr>
            <a:xfrm rot="13523242">
              <a:off x="5970732" y="3758574"/>
              <a:ext cx="252000" cy="252000"/>
            </a:xfrm>
            <a:prstGeom prst="halfFrame">
              <a:avLst/>
            </a:prstGeom>
            <a:solidFill>
              <a:srgbClr val="467EE2">
                <a:alpha val="4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5" name="그림 24" descr="텍스트, 폰트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F94B83-1452-7ACF-052A-2E983DDB8E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4" y="6455949"/>
            <a:ext cx="1209904" cy="403301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95B1DE1A-8AFE-DB9E-85B0-40D57A0DC871}"/>
              </a:ext>
            </a:extLst>
          </p:cNvPr>
          <p:cNvGrpSpPr/>
          <p:nvPr/>
        </p:nvGrpSpPr>
        <p:grpSpPr>
          <a:xfrm>
            <a:off x="6359433" y="1171990"/>
            <a:ext cx="5472566" cy="311948"/>
            <a:chOff x="360000" y="1171989"/>
            <a:chExt cx="3565389" cy="311949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24DB8CAE-3710-7414-0B26-EFE1AA0AC6BD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rgbClr val="215F9A"/>
                  </a:solidFill>
                </a:rPr>
                <a:t>Negative Skewness Premium</a:t>
              </a: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148D8CDB-6103-BBCA-0511-80D326C5BCC1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화살표: 아래쪽 25">
            <a:extLst>
              <a:ext uri="{FF2B5EF4-FFF2-40B4-BE49-F238E27FC236}">
                <a16:creationId xmlns:a16="http://schemas.microsoft.com/office/drawing/2014/main" id="{6E70AF29-43E3-B023-6AED-3AAE4FC98FC3}"/>
              </a:ext>
            </a:extLst>
          </p:cNvPr>
          <p:cNvSpPr/>
          <p:nvPr/>
        </p:nvSpPr>
        <p:spPr>
          <a:xfrm>
            <a:off x="6313762" y="1627199"/>
            <a:ext cx="754022" cy="4672673"/>
          </a:xfrm>
          <a:prstGeom prst="downArrow">
            <a:avLst/>
          </a:prstGeom>
          <a:gradFill>
            <a:gsLst>
              <a:gs pos="0">
                <a:schemeClr val="accent1">
                  <a:alpha val="50000"/>
                  <a:lumMod val="10000"/>
                  <a:lumOff val="90000"/>
                </a:schemeClr>
              </a:gs>
              <a:gs pos="45000">
                <a:schemeClr val="accent4">
                  <a:lumMod val="15000"/>
                  <a:lumOff val="85000"/>
                </a:schemeClr>
              </a:gs>
              <a:gs pos="95000">
                <a:schemeClr val="accent1">
                  <a:lumMod val="22000"/>
                  <a:lumOff val="7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90408AF0-1368-0594-9E14-61E905BFD8F1}"/>
                  </a:ext>
                </a:extLst>
              </p:cNvPr>
              <p:cNvSpPr/>
              <p:nvPr/>
            </p:nvSpPr>
            <p:spPr>
              <a:xfrm>
                <a:off x="7108424" y="1625700"/>
                <a:ext cx="4723546" cy="1030056"/>
              </a:xfrm>
              <a:prstGeom prst="rect">
                <a:avLst/>
              </a:prstGeom>
              <a:noFill/>
              <a:ln w="22225">
                <a:solidFill>
                  <a:srgbClr val="CBDBE3"/>
                </a:solidFill>
              </a:ln>
              <a:effectLst>
                <a:reflection stA="98000" endPos="0" dist="38100" dir="5400000" sy="-100000" algn="bl" rotWithShape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ctr"/>
              <a:lstStyle/>
              <a:p>
                <a:pPr>
                  <a:lnSpc>
                    <a:spcPct val="130000"/>
                  </a:lnSpc>
                  <a:spcAft>
                    <a:spcPts val="500"/>
                  </a:spcAft>
                </a:pPr>
                <a:r>
                  <a:rPr lang="ko-KR" altLang="en-US" sz="1200" b="1" dirty="0">
                    <a:solidFill>
                      <a:schemeClr val="tx1"/>
                    </a:solidFill>
                  </a:rPr>
                  <a:t>절대위험회피도</a:t>
                </a:r>
                <a:r>
                  <a:rPr lang="en-US" altLang="ko-KR" sz="1200" b="1" dirty="0">
                    <a:solidFill>
                      <a:schemeClr val="tx1"/>
                    </a:solidFill>
                  </a:rPr>
                  <a:t>(Absolute risk aversion)</a:t>
                </a:r>
              </a:p>
              <a:p>
                <a:pPr>
                  <a:lnSpc>
                    <a:spcPct val="130000"/>
                  </a:lnSpc>
                  <a:spcAft>
                    <a:spcPts val="500"/>
                  </a:spcAft>
                </a:pPr>
                <a14:m>
                  <m:oMath xmlns:m="http://schemas.openxmlformats.org/officeDocument/2006/math">
                    <m:r>
                      <a:rPr lang="en-US" altLang="ko-K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altLang="ko-K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 −</m:t>
                    </m:r>
                    <m:f>
                      <m:f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altLang="ko-K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ko-K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altLang="ko-K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den>
                    </m:f>
                    <m:r>
                      <a:rPr lang="en-US" altLang="ko-K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</a:rPr>
                  <a:t> : 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같은 크기의 자산에 대한 위험회피정도</a:t>
                </a:r>
                <a:endParaRPr lang="en-US" altLang="ko-K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90408AF0-1368-0594-9E14-61E905BFD8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424" y="1625700"/>
                <a:ext cx="4723546" cy="10300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2225">
                <a:solidFill>
                  <a:srgbClr val="CBDBE3"/>
                </a:solidFill>
              </a:ln>
              <a:effectLst>
                <a:reflection stA="98000" endPos="0" dist="38100" dir="5400000" sy="-100000" algn="bl" rotWithShape="0"/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AC0BC091-3B2F-5ED6-A4C3-C10B10BC7015}"/>
                  </a:ext>
                </a:extLst>
              </p:cNvPr>
              <p:cNvSpPr/>
              <p:nvPr/>
            </p:nvSpPr>
            <p:spPr>
              <a:xfrm>
                <a:off x="7108423" y="2840407"/>
                <a:ext cx="4723546" cy="1030056"/>
              </a:xfrm>
              <a:prstGeom prst="rect">
                <a:avLst/>
              </a:prstGeom>
              <a:noFill/>
              <a:ln w="22225">
                <a:solidFill>
                  <a:srgbClr val="CBDBE3"/>
                </a:solidFill>
              </a:ln>
              <a:effectLst>
                <a:reflection stA="98000" endPos="0" dist="38100" dir="5400000" sy="-100000" algn="bl" rotWithShape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46800" rtlCol="0" anchor="ctr"/>
              <a:lstStyle/>
              <a:p>
                <a:pPr>
                  <a:lnSpc>
                    <a:spcPct val="130000"/>
                  </a:lnSpc>
                  <a:spcAft>
                    <a:spcPts val="500"/>
                  </a:spcAft>
                </a:pPr>
                <a:r>
                  <a:rPr lang="ko-KR" altLang="en-US" sz="1200" b="1" dirty="0">
                    <a:solidFill>
                      <a:schemeClr val="tx1"/>
                    </a:solidFill>
                  </a:rPr>
                  <a:t>같은</a:t>
                </a:r>
                <a:r>
                  <a:rPr lang="en-US" altLang="ko-KR" sz="1200" b="1" dirty="0">
                    <a:solidFill>
                      <a:schemeClr val="tx1"/>
                    </a:solidFill>
                  </a:rPr>
                  <a:t> 1</a:t>
                </a:r>
                <a:r>
                  <a:rPr lang="ko-KR" altLang="en-US" sz="1200" b="1" dirty="0">
                    <a:solidFill>
                      <a:schemeClr val="tx1"/>
                    </a:solidFill>
                  </a:rPr>
                  <a:t>원의 손실이라도 자본이 적을수록 더 민감하게 반응한다</a:t>
                </a:r>
                <a:r>
                  <a:rPr lang="en-US" altLang="ko-KR" sz="1200" b="1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lnSpc>
                    <a:spcPct val="130000"/>
                  </a:lnSpc>
                  <a:spcAft>
                    <a:spcPts val="500"/>
                  </a:spcAft>
                </a:pPr>
                <a:r>
                  <a:rPr lang="ko-KR" altLang="en-US" sz="1200" dirty="0">
                    <a:solidFill>
                      <a:schemeClr val="tx1"/>
                    </a:solidFill>
                  </a:rPr>
                  <a:t>자산이 증가할수록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수익률이 높을수록 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A(R)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은 감소한다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.</a:t>
                </a:r>
              </a:p>
              <a:p>
                <a:pPr algn="ctr">
                  <a:spcAft>
                    <a:spcPts val="500"/>
                  </a:spcAft>
                </a:pPr>
                <a:r>
                  <a:rPr lang="en-US" altLang="ko-KR" sz="12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ko-K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𝑑𝐴</m:t>
                        </m:r>
                        <m:d>
                          <m:dPr>
                            <m:ctrlPr>
                              <a:rPr lang="en-US" altLang="ko-KR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num>
                      <m:den>
                        <m:r>
                          <a:rPr lang="en-US" altLang="ko-K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𝑑𝑅</m:t>
                        </m:r>
                      </m:den>
                    </m:f>
                    <m:r>
                      <a:rPr lang="en-US" altLang="ko-K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ko-KR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AC0BC091-3B2F-5ED6-A4C3-C10B10BC70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423" y="2840407"/>
                <a:ext cx="4723546" cy="1030056"/>
              </a:xfrm>
              <a:prstGeom prst="rect">
                <a:avLst/>
              </a:prstGeom>
              <a:blipFill>
                <a:blip r:embed="rId6"/>
                <a:stretch>
                  <a:fillRect b="-578"/>
                </a:stretch>
              </a:blipFill>
              <a:ln w="22225">
                <a:solidFill>
                  <a:srgbClr val="CBDBE3"/>
                </a:solidFill>
              </a:ln>
              <a:effectLst>
                <a:reflection stA="98000" endPos="0" dist="38100" dir="5400000" sy="-100000" algn="bl" rotWithShape="0"/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3DC15EBA-FE82-B0A2-D0C4-C76B050024B6}"/>
                  </a:ext>
                </a:extLst>
              </p:cNvPr>
              <p:cNvSpPr/>
              <p:nvPr/>
            </p:nvSpPr>
            <p:spPr>
              <a:xfrm>
                <a:off x="7108423" y="4055114"/>
                <a:ext cx="4713259" cy="1030056"/>
              </a:xfrm>
              <a:prstGeom prst="rect">
                <a:avLst/>
              </a:prstGeom>
              <a:noFill/>
              <a:ln w="22225">
                <a:solidFill>
                  <a:srgbClr val="CBDBE3"/>
                </a:solidFill>
              </a:ln>
              <a:effectLst>
                <a:reflection stA="98000" endPos="0" dist="38100" dir="5400000" sy="-100000" algn="bl" rotWithShape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num>
                        <m:den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𝑑𝑅</m:t>
                          </m:r>
                        </m:den>
                      </m:f>
                      <m:r>
                        <a:rPr lang="en-US" altLang="ko-KR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𝑑𝑅</m:t>
                          </m:r>
                        </m:den>
                      </m:f>
                      <m:d>
                        <m:dPr>
                          <m:ctrlP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p>
                                  <m:r>
                                    <a:rPr lang="en-US" altLang="ko-K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altLang="ko-K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p>
                                  <m:r>
                                    <a:rPr lang="en-US" altLang="ko-K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altLang="ko-KR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ko-KR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altLang="ko-KR" sz="1200" dirty="0">
                  <a:solidFill>
                    <a:schemeClr val="tx1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2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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′′′</m:t>
                        </m:r>
                      </m:sup>
                    </m:sSup>
                    <m:d>
                      <m:d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altLang="ko-K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ko-K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ko-K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3DC15EBA-FE82-B0A2-D0C4-C76B050024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423" y="4055114"/>
                <a:ext cx="4713259" cy="10300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2225">
                <a:solidFill>
                  <a:srgbClr val="CBDBE3"/>
                </a:solidFill>
              </a:ln>
              <a:effectLst>
                <a:reflection stA="98000" endPos="0" dist="38100" dir="5400000" sy="-100000" algn="bl" rotWithShape="0"/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직사각형 29">
            <a:extLst>
              <a:ext uri="{FF2B5EF4-FFF2-40B4-BE49-F238E27FC236}">
                <a16:creationId xmlns:a16="http://schemas.microsoft.com/office/drawing/2014/main" id="{E9B77663-AB7E-DF23-873A-9C99980922AB}"/>
              </a:ext>
            </a:extLst>
          </p:cNvPr>
          <p:cNvSpPr/>
          <p:nvPr/>
        </p:nvSpPr>
        <p:spPr>
          <a:xfrm>
            <a:off x="7108423" y="5269821"/>
            <a:ext cx="4713259" cy="1030056"/>
          </a:xfrm>
          <a:prstGeom prst="rect">
            <a:avLst/>
          </a:prstGeom>
          <a:noFill/>
          <a:ln w="22225">
            <a:solidFill>
              <a:srgbClr val="CBDBE3"/>
            </a:solidFill>
          </a:ln>
          <a:effectLst>
            <a:reflection stA="98000" endPos="0" dist="381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>
              <a:lnSpc>
                <a:spcPct val="20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양의 </a:t>
            </a:r>
            <a:r>
              <a:rPr lang="ko-KR" altLang="en-US" sz="1200" dirty="0" err="1">
                <a:solidFill>
                  <a:schemeClr val="tx1"/>
                </a:solidFill>
              </a:rPr>
              <a:t>왜도</a:t>
            </a:r>
            <a:r>
              <a:rPr lang="ko-KR" altLang="en-US" sz="1200" dirty="0">
                <a:solidFill>
                  <a:schemeClr val="tx1"/>
                </a:solidFill>
              </a:rPr>
              <a:t> 자산을 선호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>
                <a:solidFill>
                  <a:schemeClr val="tx1"/>
                </a:solidFill>
              </a:rPr>
              <a:t> 음의 </a:t>
            </a:r>
            <a:r>
              <a:rPr lang="ko-KR" altLang="en-US" sz="1200" dirty="0" err="1">
                <a:solidFill>
                  <a:schemeClr val="tx1"/>
                </a:solidFill>
              </a:rPr>
              <a:t>왜도</a:t>
            </a:r>
            <a:r>
              <a:rPr lang="ko-KR" altLang="en-US" sz="1200" dirty="0">
                <a:solidFill>
                  <a:schemeClr val="tx1"/>
                </a:solidFill>
              </a:rPr>
              <a:t> 자산은 기피</a:t>
            </a:r>
            <a:endParaRPr lang="en-US" altLang="ko-KR" sz="1200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ko-KR" sz="120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olidFill>
                  <a:schemeClr val="tx1"/>
                </a:solidFill>
              </a:rPr>
              <a:t>양의 </a:t>
            </a:r>
            <a:r>
              <a:rPr lang="ko-KR" altLang="en-US" sz="1200" dirty="0" err="1">
                <a:solidFill>
                  <a:schemeClr val="tx1"/>
                </a:solidFill>
              </a:rPr>
              <a:t>왜도</a:t>
            </a:r>
            <a:r>
              <a:rPr lang="ko-KR" altLang="en-US" sz="1200" dirty="0">
                <a:solidFill>
                  <a:schemeClr val="tx1"/>
                </a:solidFill>
              </a:rPr>
              <a:t> 자산은 </a:t>
            </a:r>
            <a:r>
              <a:rPr lang="ko-KR" altLang="en-US" sz="1200" dirty="0" err="1">
                <a:solidFill>
                  <a:schemeClr val="tx1"/>
                </a:solidFill>
              </a:rPr>
              <a:t>고평가되고</a:t>
            </a:r>
            <a:r>
              <a:rPr lang="ko-KR" altLang="en-US" sz="1200" dirty="0">
                <a:solidFill>
                  <a:schemeClr val="tx1"/>
                </a:solidFill>
              </a:rPr>
              <a:t> 음의 </a:t>
            </a:r>
            <a:r>
              <a:rPr lang="ko-KR" altLang="en-US" sz="1200" dirty="0" err="1">
                <a:solidFill>
                  <a:schemeClr val="tx1"/>
                </a:solidFill>
              </a:rPr>
              <a:t>왜도</a:t>
            </a:r>
            <a:r>
              <a:rPr lang="ko-KR" altLang="en-US" sz="1200" dirty="0">
                <a:solidFill>
                  <a:schemeClr val="tx1"/>
                </a:solidFill>
              </a:rPr>
              <a:t> 자산은 저평가된다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200" b="1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ko-KR" altLang="en-US" sz="1200" b="1" dirty="0">
                <a:solidFill>
                  <a:schemeClr val="tx1"/>
                </a:solidFill>
              </a:rPr>
              <a:t> 음의 </a:t>
            </a:r>
            <a:r>
              <a:rPr lang="ko-KR" altLang="en-US" sz="1200" b="1" dirty="0" err="1">
                <a:solidFill>
                  <a:schemeClr val="tx1"/>
                </a:solidFill>
              </a:rPr>
              <a:t>왜도</a:t>
            </a:r>
            <a:r>
              <a:rPr lang="ko-KR" altLang="en-US" sz="1200" b="1" dirty="0">
                <a:solidFill>
                  <a:schemeClr val="tx1"/>
                </a:solidFill>
              </a:rPr>
              <a:t> 자산에 대해 리스크 프리미엄이 존재한다</a:t>
            </a:r>
            <a:r>
              <a:rPr lang="en-US" altLang="ko-KR" sz="1200" b="1" dirty="0">
                <a:solidFill>
                  <a:schemeClr val="tx1"/>
                </a:solidFill>
              </a:rPr>
              <a:t>.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BFCD1EF-E6CF-2FA9-3872-D22C7E8F3D5B}"/>
              </a:ext>
            </a:extLst>
          </p:cNvPr>
          <p:cNvGrpSpPr/>
          <p:nvPr/>
        </p:nvGrpSpPr>
        <p:grpSpPr>
          <a:xfrm>
            <a:off x="359998" y="3124800"/>
            <a:ext cx="5471999" cy="3153081"/>
            <a:chOff x="359998" y="3146794"/>
            <a:chExt cx="5471999" cy="31530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95A228D-D9B8-0B75-2F27-95EB737F8EF8}"/>
                    </a:ext>
                  </a:extLst>
                </p:cNvPr>
                <p:cNvSpPr txBox="1"/>
                <p:nvPr/>
              </p:nvSpPr>
              <p:spPr>
                <a:xfrm>
                  <a:off x="359998" y="3146794"/>
                  <a:ext cx="5471999" cy="3153081"/>
                </a:xfrm>
                <a:prstGeom prst="rect">
                  <a:avLst/>
                </a:prstGeom>
                <a:noFill/>
              </p:spPr>
              <p:txBody>
                <a:bodyPr wrap="square" lIns="0">
                  <a:no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ko-KR" sz="1200" dirty="0"/>
                    <a:t>U(R) : </a:t>
                  </a:r>
                  <a:r>
                    <a:rPr lang="ko-KR" altLang="en-US" sz="1200" dirty="0"/>
                    <a:t>수익률 </a:t>
                  </a:r>
                  <a:r>
                    <a:rPr lang="en-US" altLang="ko-KR" sz="1200" dirty="0"/>
                    <a:t>R</a:t>
                  </a:r>
                  <a:r>
                    <a:rPr lang="ko-KR" altLang="en-US" sz="1200" dirty="0"/>
                    <a:t>에 대한 효용</a:t>
                  </a:r>
                  <a:r>
                    <a:rPr lang="en-US" altLang="ko-KR" sz="1200" dirty="0"/>
                    <a:t>,  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sz="1200" i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acc>
                    </m:oMath>
                  </a14:m>
                  <a:r>
                    <a:rPr lang="en-US" altLang="ko-KR" sz="1200" dirty="0"/>
                    <a:t> = E(R),   E[U(R)]</a:t>
                  </a:r>
                  <a:r>
                    <a:rPr lang="ko-KR" altLang="en-US" sz="1200" dirty="0"/>
                    <a:t>을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sz="1200" i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acc>
                    </m:oMath>
                  </a14:m>
                  <a:r>
                    <a:rPr lang="ko-KR" altLang="en-US" sz="1200" dirty="0"/>
                    <a:t>에서 </a:t>
                  </a:r>
                  <a:r>
                    <a:rPr lang="en-US" altLang="ko-KR" sz="1200" dirty="0"/>
                    <a:t>3</a:t>
                  </a:r>
                  <a:r>
                    <a:rPr lang="ko-KR" altLang="en-US" sz="1200" dirty="0"/>
                    <a:t>차 </a:t>
                  </a:r>
                  <a:r>
                    <a:rPr lang="ko-KR" altLang="en-US" sz="1200" dirty="0" err="1"/>
                    <a:t>테일러전개하면</a:t>
                  </a:r>
                  <a:endParaRPr lang="en-US" altLang="ko-KR" sz="1200" dirty="0"/>
                </a:p>
                <a:p>
                  <a:pPr>
                    <a:lnSpc>
                      <a:spcPct val="150000"/>
                    </a:lnSpc>
                  </a:pPr>
                  <a:endParaRPr lang="en-US" altLang="ko-KR" sz="400" dirty="0"/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ko-KR" sz="12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e>
                      </m:d>
                      <m:r>
                        <a:rPr lang="en-US" altLang="ko-KR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</m:d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p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′′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ko-K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num>
                        <m:den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[</m:t>
                          </m:r>
                          <m:d>
                            <m:d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]+</m:t>
                      </m:r>
                      <m:f>
                        <m:f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′′′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a14:m>
                  <a:r>
                    <a:rPr lang="en-US" altLang="ko-KR" sz="1200" i="1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</a:p>
                <a:p>
                  <a:pPr>
                    <a:lnSpc>
                      <a:spcPct val="150000"/>
                    </a:lnSpc>
                  </a:pPr>
                  <a:endParaRPr lang="en-US" altLang="ko-KR" sz="40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en-US" altLang="ko-KR" sz="40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en-US" altLang="ko-KR" sz="40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    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altLang="ko-KR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ko-KR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</m:sSup>
                          </m:e>
                        </m:d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− </m:t>
                        </m:r>
                        <m:r>
                          <m:rPr>
                            <m:sty m:val="p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= 0 </m:t>
                        </m:r>
                      </m:oMath>
                    </m:oMathPara>
                  </a14:m>
                  <a:endParaRPr lang="en-US" altLang="ko-KR" sz="1200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</m:t>
                      </m:r>
                      <m:r>
                        <a:rPr lang="en-US" altLang="ko-KR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ko-K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d>
                      <m:r>
                        <a:rPr lang="en-US" altLang="ko-KR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𝑉𝑎𝑟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ko-KR" sz="1200" b="0" i="1" dirty="0">
                      <a:latin typeface="Cambria Math" panose="02040503050406030204" pitchFamily="18" charset="0"/>
                    </a:rPr>
                    <a:t> 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    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  <m:r>
                                      <a:rPr lang="en-US" altLang="ko-KR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ko-KR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12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𝑆𝑘𝑒𝑤𝑛𝑒𝑠𝑠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)× </m:t>
                        </m:r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  <a:endParaRPr lang="en-US" altLang="ko-KR" sz="1200" b="0" i="1" dirty="0"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 </m:t>
                        </m:r>
                        <m:r>
                          <a:rPr lang="en-US" altLang="ko-KR" sz="1200" b="1" i="1">
                            <a:latin typeface="Cambria Math" panose="02040503050406030204" pitchFamily="18" charset="0"/>
                          </a:rPr>
                          <m:t>𝑬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sz="12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1" i="1">
                                <a:latin typeface="Cambria Math" panose="02040503050406030204" pitchFamily="18" charset="0"/>
                              </a:rPr>
                              <m:t>𝑼</m:t>
                            </m:r>
                            <m:d>
                              <m:dPr>
                                <m:ctrlPr>
                                  <a:rPr lang="en-US" altLang="ko-KR" sz="12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200" b="1" i="1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</m:d>
                          </m:e>
                        </m:d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acc>
                          </m:e>
                        </m:d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ko-K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e>
                            </m:d>
                          </m:num>
                          <m:den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p>
                                <m: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  <m:t>′′′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ko-KR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ko-KR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e>
                            </m:d>
                          </m:num>
                          <m:den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𝑆𝑘𝑒𝑤𝑛𝑒𝑠𝑠</m:t>
                        </m:r>
                        <m:d>
                          <m:d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ko-KR" alt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  <a:endParaRPr lang="en-US" altLang="ko-KR" sz="1200" b="0" dirty="0">
                    <a:ea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en-US" altLang="ko-KR" sz="1200" dirty="0"/>
                </a:p>
                <a:p>
                  <a:pPr>
                    <a:lnSpc>
                      <a:spcPct val="150000"/>
                    </a:lnSpc>
                  </a:pPr>
                  <a:endParaRPr lang="en-US" altLang="ko-KR" sz="100" dirty="0"/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1200" dirty="0"/>
                    <a:t>즉</a:t>
                  </a:r>
                  <a:r>
                    <a:rPr lang="en-US" altLang="ko-KR" sz="1200" dirty="0"/>
                    <a:t>, </a:t>
                  </a:r>
                  <a:r>
                    <a:rPr lang="ko-KR" altLang="en-US" sz="1200" dirty="0"/>
                    <a:t>투자자의 효용함수에 수익률의 </a:t>
                  </a:r>
                  <a:r>
                    <a:rPr lang="ko-KR" altLang="en-US" sz="1200" dirty="0" err="1"/>
                    <a:t>기댓값</a:t>
                  </a:r>
                  <a:r>
                    <a:rPr lang="en-US" altLang="ko-KR" sz="1200" dirty="0"/>
                    <a:t>, </a:t>
                  </a:r>
                  <a:r>
                    <a:rPr lang="ko-KR" altLang="en-US" sz="1200" dirty="0"/>
                    <a:t>분산</a:t>
                  </a:r>
                  <a:r>
                    <a:rPr lang="en-US" altLang="ko-KR" sz="1200" dirty="0"/>
                    <a:t>, </a:t>
                  </a:r>
                  <a:r>
                    <a:rPr lang="ko-KR" altLang="en-US" sz="1200" dirty="0" err="1"/>
                    <a:t>왜도가</a:t>
                  </a:r>
                  <a:r>
                    <a:rPr lang="ko-KR" altLang="en-US" sz="1200" dirty="0"/>
                    <a:t> 반영됨을 알 수 있다</a:t>
                  </a:r>
                  <a:r>
                    <a:rPr lang="en-US" altLang="ko-KR" sz="1200" dirty="0"/>
                    <a:t>.</a:t>
                  </a:r>
                  <a:r>
                    <a:rPr lang="ko-KR" altLang="en-US" sz="1200" dirty="0"/>
                    <a:t> </a:t>
                  </a:r>
                  <a:endParaRPr lang="en-US" altLang="ko-KR" sz="12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95A228D-D9B8-0B75-2F27-95EB737F8E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998" y="3146794"/>
                  <a:ext cx="5471999" cy="3153081"/>
                </a:xfrm>
                <a:prstGeom prst="rect">
                  <a:avLst/>
                </a:prstGeom>
                <a:blipFill>
                  <a:blip r:embed="rId8"/>
                  <a:stretch>
                    <a:fillRect l="-167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216F479-25D1-CA40-BBB1-65FED1D644EE}"/>
                </a:ext>
              </a:extLst>
            </p:cNvPr>
            <p:cNvSpPr/>
            <p:nvPr/>
          </p:nvSpPr>
          <p:spPr>
            <a:xfrm>
              <a:off x="2266029" y="4025840"/>
              <a:ext cx="176980" cy="17698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/>
                <a:t>1</a:t>
              </a:r>
              <a:endParaRPr lang="ko-KR" altLang="en-US" sz="1200" b="1" dirty="0"/>
            </a:p>
          </p:txBody>
        </p:sp>
        <p:sp>
          <p:nvSpPr>
            <p:cNvPr id="21" name="왼쪽 중괄호 20">
              <a:extLst>
                <a:ext uri="{FF2B5EF4-FFF2-40B4-BE49-F238E27FC236}">
                  <a16:creationId xmlns:a16="http://schemas.microsoft.com/office/drawing/2014/main" id="{75A3AA9A-4F0D-B867-3CB4-007EF1CABCF3}"/>
                </a:ext>
              </a:extLst>
            </p:cNvPr>
            <p:cNvSpPr/>
            <p:nvPr/>
          </p:nvSpPr>
          <p:spPr>
            <a:xfrm rot="16200000">
              <a:off x="2320842" y="3636008"/>
              <a:ext cx="59735" cy="685930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왼쪽 중괄호 21">
              <a:extLst>
                <a:ext uri="{FF2B5EF4-FFF2-40B4-BE49-F238E27FC236}">
                  <a16:creationId xmlns:a16="http://schemas.microsoft.com/office/drawing/2014/main" id="{E6ABC402-0659-7FDF-958B-124A86CD56A1}"/>
                </a:ext>
              </a:extLst>
            </p:cNvPr>
            <p:cNvSpPr/>
            <p:nvPr/>
          </p:nvSpPr>
          <p:spPr>
            <a:xfrm rot="16200000">
              <a:off x="3706731" y="3636008"/>
              <a:ext cx="59735" cy="685930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왼쪽 중괄호 22">
              <a:extLst>
                <a:ext uri="{FF2B5EF4-FFF2-40B4-BE49-F238E27FC236}">
                  <a16:creationId xmlns:a16="http://schemas.microsoft.com/office/drawing/2014/main" id="{92BA302F-88ED-CF54-9C72-62AD6DC94C17}"/>
                </a:ext>
              </a:extLst>
            </p:cNvPr>
            <p:cNvSpPr/>
            <p:nvPr/>
          </p:nvSpPr>
          <p:spPr>
            <a:xfrm rot="16200000">
              <a:off x="5085449" y="3636009"/>
              <a:ext cx="59735" cy="685930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094B6C3C-07AE-7DFD-0BF3-B86D75FA5A0C}"/>
                </a:ext>
              </a:extLst>
            </p:cNvPr>
            <p:cNvSpPr/>
            <p:nvPr/>
          </p:nvSpPr>
          <p:spPr>
            <a:xfrm>
              <a:off x="3651918" y="4025839"/>
              <a:ext cx="176980" cy="17698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/>
                <a:t>2</a:t>
              </a:r>
              <a:endParaRPr lang="ko-KR" altLang="en-US" sz="1200" b="1" dirty="0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4483849D-8619-DBF2-1B54-D4AC1FF8C478}"/>
                </a:ext>
              </a:extLst>
            </p:cNvPr>
            <p:cNvSpPr/>
            <p:nvPr/>
          </p:nvSpPr>
          <p:spPr>
            <a:xfrm>
              <a:off x="5030187" y="4025839"/>
              <a:ext cx="176980" cy="17698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/>
                <a:t>3</a:t>
              </a:r>
              <a:endParaRPr lang="ko-KR" altLang="en-US" sz="1200" b="1" dirty="0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9F75B8B4-3F1B-AAEE-0910-D6599E74D7E6}"/>
                </a:ext>
              </a:extLst>
            </p:cNvPr>
            <p:cNvSpPr/>
            <p:nvPr/>
          </p:nvSpPr>
          <p:spPr>
            <a:xfrm>
              <a:off x="451509" y="4328595"/>
              <a:ext cx="176980" cy="176981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/>
                <a:t>1</a:t>
              </a:r>
              <a:endParaRPr lang="ko-KR" altLang="en-US" sz="1200" b="1" dirty="0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3E054E00-B70D-293A-1AF0-1001859FFA82}"/>
                </a:ext>
              </a:extLst>
            </p:cNvPr>
            <p:cNvSpPr/>
            <p:nvPr/>
          </p:nvSpPr>
          <p:spPr>
            <a:xfrm>
              <a:off x="450000" y="4592177"/>
              <a:ext cx="176980" cy="176981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/>
                <a:t>2</a:t>
              </a:r>
              <a:endParaRPr lang="ko-KR" altLang="en-US" sz="1200" b="1" dirty="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A4C15C7-4B9B-0D74-2911-C4EE37F3BF2E}"/>
                </a:ext>
              </a:extLst>
            </p:cNvPr>
            <p:cNvSpPr/>
            <p:nvPr/>
          </p:nvSpPr>
          <p:spPr>
            <a:xfrm>
              <a:off x="451509" y="4869320"/>
              <a:ext cx="176980" cy="176981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/>
                <a:t>3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98782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0FBBE-3594-BC9E-F0B2-5755790E9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930DEFAA-1D50-617D-8210-824DBC1851CF}"/>
              </a:ext>
            </a:extLst>
          </p:cNvPr>
          <p:cNvGrpSpPr/>
          <p:nvPr/>
        </p:nvGrpSpPr>
        <p:grpSpPr>
          <a:xfrm>
            <a:off x="6360000" y="1544206"/>
            <a:ext cx="5472000" cy="4758765"/>
            <a:chOff x="6360000" y="1544206"/>
            <a:chExt cx="5472000" cy="4758765"/>
          </a:xfrm>
        </p:grpSpPr>
        <p:pic>
          <p:nvPicPr>
            <p:cNvPr id="17" name="그림 16" descr="라인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CC01B73-A039-C697-9D58-979D462D0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68882" y="1544206"/>
              <a:ext cx="2663116" cy="258022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7093414-AA48-7B2F-8174-3784258237E1}"/>
                    </a:ext>
                  </a:extLst>
                </p:cNvPr>
                <p:cNvSpPr txBox="1"/>
                <p:nvPr/>
              </p:nvSpPr>
              <p:spPr>
                <a:xfrm>
                  <a:off x="6360000" y="1627200"/>
                  <a:ext cx="5472000" cy="4675771"/>
                </a:xfrm>
                <a:prstGeom prst="rect">
                  <a:avLst/>
                </a:prstGeom>
                <a:noFill/>
              </p:spPr>
              <p:txBody>
                <a:bodyPr wrap="square" lIns="0">
                  <a:no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1200" dirty="0"/>
                    <a:t>수익률</a:t>
                  </a:r>
                  <a:r>
                    <a:rPr lang="en-US" altLang="ko-KR" sz="1200" dirty="0"/>
                    <a:t>–</a:t>
                  </a:r>
                  <a:r>
                    <a:rPr lang="ko-KR" altLang="en-US" sz="1200" dirty="0"/>
                    <a:t>분산 평면위의 분산 투자된</a:t>
                  </a:r>
                  <a:endParaRPr lang="en-US" altLang="ko-KR" sz="1200" dirty="0"/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1200" dirty="0"/>
                    <a:t>포트폴리오의 집합 중</a:t>
                  </a:r>
                  <a:r>
                    <a:rPr lang="en-US" altLang="ko-KR" sz="1200" dirty="0"/>
                    <a:t>, </a:t>
                  </a:r>
                  <a:r>
                    <a:rPr lang="ko-KR" altLang="en-US" sz="1200" dirty="0"/>
                    <a:t>효율적인 투자점을</a:t>
                  </a:r>
                  <a:endParaRPr lang="en-US" altLang="ko-KR" sz="1200" dirty="0"/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1200" dirty="0"/>
                    <a:t>찾는 과정에서 </a:t>
                  </a:r>
                  <a:r>
                    <a:rPr lang="en-US" altLang="ko-KR" sz="1200" dirty="0"/>
                    <a:t>CAPM</a:t>
                  </a:r>
                  <a:r>
                    <a:rPr lang="ko-KR" altLang="en-US" sz="1200" dirty="0"/>
                    <a:t>이 도출된다</a:t>
                  </a:r>
                  <a:r>
                    <a:rPr lang="en-US" altLang="ko-KR" sz="1200" dirty="0"/>
                    <a:t>.</a:t>
                  </a:r>
                </a:p>
                <a:p>
                  <a:pPr>
                    <a:lnSpc>
                      <a:spcPct val="150000"/>
                    </a:lnSpc>
                  </a:pPr>
                  <a:endParaRPr lang="en-US" altLang="ko-KR" sz="1200" dirty="0"/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1200" dirty="0"/>
                    <a:t>마찬가지로 수익률</a:t>
                  </a:r>
                  <a:r>
                    <a:rPr lang="en-US" altLang="ko-KR" sz="1200" dirty="0"/>
                    <a:t>–</a:t>
                  </a:r>
                  <a:r>
                    <a:rPr lang="ko-KR" altLang="en-US" sz="1200" dirty="0"/>
                    <a:t>분산</a:t>
                  </a:r>
                  <a:r>
                    <a:rPr lang="en-US" altLang="ko-KR" sz="1200" dirty="0"/>
                    <a:t>–</a:t>
                  </a:r>
                  <a:r>
                    <a:rPr lang="ko-KR" altLang="en-US" sz="1200" dirty="0" err="1"/>
                    <a:t>왜도</a:t>
                  </a:r>
                  <a:r>
                    <a:rPr lang="ko-KR" altLang="en-US" sz="1200" dirty="0"/>
                    <a:t> </a:t>
                  </a:r>
                  <a:r>
                    <a:rPr lang="en-US" altLang="ko-KR" sz="1200" dirty="0"/>
                    <a:t>3</a:t>
                  </a:r>
                  <a:r>
                    <a:rPr lang="ko-KR" altLang="en-US" sz="1200" dirty="0"/>
                    <a:t>차원 </a:t>
                  </a:r>
                  <a:endParaRPr lang="en-US" altLang="ko-KR" sz="1200" dirty="0"/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1200" dirty="0"/>
                    <a:t>공간상에 분산 투자된 포트폴리오에서 </a:t>
                  </a:r>
                  <a:endParaRPr lang="en-US" altLang="ko-KR" sz="1200" dirty="0"/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1200" dirty="0"/>
                    <a:t>효율적인 투자점을 찾는</a:t>
                  </a:r>
                  <a:r>
                    <a:rPr lang="en-US" altLang="ko-KR" sz="1200" dirty="0"/>
                    <a:t> </a:t>
                  </a:r>
                  <a:r>
                    <a:rPr lang="ko-KR" altLang="en-US" sz="1200" dirty="0"/>
                    <a:t>과정에서 </a:t>
                  </a:r>
                  <a:endParaRPr lang="en-US" altLang="ko-KR" sz="1200" dirty="0"/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ko-KR" sz="1200" b="1" dirty="0"/>
                    <a:t>3-Moment CAPM</a:t>
                  </a:r>
                  <a:r>
                    <a:rPr lang="ko-KR" altLang="en-US" sz="1200" dirty="0"/>
                    <a:t>이 다음과 같이 도출하면</a:t>
                  </a:r>
                  <a:endParaRPr lang="en-US" altLang="ko-KR" sz="500" b="0" dirty="0"/>
                </a:p>
                <a:p>
                  <a:pPr algn="ctr">
                    <a:lnSpc>
                      <a:spcPct val="150000"/>
                    </a:lnSpc>
                  </a:pPr>
                  <a:endParaRPr lang="en-US" altLang="ko-KR" sz="1200" dirty="0"/>
                </a:p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1000" dirty="0"/>
                    <a:t> </a:t>
                  </a:r>
                  <a:endParaRPr lang="en-US" altLang="ko-KR" sz="10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4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4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+ </m:t>
                        </m:r>
                        <m:sSub>
                          <m:sSub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4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4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altLang="ko-KR" sz="1400" i="1" dirty="0">
                    <a:latin typeface="Cambria Math" panose="02040503050406030204" pitchFamily="18" charset="0"/>
                  </a:endParaRPr>
                </a:p>
                <a:p>
                  <a:endParaRPr lang="en-US" altLang="ko-KR" sz="10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0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ko-KR" altLang="en-US" sz="10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ko-KR" sz="10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  <m:sup>
                                <m:r>
                                  <a:rPr lang="en-US" altLang="ko-KR" sz="1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en-US" altLang="ko-KR" sz="1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ko-KR" sz="1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000" b="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ko-KR" sz="1000" b="0" i="1" dirty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  <m:r>
                              <a:rPr lang="en-US" altLang="ko-KR" sz="1000" b="0" i="1" dirty="0" smtClean="0">
                                <a:latin typeface="Cambria Math" panose="02040503050406030204" pitchFamily="18" charset="0"/>
                              </a:rPr>
                              <m:t>(1+</m:t>
                            </m:r>
                            <m:f>
                              <m:fPr>
                                <m:ctrlPr>
                                  <a:rPr lang="en-US" altLang="ko-KR" sz="1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ko-KR" sz="1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ko-KR" altLang="en-US" sz="10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ko-KR" sz="10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  <m:sup>
                                    <m:r>
                                      <a:rPr lang="en-US" altLang="ko-KR" sz="1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ko-KR" sz="1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ko-KR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1000" i="1" dirty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ko-KR" sz="1000" i="1" dirty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  <m:sup>
                                    <m:r>
                                      <a:rPr lang="en-US" altLang="ko-KR" sz="10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ko-K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  <m:sup>
                                    <m:r>
                                      <a:rPr lang="en-US" altLang="ko-KR" sz="1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bSup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ko-KR" sz="1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ko-KR" sz="10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1000" b="0" i="1" dirty="0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ko-KR" sz="1000" b="0" i="1" dirty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  <m:sup>
                                    <m:r>
                                      <a:rPr lang="en-US" altLang="ko-KR" sz="10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altLang="ko-KR" sz="1000" b="0" i="1" smtClean="0">
                            <a:latin typeface="Cambria Math" panose="02040503050406030204" pitchFamily="18" charset="0"/>
                          </a:rPr>
                          <m:t>    ,  </m:t>
                        </m:r>
                        <m:sSub>
                          <m:sSubPr>
                            <m:ctrlPr>
                              <a:rPr lang="en-US" altLang="ko-KR" sz="1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0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ko-KR" sz="1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0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ko-KR" sz="1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sz="1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ko-KR" sz="10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  <m:sup>
                                <m:r>
                                  <a:rPr lang="en-US" altLang="ko-KR" sz="1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en-US" altLang="ko-KR" sz="1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ko-KR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000" i="1" dirty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ko-KR" sz="1000" i="1" dirty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  <m:r>
                              <a:rPr lang="en-US" altLang="ko-KR" sz="1000" i="1" dirty="0">
                                <a:latin typeface="Cambria Math" panose="02040503050406030204" pitchFamily="18" charset="0"/>
                              </a:rPr>
                              <m:t>(1+</m:t>
                            </m:r>
                            <m:f>
                              <m:fPr>
                                <m:ctrlPr>
                                  <a:rPr lang="en-US" altLang="ko-KR" sz="10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ko-KR" sz="1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ko-KR" altLang="en-US" sz="10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ko-KR" sz="10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  <m:sup>
                                    <m:r>
                                      <a:rPr lang="en-US" altLang="ko-KR" sz="1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ko-KR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ko-KR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1000" i="1" dirty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ko-KR" sz="1000" i="1" dirty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  <m:sup>
                                    <m:r>
                                      <a:rPr lang="en-US" altLang="ko-KR" sz="10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  <m: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ko-KR" sz="1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ko-KR" sz="1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sz="10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  <m:sup>
                                    <m:r>
                                      <a:rPr lang="en-US" altLang="ko-KR" sz="10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bSup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ko-KR" sz="1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ko-KR" sz="1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1000" i="1" dirty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ko-KR" sz="1000" i="1" dirty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  <m:sup>
                                    <m:r>
                                      <a:rPr lang="en-US" altLang="ko-KR" sz="10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  <m:r>
                              <a:rPr lang="en-US" altLang="ko-KR" sz="1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en-US" altLang="ko-KR" sz="1000" b="0" dirty="0"/>
                </a:p>
                <a:p>
                  <a:pPr>
                    <a:lnSpc>
                      <a:spcPct val="250000"/>
                    </a:lnSpc>
                  </a:pPr>
                  <a:endParaRPr lang="en-US" altLang="ko-KR" sz="1000" dirty="0"/>
                </a:p>
                <a:p>
                  <a:pPr marL="171450" indent="-171450" algn="ctr">
                    <a:lnSpc>
                      <a:spcPct val="150000"/>
                    </a:lnSpc>
                    <a:buFont typeface="Wingdings" panose="05000000000000000000" pitchFamily="2" charset="2"/>
                    <a:buChar char="è"/>
                  </a:pPr>
                  <a:r>
                    <a:rPr lang="ko-KR" altLang="en-US" sz="1200" dirty="0" err="1">
                      <a:sym typeface="Wingdings" panose="05000000000000000000" pitchFamily="2" charset="2"/>
                    </a:rPr>
                    <a:t>공왜도가</a:t>
                  </a:r>
                  <a:r>
                    <a:rPr lang="ko-KR" altLang="en-US" sz="1200" dirty="0">
                      <a:sym typeface="Wingdings" panose="05000000000000000000" pitchFamily="2" charset="2"/>
                    </a:rPr>
                    <a:t> 음일수록 기대수익률</a:t>
                  </a:r>
                  <a:r>
                    <a:rPr lang="en-US" altLang="ko-KR" sz="1200" dirty="0"/>
                    <a:t>(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200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ko-KR" altLang="en-US" sz="1200" dirty="0">
                      <a:sym typeface="Wingdings" panose="05000000000000000000" pitchFamily="2" charset="2"/>
                    </a:rPr>
                    <a:t> 값이 커지게 되므로</a:t>
                  </a:r>
                  <a:br>
                    <a:rPr lang="en-US" altLang="ko-KR" sz="1200" dirty="0">
                      <a:sym typeface="Wingdings" panose="05000000000000000000" pitchFamily="2" charset="2"/>
                    </a:rPr>
                  </a:br>
                  <a:r>
                    <a:rPr lang="ko-KR" altLang="en-US" sz="1200" dirty="0">
                      <a:solidFill>
                        <a:srgbClr val="08306B"/>
                      </a:solidFill>
                      <a:sym typeface="Wingdings" panose="05000000000000000000" pitchFamily="2" charset="2"/>
                    </a:rPr>
                    <a:t> </a:t>
                  </a:r>
                  <a:r>
                    <a:rPr lang="ko-KR" altLang="en-US" sz="1200" b="1" dirty="0">
                      <a:sym typeface="Wingdings" panose="05000000000000000000" pitchFamily="2" charset="2"/>
                    </a:rPr>
                    <a:t>이러한 자산을 매수하는 포트폴리오는 초과수익률을 가진다</a:t>
                  </a:r>
                  <a:r>
                    <a:rPr lang="en-US" altLang="ko-KR" sz="1200" b="1" dirty="0">
                      <a:sym typeface="Wingdings" panose="05000000000000000000" pitchFamily="2" charset="2"/>
                    </a:rPr>
                    <a:t>.</a:t>
                  </a:r>
                  <a:endParaRPr lang="en-US" altLang="ko-KR" sz="1200" b="1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7093414-AA48-7B2F-8174-3784258237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0000" y="1627200"/>
                  <a:ext cx="5472000" cy="4675771"/>
                </a:xfrm>
                <a:prstGeom prst="rect">
                  <a:avLst/>
                </a:prstGeom>
                <a:blipFill>
                  <a:blip r:embed="rId4"/>
                  <a:stretch>
                    <a:fillRect l="-167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9B7E869-31FB-52A8-87A4-DFAA6C844ABC}"/>
              </a:ext>
            </a:extLst>
          </p:cNvPr>
          <p:cNvSpPr txBox="1">
            <a:spLocks/>
          </p:cNvSpPr>
          <p:nvPr/>
        </p:nvSpPr>
        <p:spPr>
          <a:xfrm rot="10800000" flipV="1">
            <a:off x="360000" y="180000"/>
            <a:ext cx="4644204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200" b="1" dirty="0">
                <a:solidFill>
                  <a:schemeClr val="tx2">
                    <a:lumMod val="75000"/>
                    <a:lumOff val="25000"/>
                    <a:alpha val="50000"/>
                  </a:schemeClr>
                </a:solidFill>
              </a:rPr>
              <a:t>01.Theoretical Framework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CFCF4-DD6F-3384-2363-3A1FB0CC009D}"/>
              </a:ext>
            </a:extLst>
          </p:cNvPr>
          <p:cNvSpPr txBox="1"/>
          <p:nvPr/>
        </p:nvSpPr>
        <p:spPr>
          <a:xfrm>
            <a:off x="539999" y="631593"/>
            <a:ext cx="9924801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0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Coskewness</a:t>
            </a:r>
            <a:r>
              <a:rPr lang="ko-KR" altLang="en-US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1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개별자산의 고유 </a:t>
            </a:r>
            <a:r>
              <a:rPr lang="ko-KR" altLang="en-US" sz="14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왜도는</a:t>
            </a:r>
            <a:r>
              <a:rPr lang="ko-KR" altLang="en-US" sz="1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보상받지 못하며 체계적 </a:t>
            </a:r>
            <a:r>
              <a:rPr lang="ko-KR" altLang="en-US" sz="14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왜도인</a:t>
            </a:r>
            <a:r>
              <a:rPr lang="ko-KR" altLang="en-US" sz="1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4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공왜도에</a:t>
            </a:r>
            <a:r>
              <a:rPr lang="ko-KR" altLang="en-US" sz="1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대해 위험 프리미엄이 존재함 </a:t>
            </a:r>
            <a:endParaRPr lang="en-US" altLang="ko-KR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FE0992D-FBF3-6F46-6CF5-6788740601C6}"/>
              </a:ext>
            </a:extLst>
          </p:cNvPr>
          <p:cNvSpPr/>
          <p:nvPr/>
        </p:nvSpPr>
        <p:spPr>
          <a:xfrm>
            <a:off x="360000" y="720000"/>
            <a:ext cx="101948" cy="251534"/>
          </a:xfrm>
          <a:prstGeom prst="rect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C67D0F4-0BD4-0E84-5C0B-03E5D6314228}"/>
              </a:ext>
            </a:extLst>
          </p:cNvPr>
          <p:cNvGrpSpPr/>
          <p:nvPr/>
        </p:nvGrpSpPr>
        <p:grpSpPr>
          <a:xfrm>
            <a:off x="359999" y="1171990"/>
            <a:ext cx="5472000" cy="311948"/>
            <a:chOff x="360000" y="1171989"/>
            <a:chExt cx="3565389" cy="311949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8C832E6-F14C-AA17-1AC7-97C147297DB6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 err="1">
                  <a:solidFill>
                    <a:srgbClr val="215F9A"/>
                  </a:solidFill>
                </a:rPr>
                <a:t>Coskewness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A37D9238-D5FF-82FA-FD04-0A1CD1FD552D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28D47CF-8E6C-EE7D-4E0E-9E8B8F15925E}"/>
              </a:ext>
            </a:extLst>
          </p:cNvPr>
          <p:cNvGrpSpPr/>
          <p:nvPr/>
        </p:nvGrpSpPr>
        <p:grpSpPr>
          <a:xfrm>
            <a:off x="6360001" y="1171990"/>
            <a:ext cx="5472000" cy="311948"/>
            <a:chOff x="360000" y="1171989"/>
            <a:chExt cx="3565389" cy="311949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58F8EE1-91BC-24AB-35FD-A501193468FF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rgbClr val="215F9A"/>
                  </a:solidFill>
                </a:rPr>
                <a:t>3-Moment CAPM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012A2C0A-2B3A-1AF4-54DB-B5AC38FF80ED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그림 11" descr="텍스트, 폰트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6DBF78-F3BB-EDA8-D48A-E302BA600D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4" y="6455949"/>
            <a:ext cx="1209904" cy="403301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A66015D4-6E8B-EE3B-67E4-DF022000DFCE}"/>
              </a:ext>
            </a:extLst>
          </p:cNvPr>
          <p:cNvGrpSpPr/>
          <p:nvPr/>
        </p:nvGrpSpPr>
        <p:grpSpPr>
          <a:xfrm>
            <a:off x="360000" y="1627200"/>
            <a:ext cx="5472002" cy="4675775"/>
            <a:chOff x="360000" y="1624223"/>
            <a:chExt cx="5472002" cy="46757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794E0BC-A22A-AE3C-5577-2971465CFBCA}"/>
                    </a:ext>
                  </a:extLst>
                </p:cNvPr>
                <p:cNvSpPr txBox="1"/>
                <p:nvPr/>
              </p:nvSpPr>
              <p:spPr>
                <a:xfrm>
                  <a:off x="360002" y="1624225"/>
                  <a:ext cx="5472000" cy="4675773"/>
                </a:xfrm>
                <a:prstGeom prst="rect">
                  <a:avLst/>
                </a:prstGeom>
                <a:noFill/>
              </p:spPr>
              <p:txBody>
                <a:bodyPr wrap="square" lIns="0">
                  <a:no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1200" b="1" dirty="0"/>
                    <a:t>전통적 </a:t>
                  </a:r>
                  <a:r>
                    <a:rPr lang="en-US" altLang="ko-KR" sz="1200" b="1" dirty="0"/>
                    <a:t>CAPM</a:t>
                  </a:r>
                  <a:r>
                    <a:rPr lang="ko-KR" altLang="en-US" sz="1200" dirty="0"/>
                    <a:t>에 따르면</a:t>
                  </a:r>
                  <a:r>
                    <a:rPr lang="en-US" altLang="ko-KR" sz="1200" dirty="0"/>
                    <a:t> </a:t>
                  </a:r>
                  <a:r>
                    <a:rPr lang="ko-KR" altLang="en-US" sz="1200" dirty="0"/>
                    <a:t>위험은 </a:t>
                  </a:r>
                  <a:endParaRPr lang="en-US" altLang="ko-KR" sz="1200" dirty="0"/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1200" dirty="0"/>
                    <a:t>체계적</a:t>
                  </a:r>
                  <a:r>
                    <a:rPr lang="en-US" altLang="ko-KR" sz="1200" dirty="0"/>
                    <a:t>/</a:t>
                  </a:r>
                  <a:r>
                    <a:rPr lang="ko-KR" altLang="en-US" sz="1200" dirty="0"/>
                    <a:t>비체계적 위험으로 구분되며</a:t>
                  </a:r>
                  <a:endParaRPr lang="en-US" altLang="ko-KR" sz="1200" dirty="0"/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1200" dirty="0"/>
                    <a:t>체계적 위험에만 보상이 존재한다</a:t>
                  </a:r>
                  <a:r>
                    <a:rPr lang="en-US" altLang="ko-KR" sz="1200" dirty="0"/>
                    <a:t>.</a:t>
                  </a:r>
                </a:p>
                <a:p>
                  <a:pPr>
                    <a:lnSpc>
                      <a:spcPct val="150000"/>
                    </a:lnSpc>
                  </a:pPr>
                  <a:endParaRPr lang="en-US" altLang="ko-KR" sz="500" dirty="0"/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1200" dirty="0"/>
                    <a:t>마찬가지로 </a:t>
                  </a:r>
                  <a:r>
                    <a:rPr lang="ko-KR" altLang="en-US" sz="1200" dirty="0" err="1"/>
                    <a:t>왜도</a:t>
                  </a:r>
                  <a:r>
                    <a:rPr lang="ko-KR" altLang="en-US" sz="1200" dirty="0"/>
                    <a:t> 프리미엄에 대해서</a:t>
                  </a:r>
                  <a:endParaRPr lang="en-US" altLang="ko-KR" sz="1200" dirty="0"/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1200" dirty="0"/>
                    <a:t>개별자산의 </a:t>
                  </a:r>
                  <a:r>
                    <a:rPr lang="ko-KR" altLang="en-US" sz="1200" b="1" dirty="0"/>
                    <a:t>고유 </a:t>
                  </a:r>
                  <a:r>
                    <a:rPr lang="ko-KR" altLang="en-US" sz="1200" b="1" dirty="0" err="1"/>
                    <a:t>왜도</a:t>
                  </a:r>
                  <a:r>
                    <a:rPr lang="ko-KR" altLang="en-US" sz="1200" dirty="0" err="1"/>
                    <a:t>는</a:t>
                  </a:r>
                  <a:r>
                    <a:rPr lang="ko-KR" altLang="en-US" sz="1200" dirty="0"/>
                    <a:t> </a:t>
                  </a:r>
                  <a:endParaRPr lang="en-US" altLang="ko-KR" sz="1200" dirty="0"/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1200" dirty="0"/>
                    <a:t>분산투자를 통해 중립화 가능하므로</a:t>
                  </a:r>
                  <a:endParaRPr lang="en-US" altLang="ko-KR" sz="1200" dirty="0"/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1200" dirty="0"/>
                    <a:t>중립화 할 수 없는 체계적 </a:t>
                  </a:r>
                  <a:r>
                    <a:rPr lang="ko-KR" altLang="en-US" sz="1200" dirty="0" err="1"/>
                    <a:t>왜도</a:t>
                  </a:r>
                  <a:r>
                    <a:rPr lang="ko-KR" altLang="en-US" sz="1200" dirty="0"/>
                    <a:t> 즉</a:t>
                  </a:r>
                  <a:r>
                    <a:rPr lang="en-US" altLang="ko-KR" sz="1200" dirty="0"/>
                    <a:t>,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1200" b="1" dirty="0" err="1"/>
                    <a:t>공왜도</a:t>
                  </a:r>
                  <a:r>
                    <a:rPr lang="ko-KR" altLang="en-US" sz="1200" dirty="0" err="1"/>
                    <a:t>에</a:t>
                  </a:r>
                  <a:r>
                    <a:rPr lang="ko-KR" altLang="en-US" sz="1200" dirty="0"/>
                    <a:t> 대해서만 보상이 존재한다</a:t>
                  </a:r>
                  <a:r>
                    <a:rPr lang="en-US" altLang="ko-KR" sz="1200" dirty="0"/>
                    <a:t>.</a:t>
                  </a:r>
                </a:p>
                <a:p>
                  <a:pPr>
                    <a:lnSpc>
                      <a:spcPct val="150000"/>
                    </a:lnSpc>
                  </a:pPr>
                  <a:endParaRPr lang="en-US" altLang="ko-KR" sz="500" dirty="0"/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1200" b="1" dirty="0" err="1"/>
                    <a:t>공왜도</a:t>
                  </a:r>
                  <a:endParaRPr lang="en-US" altLang="ko-KR" sz="1200" b="1" dirty="0"/>
                </a:p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1200" dirty="0"/>
                    <a:t>→ </a:t>
                  </a:r>
                  <a:r>
                    <a:rPr lang="ko-KR" altLang="en-US" sz="1200" dirty="0"/>
                    <a:t>시장이 극단적으로 움직일 때</a:t>
                  </a:r>
                  <a:r>
                    <a:rPr lang="en-US" altLang="ko-KR" sz="1200" dirty="0"/>
                    <a:t> </a:t>
                  </a:r>
                  <a:r>
                    <a:rPr lang="ko-KR" altLang="en-US" sz="1200" dirty="0"/>
                    <a:t>그 자산이 함께 극단적으로 움직이는 정도</a:t>
                  </a:r>
                  <a:r>
                    <a:rPr lang="en-US" altLang="ko-KR" sz="1200" dirty="0"/>
                    <a:t>.</a:t>
                  </a:r>
                  <a:endParaRPr lang="en-US" altLang="ko-KR" sz="1200" i="1" dirty="0">
                    <a:latin typeface="Cambria Math" panose="02040503050406030204" pitchFamily="18" charset="0"/>
                  </a:endParaRPr>
                </a:p>
                <a:p>
                  <a:pPr algn="ctr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sub>
                                      </m:s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ko-KR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ko-KR" sz="1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ko-KR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bSup>
                            <m:sSub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sub>
                            <m: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den>
                      </m:f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  </m:t>
                      </m:r>
                      <m:sSubSup>
                        <m:sSubSup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 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  <m:sup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:</m:t>
                      </m:r>
                    </m:oMath>
                  </a14:m>
                  <a:r>
                    <a:rPr lang="en-US" altLang="ko-KR" sz="1400" dirty="0"/>
                    <a:t> </a:t>
                  </a:r>
                  <a:r>
                    <a:rPr lang="ko-KR" altLang="en-US" sz="1100" dirty="0" err="1"/>
                    <a:t>시장포트폴리오</a:t>
                  </a:r>
                  <a:r>
                    <a:rPr lang="ko-KR" altLang="en-US" sz="1100" dirty="0"/>
                    <a:t> </a:t>
                  </a:r>
                  <a:r>
                    <a:rPr lang="ko-KR" altLang="ko-KR" sz="1100" dirty="0" err="1"/>
                    <a:t>왜도</a:t>
                  </a:r>
                  <a:r>
                    <a:rPr lang="en-US" altLang="ko-KR" sz="1400" dirty="0"/>
                    <a:t>)</a:t>
                  </a:r>
                </a:p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1200" dirty="0"/>
                    <a:t>이 식에서 </a:t>
                  </a:r>
                  <a:r>
                    <a:rPr lang="en-US" altLang="ko-KR" sz="1200" dirty="0"/>
                    <a:t>R</a:t>
                  </a:r>
                  <a:r>
                    <a:rPr lang="ko-KR" altLang="en-US" sz="1200" dirty="0"/>
                    <a:t>대신 </a:t>
                  </a:r>
                  <a:r>
                    <a:rPr lang="el-GR" altLang="ko-KR" sz="1200" dirty="0"/>
                    <a:t>ε</a:t>
                  </a:r>
                  <a:r>
                    <a:rPr lang="en-US" altLang="ko-KR" sz="1200" dirty="0"/>
                    <a:t>(CAPM </a:t>
                  </a:r>
                  <a:r>
                    <a:rPr lang="ko-KR" altLang="en-US" sz="1200" dirty="0"/>
                    <a:t>모델</a:t>
                  </a:r>
                  <a:r>
                    <a:rPr lang="en-US" altLang="ko-KR" sz="1200" dirty="0"/>
                    <a:t> </a:t>
                  </a:r>
                  <a:r>
                    <a:rPr lang="ko-KR" altLang="en-US" sz="1200" dirty="0"/>
                    <a:t>회귀분석의 </a:t>
                  </a:r>
                  <a:r>
                    <a:rPr lang="ko-KR" altLang="en-US" sz="1200" dirty="0" err="1"/>
                    <a:t>잔차</a:t>
                  </a:r>
                  <a:r>
                    <a:rPr lang="en-US" altLang="ko-KR" sz="1200" dirty="0"/>
                    <a:t>)</a:t>
                  </a:r>
                  <a:r>
                    <a:rPr lang="ko-KR" altLang="en-US" sz="1200" dirty="0"/>
                    <a:t>를 사용하면 </a:t>
                  </a:r>
                  <a:endParaRPr lang="en-US" altLang="ko-KR" sz="1200" dirty="0"/>
                </a:p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1200" dirty="0"/>
                    <a:t>시장의 영향을 제외한 종목의 고유 </a:t>
                  </a:r>
                  <a:r>
                    <a:rPr lang="ko-KR" altLang="en-US" sz="1200" dirty="0" err="1"/>
                    <a:t>공왜도를</a:t>
                  </a:r>
                  <a:r>
                    <a:rPr lang="ko-KR" altLang="en-US" sz="1200" dirty="0"/>
                    <a:t> 구할 수 있다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1)</m:t>
                          </m:r>
                        </m:sup>
                      </m:sSup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altLang="ko-KR" sz="1200" dirty="0"/>
                </a:p>
                <a:p>
                  <a:pPr>
                    <a:lnSpc>
                      <a:spcPct val="150000"/>
                    </a:lnSpc>
                  </a:pPr>
                  <a:endParaRPr lang="en-US" altLang="ko-KR" sz="12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794E0BC-A22A-AE3C-5577-2971465CFB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002" y="1624225"/>
                  <a:ext cx="5472000" cy="4675773"/>
                </a:xfrm>
                <a:prstGeom prst="rect">
                  <a:avLst/>
                </a:prstGeom>
                <a:blipFill>
                  <a:blip r:embed="rId6"/>
                  <a:stretch>
                    <a:fillRect l="-167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80D48AF-CE8A-DF11-99C5-AAAEE1D026AF}"/>
                </a:ext>
              </a:extLst>
            </p:cNvPr>
            <p:cNvSpPr txBox="1"/>
            <p:nvPr/>
          </p:nvSpPr>
          <p:spPr>
            <a:xfrm>
              <a:off x="360000" y="6053777"/>
              <a:ext cx="4564711" cy="246221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altLang="ko-KR" sz="1000" dirty="0"/>
                <a:t>1) CAMPBELL R. HARVEY, Conditional Skewness in Asset Pricing Tests, 2000 </a:t>
              </a:r>
              <a:endParaRPr lang="ko-KR" altLang="en-US" sz="1000" dirty="0"/>
            </a:p>
          </p:txBody>
        </p:sp>
        <p:pic>
          <p:nvPicPr>
            <p:cNvPr id="11" name="그림 10" descr="텍스트, 그래프, 도표, 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B3F4140-9060-24D9-938A-BD962B6E0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3891" y="1624223"/>
              <a:ext cx="2877235" cy="25802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8979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F4040-5253-4A1A-6253-A5BE7375A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6CF8852D-AD7A-F098-0CC8-C370937578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1" t="4024" r="79972" b="17099"/>
          <a:stretch>
            <a:fillRect/>
          </a:stretch>
        </p:blipFill>
        <p:spPr>
          <a:xfrm>
            <a:off x="4231968" y="1899797"/>
            <a:ext cx="1600032" cy="2476388"/>
          </a:xfrm>
          <a:prstGeom prst="rect">
            <a:avLst/>
          </a:prstGeom>
        </p:spPr>
      </p:pic>
      <p:sp>
        <p:nvSpPr>
          <p:cNvPr id="6" name="사각형: 잘린 한쪽 모서리 5">
            <a:extLst>
              <a:ext uri="{FF2B5EF4-FFF2-40B4-BE49-F238E27FC236}">
                <a16:creationId xmlns:a16="http://schemas.microsoft.com/office/drawing/2014/main" id="{CCADF4CC-22D5-1254-33F4-14CBE6396F64}"/>
              </a:ext>
            </a:extLst>
          </p:cNvPr>
          <p:cNvSpPr/>
          <p:nvPr/>
        </p:nvSpPr>
        <p:spPr>
          <a:xfrm>
            <a:off x="6452278" y="4674217"/>
            <a:ext cx="5379722" cy="1432573"/>
          </a:xfrm>
          <a:prstGeom prst="snip1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2009</a:t>
            </a:r>
            <a:r>
              <a:rPr lang="ko-KR" altLang="en-US" sz="1200" dirty="0">
                <a:solidFill>
                  <a:schemeClr val="tx1"/>
                </a:solidFill>
              </a:rPr>
              <a:t>년</a:t>
            </a:r>
            <a:r>
              <a:rPr lang="en-US" altLang="ko-KR" sz="1200" dirty="0">
                <a:solidFill>
                  <a:schemeClr val="tx1"/>
                </a:solidFill>
              </a:rPr>
              <a:t> ~ 2014</a:t>
            </a:r>
            <a:r>
              <a:rPr lang="ko-KR" altLang="en-US" sz="1200" dirty="0">
                <a:solidFill>
                  <a:schemeClr val="tx1"/>
                </a:solidFill>
              </a:rPr>
              <a:t>년</a:t>
            </a:r>
            <a:r>
              <a:rPr lang="en-US" altLang="ko-KR" sz="1200" dirty="0">
                <a:solidFill>
                  <a:schemeClr val="tx1"/>
                </a:solidFill>
              </a:rPr>
              <a:t> : </a:t>
            </a:r>
            <a:r>
              <a:rPr lang="ko-KR" altLang="en-US" sz="1200" dirty="0" err="1">
                <a:solidFill>
                  <a:schemeClr val="tx1"/>
                </a:solidFill>
              </a:rPr>
              <a:t>팩터</a:t>
            </a:r>
            <a:r>
              <a:rPr lang="ko-KR" altLang="en-US" sz="1200" dirty="0">
                <a:solidFill>
                  <a:schemeClr val="tx1"/>
                </a:solidFill>
              </a:rPr>
              <a:t> 데이터 구축기간</a:t>
            </a:r>
            <a:r>
              <a:rPr lang="en-US" altLang="ko-KR" sz="1200" dirty="0">
                <a:solidFill>
                  <a:schemeClr val="tx1"/>
                </a:solidFill>
              </a:rPr>
              <a:t>(IS)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2015</a:t>
            </a:r>
            <a:r>
              <a:rPr lang="ko-KR" altLang="en-US" sz="1200" dirty="0">
                <a:solidFill>
                  <a:schemeClr val="tx1"/>
                </a:solidFill>
              </a:rPr>
              <a:t>년 </a:t>
            </a:r>
            <a:r>
              <a:rPr lang="en-US" altLang="ko-KR" sz="1200" dirty="0">
                <a:solidFill>
                  <a:schemeClr val="tx1"/>
                </a:solidFill>
              </a:rPr>
              <a:t>~ 2025</a:t>
            </a:r>
            <a:r>
              <a:rPr lang="ko-KR" altLang="en-US" sz="1200" dirty="0">
                <a:solidFill>
                  <a:schemeClr val="tx1"/>
                </a:solidFill>
              </a:rPr>
              <a:t>년 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전략 백테스트 기간</a:t>
            </a:r>
            <a:r>
              <a:rPr lang="en-US" altLang="ko-KR" sz="1200" dirty="0">
                <a:solidFill>
                  <a:schemeClr val="tx1"/>
                </a:solidFill>
              </a:rPr>
              <a:t>(OOS)</a:t>
            </a:r>
            <a:r>
              <a:rPr lang="ko-KR" altLang="en-US" sz="1200" dirty="0">
                <a:solidFill>
                  <a:schemeClr val="tx1"/>
                </a:solidFill>
              </a:rPr>
              <a:t>으로 구분하여 검증</a:t>
            </a:r>
            <a:endParaRPr lang="en-US" altLang="ko-KR" sz="1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26" name="사각형: 잘린 한쪽 모서리 25">
            <a:extLst>
              <a:ext uri="{FF2B5EF4-FFF2-40B4-BE49-F238E27FC236}">
                <a16:creationId xmlns:a16="http://schemas.microsoft.com/office/drawing/2014/main" id="{EA74C2EF-31DA-B28F-5DF1-A7BB0E22DF1D}"/>
              </a:ext>
            </a:extLst>
          </p:cNvPr>
          <p:cNvSpPr/>
          <p:nvPr/>
        </p:nvSpPr>
        <p:spPr>
          <a:xfrm>
            <a:off x="444866" y="4671026"/>
            <a:ext cx="5387134" cy="1435758"/>
          </a:xfrm>
          <a:prstGeom prst="snip1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>
              <a:lnSpc>
                <a:spcPct val="150000"/>
              </a:lnSpc>
            </a:pPr>
            <a:r>
              <a:rPr lang="en-US" altLang="ko-KR" sz="1200" dirty="0" err="1">
                <a:solidFill>
                  <a:schemeClr val="tx1"/>
                </a:solidFill>
              </a:rPr>
              <a:t>Winsorization</a:t>
            </a:r>
            <a:r>
              <a:rPr lang="en-US" altLang="ko-KR" sz="1200" dirty="0">
                <a:solidFill>
                  <a:schemeClr val="tx1"/>
                </a:solidFill>
              </a:rPr>
              <a:t> : </a:t>
            </a:r>
            <a:r>
              <a:rPr lang="ko-KR" altLang="en-US" sz="1200" dirty="0">
                <a:solidFill>
                  <a:schemeClr val="tx1"/>
                </a:solidFill>
              </a:rPr>
              <a:t>월간 수익률 </a:t>
            </a:r>
            <a:r>
              <a:rPr lang="ko-KR" altLang="en-US" sz="1200" dirty="0" err="1">
                <a:solidFill>
                  <a:schemeClr val="tx1"/>
                </a:solidFill>
              </a:rPr>
              <a:t>상하위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1% </a:t>
            </a:r>
            <a:r>
              <a:rPr lang="ko-KR" altLang="en-US" sz="1200" dirty="0">
                <a:solidFill>
                  <a:schemeClr val="tx1"/>
                </a:solidFill>
              </a:rPr>
              <a:t>제외</a:t>
            </a:r>
            <a:endParaRPr lang="en-US" altLang="ko-KR" sz="1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Liquidity cut : 60</a:t>
            </a:r>
            <a:r>
              <a:rPr lang="ko-KR" altLang="en-US" sz="1200" dirty="0">
                <a:solidFill>
                  <a:schemeClr val="tx1"/>
                </a:solidFill>
              </a:rPr>
              <a:t>일 평균 거래대금 하위 </a:t>
            </a:r>
            <a:r>
              <a:rPr lang="en-US" altLang="ko-KR" sz="1200" dirty="0">
                <a:solidFill>
                  <a:schemeClr val="tx1"/>
                </a:solidFill>
              </a:rPr>
              <a:t>10% </a:t>
            </a:r>
            <a:r>
              <a:rPr lang="ko-KR" altLang="en-US" sz="1200" dirty="0">
                <a:solidFill>
                  <a:schemeClr val="tx1"/>
                </a:solidFill>
              </a:rPr>
              <a:t>제외</a:t>
            </a:r>
            <a:endParaRPr lang="en-US" altLang="ko-KR" sz="1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상장폐지 및 거래중지 종목은 </a:t>
            </a:r>
            <a:r>
              <a:rPr lang="en-US" altLang="ko-KR" sz="1200" dirty="0">
                <a:solidFill>
                  <a:schemeClr val="tx1"/>
                </a:solidFill>
              </a:rPr>
              <a:t>Forward Fill </a:t>
            </a:r>
            <a:r>
              <a:rPr lang="ko-KR" altLang="en-US" sz="1200" dirty="0">
                <a:solidFill>
                  <a:schemeClr val="tx1"/>
                </a:solidFill>
              </a:rPr>
              <a:t>방식으로 보간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50CA89-8731-2D28-5F5B-82CCDE66D1E2}"/>
              </a:ext>
            </a:extLst>
          </p:cNvPr>
          <p:cNvSpPr txBox="1"/>
          <p:nvPr/>
        </p:nvSpPr>
        <p:spPr>
          <a:xfrm>
            <a:off x="540000" y="630000"/>
            <a:ext cx="10722481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Portfolio Foundation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C8A986-F0DB-96FE-8236-9DF007D3801C}"/>
              </a:ext>
            </a:extLst>
          </p:cNvPr>
          <p:cNvSpPr/>
          <p:nvPr/>
        </p:nvSpPr>
        <p:spPr>
          <a:xfrm>
            <a:off x="360000" y="720000"/>
            <a:ext cx="101948" cy="251534"/>
          </a:xfrm>
          <a:prstGeom prst="rect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5" name="사각형: 잘린 한쪽 모서리 14">
            <a:extLst>
              <a:ext uri="{FF2B5EF4-FFF2-40B4-BE49-F238E27FC236}">
                <a16:creationId xmlns:a16="http://schemas.microsoft.com/office/drawing/2014/main" id="{51596432-8BD5-2DAB-53C7-F9B906FE290F}"/>
              </a:ext>
            </a:extLst>
          </p:cNvPr>
          <p:cNvSpPr/>
          <p:nvPr/>
        </p:nvSpPr>
        <p:spPr>
          <a:xfrm>
            <a:off x="444866" y="1899797"/>
            <a:ext cx="3383065" cy="2449482"/>
          </a:xfrm>
          <a:prstGeom prst="snip1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출처 </a:t>
            </a:r>
            <a:r>
              <a:rPr lang="en-US" altLang="ko-KR" sz="1200" dirty="0">
                <a:solidFill>
                  <a:schemeClr val="tx1"/>
                </a:solidFill>
              </a:rPr>
              <a:t>: Data Guide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기간 </a:t>
            </a:r>
            <a:r>
              <a:rPr lang="en-US" altLang="ko-KR" sz="1200" dirty="0">
                <a:solidFill>
                  <a:schemeClr val="tx1"/>
                </a:solidFill>
              </a:rPr>
              <a:t>: 2008.12.31 ~ 2025.08.31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유니버스 </a:t>
            </a:r>
            <a:r>
              <a:rPr lang="en-US" altLang="ko-KR" sz="1200" dirty="0">
                <a:solidFill>
                  <a:schemeClr val="tx1"/>
                </a:solidFill>
              </a:rPr>
              <a:t>: KOSPI + KOSDAQ </a:t>
            </a:r>
            <a:r>
              <a:rPr lang="ko-KR" altLang="en-US" sz="1200" dirty="0" err="1">
                <a:solidFill>
                  <a:schemeClr val="tx1"/>
                </a:solidFill>
              </a:rPr>
              <a:t>보통주</a:t>
            </a:r>
            <a:endParaRPr lang="ko-KR" altLang="en-US" sz="1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코스피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코스닥의 상장폐지 포함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생존편향 </a:t>
            </a:r>
            <a:r>
              <a:rPr lang="en-US" altLang="ko-KR" sz="1200" dirty="0">
                <a:solidFill>
                  <a:schemeClr val="tx1"/>
                </a:solidFill>
              </a:rPr>
              <a:t>X)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종목별 일별 </a:t>
            </a:r>
            <a:r>
              <a:rPr lang="ko-KR" altLang="en-US" sz="1200" dirty="0" err="1">
                <a:solidFill>
                  <a:schemeClr val="tx1"/>
                </a:solidFill>
              </a:rPr>
              <a:t>수정종가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및 거래대금</a:t>
            </a:r>
            <a:endParaRPr lang="en-US" altLang="ko-KR" sz="1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코스피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코스닥 지수 종가 및 </a:t>
            </a:r>
            <a:r>
              <a:rPr lang="en-US" altLang="ko-KR" sz="1200" dirty="0">
                <a:solidFill>
                  <a:schemeClr val="tx1"/>
                </a:solidFill>
              </a:rPr>
              <a:t>91</a:t>
            </a:r>
            <a:r>
              <a:rPr lang="ko-KR" altLang="en-US" sz="1200" dirty="0">
                <a:solidFill>
                  <a:schemeClr val="tx1"/>
                </a:solidFill>
              </a:rPr>
              <a:t>일 </a:t>
            </a:r>
            <a:r>
              <a:rPr lang="en-US" altLang="ko-KR" sz="1200" dirty="0">
                <a:solidFill>
                  <a:schemeClr val="tx1"/>
                </a:solidFill>
              </a:rPr>
              <a:t>CD</a:t>
            </a:r>
            <a:r>
              <a:rPr lang="ko-KR" altLang="en-US" sz="1200" dirty="0">
                <a:solidFill>
                  <a:schemeClr val="tx1"/>
                </a:solidFill>
              </a:rPr>
              <a:t>금리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재무데이터를 사용하지 않으므로 </a:t>
            </a:r>
            <a:r>
              <a:rPr lang="ko-KR" altLang="en-US" sz="1200" dirty="0" err="1">
                <a:solidFill>
                  <a:schemeClr val="tx1"/>
                </a:solidFill>
              </a:rPr>
              <a:t>룩어헤드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X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사각형: 잘린 한쪽 모서리 20">
                <a:extLst>
                  <a:ext uri="{FF2B5EF4-FFF2-40B4-BE49-F238E27FC236}">
                    <a16:creationId xmlns:a16="http://schemas.microsoft.com/office/drawing/2014/main" id="{D417BA96-591D-2FAE-85D2-1A648FF7DDD0}"/>
                  </a:ext>
                </a:extLst>
              </p:cNvPr>
              <p:cNvSpPr/>
              <p:nvPr/>
            </p:nvSpPr>
            <p:spPr>
              <a:xfrm>
                <a:off x="6461386" y="3085265"/>
                <a:ext cx="5370614" cy="1286158"/>
              </a:xfrm>
              <a:prstGeom prst="snip1Rect">
                <a:avLst>
                  <a:gd name="adj" fmla="val 16667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200" dirty="0">
                    <a:solidFill>
                      <a:schemeClr val="tx1"/>
                    </a:solidFill>
                  </a:rPr>
                  <a:t>백테스트 기간 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: 2015.01.01 ~ 2025.08.31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200" dirty="0" err="1">
                    <a:solidFill>
                      <a:schemeClr val="tx1"/>
                    </a:solidFill>
                  </a:rPr>
                  <a:t>리밸런싱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 주기 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: </a:t>
                </a:r>
                <a:r>
                  <a:rPr lang="ko-KR" altLang="en-US" sz="1200" dirty="0" err="1">
                    <a:solidFill>
                      <a:schemeClr val="tx1"/>
                    </a:solidFill>
                  </a:rPr>
                  <a:t>매월말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 종가기준으로 </a:t>
                </a:r>
                <a:r>
                  <a:rPr lang="ko-KR" altLang="en-US" sz="1200" dirty="0" err="1">
                    <a:solidFill>
                      <a:schemeClr val="tx1"/>
                    </a:solidFill>
                  </a:rPr>
                  <a:t>리밸런싱</a:t>
                </a:r>
                <a:endParaRPr lang="en-US" altLang="ko-KR" sz="12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200" dirty="0">
                    <a:solidFill>
                      <a:schemeClr val="tx1"/>
                    </a:solidFill>
                  </a:rPr>
                  <a:t>거래비용 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: </a:t>
                </a:r>
                <a:r>
                  <a:rPr lang="en-US" altLang="ko-KR" sz="1200" dirty="0" err="1">
                    <a:solidFill>
                      <a:schemeClr val="tx1"/>
                    </a:solidFill>
                  </a:rPr>
                  <a:t>Amihud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200" dirty="0" err="1">
                    <a:solidFill>
                      <a:schemeClr val="tx1"/>
                    </a:solidFill>
                  </a:rPr>
                  <a:t>illiquidit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altLang="ko-KR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200" dirty="0">
                    <a:solidFill>
                      <a:schemeClr val="tx1"/>
                    </a:solidFill>
                  </a:rPr>
                  <a:t> (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유동성 하위 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20%: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80bp / 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나머지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: 30bp)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200" dirty="0" err="1">
                    <a:solidFill>
                      <a:schemeClr val="tx1"/>
                    </a:solidFill>
                  </a:rPr>
                  <a:t>Amihud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 illiquidity : 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거래량 대비 주가 변화의 민감도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유동성 지표로 사용</a:t>
                </a:r>
              </a:p>
            </p:txBody>
          </p:sp>
        </mc:Choice>
        <mc:Fallback xmlns="">
          <p:sp>
            <p:nvSpPr>
              <p:cNvPr id="21" name="사각형: 잘린 한쪽 모서리 20">
                <a:extLst>
                  <a:ext uri="{FF2B5EF4-FFF2-40B4-BE49-F238E27FC236}">
                    <a16:creationId xmlns:a16="http://schemas.microsoft.com/office/drawing/2014/main" id="{D417BA96-591D-2FAE-85D2-1A648FF7DD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386" y="3085265"/>
                <a:ext cx="5370614" cy="1286158"/>
              </a:xfrm>
              <a:prstGeom prst="snip1Rect">
                <a:avLst>
                  <a:gd name="adj" fmla="val 16667"/>
                </a:avLst>
              </a:prstGeom>
              <a:blipFill>
                <a:blip r:embed="rId4"/>
                <a:stretch>
                  <a:fillRect b="-18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75064B5B-04EE-D7AB-57ED-A5A503842AFD}"/>
              </a:ext>
            </a:extLst>
          </p:cNvPr>
          <p:cNvSpPr/>
          <p:nvPr/>
        </p:nvSpPr>
        <p:spPr>
          <a:xfrm>
            <a:off x="360000" y="1775907"/>
            <a:ext cx="1519200" cy="34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bg1"/>
                </a:solidFill>
              </a:rPr>
              <a:t>Data</a:t>
            </a:r>
            <a:endParaRPr lang="ko-KR" altLang="en-US" sz="1300" b="1" dirty="0">
              <a:solidFill>
                <a:schemeClr val="bg1"/>
              </a:solidFill>
            </a:endParaRPr>
          </a:p>
        </p:txBody>
      </p:sp>
      <p:sp>
        <p:nvSpPr>
          <p:cNvPr id="14" name="1/2 액자 13">
            <a:extLst>
              <a:ext uri="{FF2B5EF4-FFF2-40B4-BE49-F238E27FC236}">
                <a16:creationId xmlns:a16="http://schemas.microsoft.com/office/drawing/2014/main" id="{FDECFB63-4F8A-3846-98BC-D7192D7C1B49}"/>
              </a:ext>
            </a:extLst>
          </p:cNvPr>
          <p:cNvSpPr/>
          <p:nvPr/>
        </p:nvSpPr>
        <p:spPr>
          <a:xfrm rot="8156872" flipH="1" flipV="1">
            <a:off x="3986872" y="3106654"/>
            <a:ext cx="252000" cy="252000"/>
          </a:xfrm>
          <a:prstGeom prst="halfFrame">
            <a:avLst/>
          </a:prstGeom>
          <a:solidFill>
            <a:srgbClr val="215F9A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B7059B56-00F9-F3DE-5FE9-FD48F73C3805}"/>
              </a:ext>
            </a:extLst>
          </p:cNvPr>
          <p:cNvSpPr/>
          <p:nvPr/>
        </p:nvSpPr>
        <p:spPr>
          <a:xfrm>
            <a:off x="4646416" y="2823377"/>
            <a:ext cx="276225" cy="1124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59B5F1-F658-7BD1-2E95-29276706B2D1}"/>
              </a:ext>
            </a:extLst>
          </p:cNvPr>
          <p:cNvSpPr txBox="1">
            <a:spLocks/>
          </p:cNvSpPr>
          <p:nvPr/>
        </p:nvSpPr>
        <p:spPr>
          <a:xfrm rot="10800000" flipV="1">
            <a:off x="360000" y="180000"/>
            <a:ext cx="4644204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200" b="1" dirty="0">
                <a:solidFill>
                  <a:schemeClr val="tx2">
                    <a:lumMod val="75000"/>
                    <a:lumOff val="25000"/>
                    <a:alpha val="50000"/>
                  </a:schemeClr>
                </a:solidFill>
              </a:rPr>
              <a:t>02. Portfolio Construction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CE25367-2B75-9256-D705-49C7EA2CA335}"/>
              </a:ext>
            </a:extLst>
          </p:cNvPr>
          <p:cNvGrpSpPr/>
          <p:nvPr/>
        </p:nvGrpSpPr>
        <p:grpSpPr>
          <a:xfrm>
            <a:off x="360000" y="1171990"/>
            <a:ext cx="5472000" cy="311948"/>
            <a:chOff x="360000" y="1171989"/>
            <a:chExt cx="3565389" cy="31194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3C2E571-2524-32CD-5687-D37174040E71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rgbClr val="215F9A"/>
                  </a:solidFill>
                </a:rPr>
                <a:t>Data Preprocessing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DB7F85BE-A7F8-EFED-4465-D34526DD77CE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A682553-7937-A44A-81FC-23912A3C890F}"/>
              </a:ext>
            </a:extLst>
          </p:cNvPr>
          <p:cNvGrpSpPr/>
          <p:nvPr/>
        </p:nvGrpSpPr>
        <p:grpSpPr>
          <a:xfrm>
            <a:off x="6359434" y="1171990"/>
            <a:ext cx="5472566" cy="311948"/>
            <a:chOff x="360000" y="1171989"/>
            <a:chExt cx="3565389" cy="311949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A883681-F42D-91BA-BACC-5614267CF3F2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rgbClr val="215F9A"/>
                  </a:solidFill>
                </a:rPr>
                <a:t>Settings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0D2A8D03-732E-7E94-9685-25A41D8B6D99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사각형: 잘린 한쪽 모서리 18">
            <a:extLst>
              <a:ext uri="{FF2B5EF4-FFF2-40B4-BE49-F238E27FC236}">
                <a16:creationId xmlns:a16="http://schemas.microsoft.com/office/drawing/2014/main" id="{29B5651D-CD11-1C0E-C3AE-6C3AA3013E66}"/>
              </a:ext>
            </a:extLst>
          </p:cNvPr>
          <p:cNvSpPr/>
          <p:nvPr/>
        </p:nvSpPr>
        <p:spPr>
          <a:xfrm>
            <a:off x="6461386" y="1952412"/>
            <a:ext cx="5370614" cy="775382"/>
          </a:xfrm>
          <a:prstGeom prst="snip1Rect">
            <a:avLst>
              <a:gd name="adj" fmla="val 2059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개별 종목의 </a:t>
            </a:r>
            <a:r>
              <a:rPr lang="ko-KR" altLang="en-US" sz="1200" dirty="0" err="1">
                <a:solidFill>
                  <a:schemeClr val="tx1"/>
                </a:solidFill>
              </a:rPr>
              <a:t>공왜도</a:t>
            </a:r>
            <a:r>
              <a:rPr lang="ko-KR" altLang="en-US" sz="1200" dirty="0">
                <a:solidFill>
                  <a:schemeClr val="tx1"/>
                </a:solidFill>
              </a:rPr>
              <a:t> 계산 후 </a:t>
            </a:r>
            <a:r>
              <a:rPr lang="ko-KR" altLang="en-US" sz="1200" dirty="0" err="1">
                <a:solidFill>
                  <a:schemeClr val="tx1"/>
                </a:solidFill>
              </a:rPr>
              <a:t>공왜도가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낮은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하위 종목</a:t>
            </a:r>
            <a:r>
              <a:rPr lang="en-US" altLang="ko-KR" sz="1200" dirty="0">
                <a:solidFill>
                  <a:schemeClr val="tx1"/>
                </a:solidFill>
              </a:rPr>
              <a:t> 20%</a:t>
            </a:r>
            <a:r>
              <a:rPr lang="ko-KR" altLang="en-US" sz="1200" dirty="0">
                <a:solidFill>
                  <a:schemeClr val="tx1"/>
                </a:solidFill>
              </a:rPr>
              <a:t>를 동일가중으로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매수하는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롱온리</a:t>
            </a:r>
            <a:r>
              <a:rPr lang="ko-KR" altLang="en-US" sz="1200" dirty="0">
                <a:solidFill>
                  <a:schemeClr val="tx1"/>
                </a:solidFill>
              </a:rPr>
              <a:t> 포트폴리오를 구성</a:t>
            </a:r>
            <a:r>
              <a:rPr lang="en-US" altLang="ko-KR" sz="1200" dirty="0">
                <a:solidFill>
                  <a:schemeClr val="tx1"/>
                </a:solidFill>
              </a:rPr>
              <a:t> (</a:t>
            </a:r>
            <a:r>
              <a:rPr lang="ko-KR" altLang="en-US" sz="1200" dirty="0">
                <a:solidFill>
                  <a:schemeClr val="tx1"/>
                </a:solidFill>
              </a:rPr>
              <a:t>소수점 구매가 가능하다고 가정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en-US" altLang="ko-KR" sz="12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EEDEBEA-7F85-E78F-03B1-B3255AC9E504}"/>
              </a:ext>
            </a:extLst>
          </p:cNvPr>
          <p:cNvSpPr/>
          <p:nvPr/>
        </p:nvSpPr>
        <p:spPr>
          <a:xfrm>
            <a:off x="6359434" y="1775907"/>
            <a:ext cx="1519200" cy="34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bg1"/>
                </a:solidFill>
              </a:rPr>
              <a:t>Factor</a:t>
            </a:r>
            <a:endParaRPr lang="ko-KR" altLang="en-US" sz="1300" b="1" dirty="0">
              <a:solidFill>
                <a:schemeClr val="bg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55BED09-8531-045B-C03B-99F0D3AB0E96}"/>
              </a:ext>
            </a:extLst>
          </p:cNvPr>
          <p:cNvSpPr/>
          <p:nvPr/>
        </p:nvSpPr>
        <p:spPr>
          <a:xfrm>
            <a:off x="6359434" y="2906362"/>
            <a:ext cx="1517402" cy="34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/>
              <a:t>Rebalance/Costs</a:t>
            </a:r>
            <a:endParaRPr lang="ko-KR" altLang="en-US" sz="1300" b="1" dirty="0">
              <a:solidFill>
                <a:schemeClr val="bg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2289469-FA1C-6757-3647-242AFB0A3D8B}"/>
              </a:ext>
            </a:extLst>
          </p:cNvPr>
          <p:cNvSpPr/>
          <p:nvPr/>
        </p:nvSpPr>
        <p:spPr>
          <a:xfrm>
            <a:off x="6359434" y="4550326"/>
            <a:ext cx="1517401" cy="34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bg1"/>
                </a:solidFill>
              </a:rPr>
              <a:t>IS /</a:t>
            </a:r>
            <a:r>
              <a:rPr lang="ko-KR" altLang="en-US" sz="1300" b="1" dirty="0">
                <a:solidFill>
                  <a:schemeClr val="bg1"/>
                </a:solidFill>
              </a:rPr>
              <a:t> </a:t>
            </a:r>
            <a:r>
              <a:rPr lang="en-US" altLang="ko-KR" sz="1300" b="1" dirty="0">
                <a:solidFill>
                  <a:schemeClr val="bg1"/>
                </a:solidFill>
              </a:rPr>
              <a:t>OOS test</a:t>
            </a:r>
            <a:endParaRPr lang="ko-KR" altLang="en-US" sz="1300" b="1" dirty="0">
              <a:solidFill>
                <a:schemeClr val="bg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B746588-F6C5-526F-2706-9D3C117BF872}"/>
              </a:ext>
            </a:extLst>
          </p:cNvPr>
          <p:cNvSpPr/>
          <p:nvPr/>
        </p:nvSpPr>
        <p:spPr>
          <a:xfrm>
            <a:off x="360000" y="4550326"/>
            <a:ext cx="1519200" cy="34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bg1"/>
                </a:solidFill>
              </a:rPr>
              <a:t>Filters</a:t>
            </a:r>
            <a:endParaRPr lang="ko-KR" altLang="en-US" sz="1300" b="1" dirty="0">
              <a:solidFill>
                <a:schemeClr val="bg1"/>
              </a:solidFill>
            </a:endParaRPr>
          </a:p>
        </p:txBody>
      </p:sp>
      <p:pic>
        <p:nvPicPr>
          <p:cNvPr id="29" name="그림 28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27BFB9-1979-27B9-5A83-F4E70ED01A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90"/>
          <a:stretch>
            <a:fillRect/>
          </a:stretch>
        </p:blipFill>
        <p:spPr>
          <a:xfrm>
            <a:off x="6493831" y="5540308"/>
            <a:ext cx="5296615" cy="498636"/>
          </a:xfrm>
          <a:prstGeom prst="rect">
            <a:avLst/>
          </a:prstGeom>
        </p:spPr>
      </p:pic>
      <p:pic>
        <p:nvPicPr>
          <p:cNvPr id="25" name="그림 24" descr="텍스트, 폰트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D94D54-DE73-70D9-E3AA-DF25C84A0A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4" y="6455949"/>
            <a:ext cx="1209904" cy="40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98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A3784-8EC0-83D2-0ED2-B41E44A05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화살표: 아래쪽 2">
            <a:extLst>
              <a:ext uri="{FF2B5EF4-FFF2-40B4-BE49-F238E27FC236}">
                <a16:creationId xmlns:a16="http://schemas.microsoft.com/office/drawing/2014/main" id="{6579B914-3570-ED6C-AAB1-162213A2F250}"/>
              </a:ext>
            </a:extLst>
          </p:cNvPr>
          <p:cNvSpPr/>
          <p:nvPr/>
        </p:nvSpPr>
        <p:spPr>
          <a:xfrm>
            <a:off x="6354402" y="1627199"/>
            <a:ext cx="754022" cy="4681523"/>
          </a:xfrm>
          <a:prstGeom prst="downArrow">
            <a:avLst/>
          </a:prstGeom>
          <a:gradFill>
            <a:gsLst>
              <a:gs pos="0">
                <a:schemeClr val="accent1">
                  <a:alpha val="50000"/>
                  <a:lumMod val="10000"/>
                  <a:lumOff val="90000"/>
                </a:schemeClr>
              </a:gs>
              <a:gs pos="45000">
                <a:schemeClr val="accent4">
                  <a:lumMod val="15000"/>
                  <a:lumOff val="85000"/>
                </a:schemeClr>
              </a:gs>
              <a:gs pos="95000">
                <a:schemeClr val="accent1">
                  <a:lumMod val="22000"/>
                  <a:lumOff val="7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65FBDA33-E891-4BF3-5557-20A24E497095}"/>
                  </a:ext>
                </a:extLst>
              </p:cNvPr>
              <p:cNvSpPr/>
              <p:nvPr/>
            </p:nvSpPr>
            <p:spPr>
              <a:xfrm>
                <a:off x="7108424" y="1625700"/>
                <a:ext cx="4723546" cy="1030056"/>
              </a:xfrm>
              <a:prstGeom prst="rect">
                <a:avLst/>
              </a:prstGeom>
              <a:noFill/>
              <a:ln w="22225">
                <a:solidFill>
                  <a:srgbClr val="CBDBE3"/>
                </a:solidFill>
              </a:ln>
              <a:effectLst>
                <a:reflection stA="98000" endPos="0" dist="38100" dir="5400000" sy="-100000" algn="bl" rotWithShape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200" dirty="0">
                    <a:solidFill>
                      <a:schemeClr val="tx1"/>
                    </a:solidFill>
                  </a:rPr>
                  <a:t>전체 관측기간의 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CAPM 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회귀분석을 통해 종목별 </a:t>
                </a:r>
                <a:endParaRPr lang="en-US" altLang="ko-KR" sz="1200" dirty="0">
                  <a:solidFill>
                    <a:schemeClr val="tx1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ko-KR" altLang="en-US" sz="1200" dirty="0">
                    <a:solidFill>
                      <a:schemeClr val="tx1"/>
                    </a:solidFill>
                  </a:rPr>
                  <a:t>초과수익률에 대한 시점별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1200" dirty="0" err="1">
                    <a:solidFill>
                      <a:schemeClr val="tx1"/>
                    </a:solidFill>
                  </a:rPr>
                  <a:t>잔차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ko-KR" sz="1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2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200" i="1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200" dirty="0">
                    <a:solidFill>
                      <a:schemeClr val="tx1"/>
                    </a:solidFill>
                  </a:rPr>
                  <a:t>를 측정</a:t>
                </a:r>
                <a:r>
                  <a:rPr lang="en-US" altLang="ko-KR" sz="1200" dirty="0">
                    <a:solidFill>
                      <a:schemeClr val="dk1"/>
                    </a:solidFill>
                  </a:rPr>
                  <a:t> </a:t>
                </a:r>
                <a:endParaRPr lang="en-US" altLang="ko-KR" sz="1200" i="1" dirty="0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ko-KR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ko-KR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ko-KR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sz="1400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sz="1400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ko-KR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ε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ko-KR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65FBDA33-E891-4BF3-5557-20A24E4970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424" y="1625700"/>
                <a:ext cx="4723546" cy="10300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2225">
                <a:solidFill>
                  <a:srgbClr val="CBDBE3"/>
                </a:solidFill>
              </a:ln>
              <a:effectLst>
                <a:reflection stA="98000" endPos="0" dist="38100" dir="5400000" sy="-100000" algn="bl" rotWithShape="0"/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그룹 5">
            <a:extLst>
              <a:ext uri="{FF2B5EF4-FFF2-40B4-BE49-F238E27FC236}">
                <a16:creationId xmlns:a16="http://schemas.microsoft.com/office/drawing/2014/main" id="{6026D350-5B63-E8F9-7501-B08979E54BAB}"/>
              </a:ext>
            </a:extLst>
          </p:cNvPr>
          <p:cNvGrpSpPr/>
          <p:nvPr/>
        </p:nvGrpSpPr>
        <p:grpSpPr>
          <a:xfrm>
            <a:off x="6359405" y="1171871"/>
            <a:ext cx="5472564" cy="311948"/>
            <a:chOff x="360000" y="1171989"/>
            <a:chExt cx="3565389" cy="311949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CFF82C8-949C-CE69-24D3-F2009CE81495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 err="1">
                  <a:solidFill>
                    <a:srgbClr val="215F9A"/>
                  </a:solidFill>
                </a:rPr>
                <a:t>Coskewness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9078C1ED-9F42-CCF4-C87C-47D4C41034EC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23C60829-72E4-AD31-3172-F098A32FEB72}"/>
                  </a:ext>
                </a:extLst>
              </p:cNvPr>
              <p:cNvSpPr/>
              <p:nvPr/>
            </p:nvSpPr>
            <p:spPr>
              <a:xfrm>
                <a:off x="7108423" y="2840407"/>
                <a:ext cx="4723546" cy="1030056"/>
              </a:xfrm>
              <a:prstGeom prst="rect">
                <a:avLst/>
              </a:prstGeom>
              <a:noFill/>
              <a:ln w="22225">
                <a:solidFill>
                  <a:srgbClr val="CBDBE3"/>
                </a:solidFill>
              </a:ln>
              <a:effectLst>
                <a:reflection stA="98000" endPos="0" dist="38100" dir="5400000" sy="-100000" algn="bl" rotWithShape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4680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ko-KR" altLang="en-US" sz="12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개별종목 </a:t>
                </a:r>
                <a:r>
                  <a:rPr lang="ko-KR" altLang="en-US" sz="1200" dirty="0" err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잔차의</a:t>
                </a:r>
                <a:r>
                  <a:rPr lang="ko-KR" altLang="en-US" sz="12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평균을 통해 시점별 </a:t>
                </a:r>
                <a:r>
                  <a:rPr lang="ko-KR" altLang="en-US" sz="1200" dirty="0" err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시장잔차를</a:t>
                </a:r>
                <a:r>
                  <a:rPr lang="ko-KR" altLang="en-US" sz="12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측정</a:t>
                </a:r>
                <a:endParaRPr lang="en-US" altLang="ko-KR" sz="12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ko-KR" sz="14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23C60829-72E4-AD31-3172-F098A32FEB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423" y="2840407"/>
                <a:ext cx="4723546" cy="10300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2225">
                <a:solidFill>
                  <a:srgbClr val="CBDBE3"/>
                </a:solidFill>
              </a:ln>
              <a:effectLst>
                <a:reflection stA="98000" endPos="0" dist="38100" dir="5400000" sy="-100000" algn="bl" rotWithShape="0"/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A0173FF0-29D3-96FF-8214-ACBCC8ABDC4C}"/>
                  </a:ext>
                </a:extLst>
              </p:cNvPr>
              <p:cNvSpPr/>
              <p:nvPr/>
            </p:nvSpPr>
            <p:spPr>
              <a:xfrm>
                <a:off x="7108423" y="4055114"/>
                <a:ext cx="4713259" cy="1030056"/>
              </a:xfrm>
              <a:prstGeom prst="rect">
                <a:avLst/>
              </a:prstGeom>
              <a:noFill/>
              <a:ln w="22225">
                <a:solidFill>
                  <a:srgbClr val="CBDBE3"/>
                </a:solidFill>
              </a:ln>
              <a:effectLst>
                <a:reflection stA="98000" endPos="0" dist="38100" dir="5400000" sy="-100000" algn="bl" rotWithShape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ko-KR" altLang="en-US" sz="1200" dirty="0">
                    <a:solidFill>
                      <a:schemeClr val="tx1"/>
                    </a:solidFill>
                  </a:rPr>
                  <a:t>모든 관측시점에 대한 </a:t>
                </a:r>
                <a:r>
                  <a:rPr lang="ko-KR" altLang="en-US" sz="1200" dirty="0" err="1">
                    <a:solidFill>
                      <a:schemeClr val="tx1"/>
                    </a:solidFill>
                  </a:rPr>
                  <a:t>잔차의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 평균은 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0</a:t>
                </a: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altLang="ko-KR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           </m:t>
                      </m:r>
                      <m:sSub>
                        <m:sSubPr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altLang="ko-KR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altLang="ko-KR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ko-K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A0173FF0-29D3-96FF-8214-ACBCC8ABDC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423" y="4055114"/>
                <a:ext cx="4713259" cy="10300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2225">
                <a:solidFill>
                  <a:srgbClr val="CBDBE3"/>
                </a:solidFill>
              </a:ln>
              <a:effectLst>
                <a:reflection stA="98000" endPos="0" dist="38100" dir="5400000" sy="-100000" algn="bl" rotWithShape="0"/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C9B0211C-0F8D-8F9F-D29F-DB57AEB156D5}"/>
                  </a:ext>
                </a:extLst>
              </p:cNvPr>
              <p:cNvSpPr/>
              <p:nvPr/>
            </p:nvSpPr>
            <p:spPr>
              <a:xfrm>
                <a:off x="7108423" y="5269821"/>
                <a:ext cx="4713259" cy="1030056"/>
              </a:xfrm>
              <a:prstGeom prst="rect">
                <a:avLst/>
              </a:prstGeom>
              <a:noFill/>
              <a:ln w="22225">
                <a:solidFill>
                  <a:srgbClr val="CBDBE3"/>
                </a:solidFill>
              </a:ln>
              <a:effectLst>
                <a:reflection stA="98000" endPos="0" dist="38100" dir="5400000" sy="-100000" algn="bl" rotWithShape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ctr"/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𝐶𝑜𝑠𝑘𝑒𝑤𝑛𝑒𝑠</m:t>
                      </m:r>
                      <m:sSub>
                        <m:sSubPr>
                          <m:ctrlP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=</m:t>
                      </m:r>
                      <m:f>
                        <m:fPr>
                          <m:ctrlP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ko-KR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ko-KR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ko-KR" sz="1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ko-KR" altLang="en-US" sz="1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en-US" altLang="ko-KR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1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sub>
                                      </m:sSub>
                                      <m:r>
                                        <a:rPr lang="en-US" altLang="ko-K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ko-KR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ko-KR" altLang="en-US" sz="1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𝜀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ko-KR" sz="12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bSup>
                            <m:sSubSupPr>
                              <m:ctrlP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sub>
                            <m:sup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altLang="ko-KR" sz="12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ko-K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Sup>
                            <m:sSubSupPr>
                              <m:ctrlP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en-US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sub>
                            <m:sup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ko-K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sz="12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ko-K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ko-KR" altLang="en-US" sz="1200" dirty="0">
                    <a:solidFill>
                      <a:schemeClr val="tx1"/>
                    </a:solidFill>
                  </a:rPr>
                  <a:t>모든 </a:t>
                </a:r>
                <a:r>
                  <a:rPr lang="ko-KR" altLang="en-US" sz="1200" dirty="0" err="1">
                    <a:solidFill>
                      <a:schemeClr val="tx1"/>
                    </a:solidFill>
                  </a:rPr>
                  <a:t>공왜도에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 일괄적으로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b>
                      <m:sup>
                        <m:r>
                          <a:rPr lang="en-US" altLang="ko-K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ko-KR" altLang="en-US" sz="1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 sz="120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곱해 간단히 비교</a:t>
                </a:r>
                <a:r>
                  <a:rPr lang="en-US" altLang="ko-KR" sz="1400" dirty="0">
                    <a:solidFill>
                      <a:schemeClr val="tx1"/>
                    </a:solidFill>
                  </a:rPr>
                  <a:t>) </a:t>
                </a:r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C9B0211C-0F8D-8F9F-D29F-DB57AEB156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423" y="5269821"/>
                <a:ext cx="4713259" cy="1030056"/>
              </a:xfrm>
              <a:prstGeom prst="rect">
                <a:avLst/>
              </a:prstGeom>
              <a:blipFill>
                <a:blip r:embed="rId6"/>
                <a:stretch>
                  <a:fillRect b="-4046"/>
                </a:stretch>
              </a:blipFill>
              <a:ln w="22225">
                <a:solidFill>
                  <a:srgbClr val="CBDBE3"/>
                </a:solidFill>
              </a:ln>
              <a:effectLst>
                <a:reflection stA="98000" endPos="0" dist="38100" dir="5400000" sy="-100000" algn="bl" rotWithShape="0"/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821A9B2-5669-66B0-D620-3C97AF73A96E}"/>
              </a:ext>
            </a:extLst>
          </p:cNvPr>
          <p:cNvSpPr txBox="1">
            <a:spLocks/>
          </p:cNvSpPr>
          <p:nvPr/>
        </p:nvSpPr>
        <p:spPr>
          <a:xfrm rot="10800000" flipV="1">
            <a:off x="360000" y="180000"/>
            <a:ext cx="4644204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200" b="1" dirty="0">
                <a:solidFill>
                  <a:schemeClr val="tx2">
                    <a:lumMod val="75000"/>
                    <a:lumOff val="25000"/>
                    <a:alpha val="50000"/>
                  </a:schemeClr>
                </a:solidFill>
              </a:rPr>
              <a:t>02. Portfolio Construction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1533099-E830-B2D9-E73F-AADC55DFB637}"/>
              </a:ext>
            </a:extLst>
          </p:cNvPr>
          <p:cNvSpPr/>
          <p:nvPr/>
        </p:nvSpPr>
        <p:spPr>
          <a:xfrm>
            <a:off x="360000" y="720000"/>
            <a:ext cx="101948" cy="251534"/>
          </a:xfrm>
          <a:prstGeom prst="rect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FFC7F9-8C03-1513-412A-DCC9374CD70F}"/>
              </a:ext>
            </a:extLst>
          </p:cNvPr>
          <p:cNvSpPr txBox="1"/>
          <p:nvPr/>
        </p:nvSpPr>
        <p:spPr>
          <a:xfrm>
            <a:off x="539999" y="630000"/>
            <a:ext cx="3045755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Factor Value Calculation</a:t>
            </a:r>
          </a:p>
        </p:txBody>
      </p:sp>
      <p:pic>
        <p:nvPicPr>
          <p:cNvPr id="45" name="그림 44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8E9265-3C35-C8B6-401F-C4B8B59D4C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1" t="4923" r="1081" b="3975"/>
          <a:stretch>
            <a:fillRect/>
          </a:stretch>
        </p:blipFill>
        <p:spPr>
          <a:xfrm>
            <a:off x="309604" y="1620348"/>
            <a:ext cx="5472538" cy="2497768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C62080E7-6419-BAB2-39A4-F532615154AB}"/>
              </a:ext>
            </a:extLst>
          </p:cNvPr>
          <p:cNvGrpSpPr/>
          <p:nvPr/>
        </p:nvGrpSpPr>
        <p:grpSpPr>
          <a:xfrm>
            <a:off x="360000" y="1171871"/>
            <a:ext cx="5472566" cy="311948"/>
            <a:chOff x="360000" y="1171989"/>
            <a:chExt cx="3565389" cy="311949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A4A8925-5E17-6E64-7BCB-5B4244CD19B0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rgbClr val="215F9A"/>
                  </a:solidFill>
                </a:rPr>
                <a:t>Rolling Window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19A44FA8-BB4F-7128-DAF5-BE23E7096BB2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329F495-84F2-31BE-76A3-0EBD44EF723C}"/>
              </a:ext>
            </a:extLst>
          </p:cNvPr>
          <p:cNvSpPr txBox="1"/>
          <p:nvPr/>
        </p:nvSpPr>
        <p:spPr>
          <a:xfrm>
            <a:off x="2648419" y="3637928"/>
            <a:ext cx="1470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삼성전자의 </a:t>
            </a:r>
            <a:r>
              <a:rPr lang="ko-KR" altLang="en-US" sz="1200" b="1" dirty="0" err="1"/>
              <a:t>공왜도</a:t>
            </a:r>
            <a:endParaRPr lang="ko-KR" altLang="en-US" sz="1200" b="1" dirty="0"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87E21EA-842A-49F4-2D97-77BD34864640}"/>
              </a:ext>
            </a:extLst>
          </p:cNvPr>
          <p:cNvCxnSpPr/>
          <p:nvPr/>
        </p:nvCxnSpPr>
        <p:spPr>
          <a:xfrm>
            <a:off x="873555" y="2673231"/>
            <a:ext cx="0" cy="2160000"/>
          </a:xfrm>
          <a:prstGeom prst="line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230FBCB-BD67-15CA-D477-AD14F795DC8B}"/>
              </a:ext>
            </a:extLst>
          </p:cNvPr>
          <p:cNvCxnSpPr/>
          <p:nvPr/>
        </p:nvCxnSpPr>
        <p:spPr>
          <a:xfrm>
            <a:off x="1740761" y="2696428"/>
            <a:ext cx="0" cy="2160000"/>
          </a:xfrm>
          <a:prstGeom prst="line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3A28302B-357B-C820-B2CF-98AB7869699B}"/>
              </a:ext>
            </a:extLst>
          </p:cNvPr>
          <p:cNvCxnSpPr/>
          <p:nvPr/>
        </p:nvCxnSpPr>
        <p:spPr>
          <a:xfrm>
            <a:off x="2600101" y="2655755"/>
            <a:ext cx="0" cy="2160000"/>
          </a:xfrm>
          <a:prstGeom prst="line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BCC2B1C-BF6E-8005-B8C2-1C33799DEFB9}"/>
              </a:ext>
            </a:extLst>
          </p:cNvPr>
          <p:cNvSpPr txBox="1"/>
          <p:nvPr/>
        </p:nvSpPr>
        <p:spPr>
          <a:xfrm>
            <a:off x="360000" y="5120891"/>
            <a:ext cx="5472000" cy="1187834"/>
          </a:xfrm>
          <a:prstGeom prst="rect">
            <a:avLst/>
          </a:prstGeom>
          <a:noFill/>
          <a:ln w="19050">
            <a:solidFill>
              <a:schemeClr val="bg2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36M</a:t>
            </a:r>
            <a:r>
              <a:rPr lang="ko-KR" altLang="en-US" sz="1200" dirty="0"/>
              <a:t> </a:t>
            </a:r>
            <a:r>
              <a:rPr lang="en-US" altLang="ko-KR" sz="1200" dirty="0"/>
              <a:t>Rolling : </a:t>
            </a:r>
            <a:r>
              <a:rPr lang="ko-KR" altLang="en-US" sz="1200" dirty="0"/>
              <a:t>매 시점의 지표를 직전 </a:t>
            </a:r>
            <a:r>
              <a:rPr lang="en-US" altLang="ko-KR" sz="1200" dirty="0"/>
              <a:t>36</a:t>
            </a:r>
            <a:r>
              <a:rPr lang="ko-KR" altLang="en-US" sz="1200" dirty="0"/>
              <a:t>개월의 데이터를 사용하여 계산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2015</a:t>
            </a:r>
            <a:r>
              <a:rPr lang="ko-KR" altLang="en-US" sz="1200" dirty="0"/>
              <a:t>년 부터 </a:t>
            </a:r>
            <a:r>
              <a:rPr lang="ko-KR" altLang="en-US" sz="1200" dirty="0" err="1"/>
              <a:t>공왜도를</a:t>
            </a:r>
            <a:r>
              <a:rPr lang="ko-KR" altLang="en-US" sz="1200" dirty="0"/>
              <a:t> 계산하여 백테스트를 시작하기 위해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Window 2</a:t>
            </a:r>
            <a:r>
              <a:rPr lang="ko-KR" altLang="en-US" sz="1200" dirty="0"/>
              <a:t>의 </a:t>
            </a:r>
            <a:r>
              <a:rPr lang="ko-KR" altLang="en-US" sz="1200" dirty="0" err="1"/>
              <a:t>잔차</a:t>
            </a:r>
            <a:r>
              <a:rPr lang="ko-KR" altLang="en-US" sz="1200" dirty="0"/>
              <a:t> 데이터가 필요하고 이를 위해 </a:t>
            </a:r>
            <a:r>
              <a:rPr lang="en-US" altLang="ko-KR" sz="1200" dirty="0"/>
              <a:t>Window 1</a:t>
            </a:r>
            <a:r>
              <a:rPr lang="ko-KR" altLang="en-US" sz="1200" dirty="0"/>
              <a:t>의 수익률이 필요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한 달씩 시점이 이동하면서 </a:t>
            </a:r>
            <a:r>
              <a:rPr lang="en-US" altLang="ko-KR" sz="1200" dirty="0"/>
              <a:t>Window</a:t>
            </a:r>
            <a:r>
              <a:rPr lang="ko-KR" altLang="en-US" sz="1200" dirty="0"/>
              <a:t>도 함께 한 달씩 이동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A0D3C3D-31BE-72C1-A406-22F57F23C5A3}"/>
              </a:ext>
            </a:extLst>
          </p:cNvPr>
          <p:cNvSpPr/>
          <p:nvPr/>
        </p:nvSpPr>
        <p:spPr>
          <a:xfrm>
            <a:off x="965981" y="4280400"/>
            <a:ext cx="697393" cy="428458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Window 1</a:t>
            </a:r>
            <a:endParaRPr lang="ko-KR" altLang="en-US" sz="1000" b="1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4A18A57-1D04-653B-773F-32469E3CFF10}"/>
              </a:ext>
            </a:extLst>
          </p:cNvPr>
          <p:cNvSpPr/>
          <p:nvPr/>
        </p:nvSpPr>
        <p:spPr>
          <a:xfrm>
            <a:off x="1834169" y="4281664"/>
            <a:ext cx="698400" cy="428400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Window 2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6860929-0BEC-8316-5050-2331F215B10A}"/>
              </a:ext>
            </a:extLst>
          </p:cNvPr>
          <p:cNvSpPr/>
          <p:nvPr/>
        </p:nvSpPr>
        <p:spPr>
          <a:xfrm>
            <a:off x="2693509" y="4281664"/>
            <a:ext cx="1297857" cy="428458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/>
              <a:t>공왜도</a:t>
            </a:r>
            <a:r>
              <a:rPr lang="ko-KR" altLang="en-US" sz="1000" b="1" dirty="0"/>
              <a:t> 기록 시작</a:t>
            </a:r>
          </a:p>
        </p:txBody>
      </p:sp>
      <p:sp>
        <p:nvSpPr>
          <p:cNvPr id="46" name="사다리꼴 45">
            <a:extLst>
              <a:ext uri="{FF2B5EF4-FFF2-40B4-BE49-F238E27FC236}">
                <a16:creationId xmlns:a16="http://schemas.microsoft.com/office/drawing/2014/main" id="{614208C8-9002-42AD-69AB-AE3FBAFA9798}"/>
              </a:ext>
            </a:extLst>
          </p:cNvPr>
          <p:cNvSpPr/>
          <p:nvPr/>
        </p:nvSpPr>
        <p:spPr>
          <a:xfrm>
            <a:off x="360000" y="4704083"/>
            <a:ext cx="5476651" cy="388165"/>
          </a:xfrm>
          <a:custGeom>
            <a:avLst/>
            <a:gdLst>
              <a:gd name="connsiteX0" fmla="*/ 0 w 3349358"/>
              <a:gd name="connsiteY0" fmla="*/ 354958 h 354958"/>
              <a:gd name="connsiteX1" fmla="*/ 88740 w 3349358"/>
              <a:gd name="connsiteY1" fmla="*/ 0 h 354958"/>
              <a:gd name="connsiteX2" fmla="*/ 3260619 w 3349358"/>
              <a:gd name="connsiteY2" fmla="*/ 0 h 354958"/>
              <a:gd name="connsiteX3" fmla="*/ 3349358 w 3349358"/>
              <a:gd name="connsiteY3" fmla="*/ 354958 h 354958"/>
              <a:gd name="connsiteX4" fmla="*/ 0 w 3349358"/>
              <a:gd name="connsiteY4" fmla="*/ 354958 h 354958"/>
              <a:gd name="connsiteX0" fmla="*/ 0 w 4453170"/>
              <a:gd name="connsiteY0" fmla="*/ 354958 h 465992"/>
              <a:gd name="connsiteX1" fmla="*/ 88740 w 4453170"/>
              <a:gd name="connsiteY1" fmla="*/ 0 h 465992"/>
              <a:gd name="connsiteX2" fmla="*/ 3260619 w 4453170"/>
              <a:gd name="connsiteY2" fmla="*/ 0 h 465992"/>
              <a:gd name="connsiteX3" fmla="*/ 4453170 w 4453170"/>
              <a:gd name="connsiteY3" fmla="*/ 465992 h 465992"/>
              <a:gd name="connsiteX4" fmla="*/ 0 w 4453170"/>
              <a:gd name="connsiteY4" fmla="*/ 354958 h 465992"/>
              <a:gd name="connsiteX0" fmla="*/ 0 w 5060592"/>
              <a:gd name="connsiteY0" fmla="*/ 354958 h 387615"/>
              <a:gd name="connsiteX1" fmla="*/ 88740 w 5060592"/>
              <a:gd name="connsiteY1" fmla="*/ 0 h 387615"/>
              <a:gd name="connsiteX2" fmla="*/ 3260619 w 5060592"/>
              <a:gd name="connsiteY2" fmla="*/ 0 h 387615"/>
              <a:gd name="connsiteX3" fmla="*/ 5060592 w 5060592"/>
              <a:gd name="connsiteY3" fmla="*/ 387615 h 387615"/>
              <a:gd name="connsiteX4" fmla="*/ 0 w 5060592"/>
              <a:gd name="connsiteY4" fmla="*/ 354958 h 387615"/>
              <a:gd name="connsiteX0" fmla="*/ 0 w 5060592"/>
              <a:gd name="connsiteY0" fmla="*/ 361656 h 394313"/>
              <a:gd name="connsiteX1" fmla="*/ 394134 w 5060592"/>
              <a:gd name="connsiteY1" fmla="*/ 0 h 394313"/>
              <a:gd name="connsiteX2" fmla="*/ 3260619 w 5060592"/>
              <a:gd name="connsiteY2" fmla="*/ 6698 h 394313"/>
              <a:gd name="connsiteX3" fmla="*/ 5060592 w 5060592"/>
              <a:gd name="connsiteY3" fmla="*/ 394313 h 394313"/>
              <a:gd name="connsiteX4" fmla="*/ 0 w 5060592"/>
              <a:gd name="connsiteY4" fmla="*/ 361656 h 394313"/>
              <a:gd name="connsiteX0" fmla="*/ 0 w 5060592"/>
              <a:gd name="connsiteY0" fmla="*/ 368352 h 401009"/>
              <a:gd name="connsiteX1" fmla="*/ 394134 w 5060592"/>
              <a:gd name="connsiteY1" fmla="*/ 6696 h 401009"/>
              <a:gd name="connsiteX2" fmla="*/ 3358344 w 5060592"/>
              <a:gd name="connsiteY2" fmla="*/ 0 h 401009"/>
              <a:gd name="connsiteX3" fmla="*/ 5060592 w 5060592"/>
              <a:gd name="connsiteY3" fmla="*/ 401009 h 401009"/>
              <a:gd name="connsiteX4" fmla="*/ 0 w 5060592"/>
              <a:gd name="connsiteY4" fmla="*/ 368352 h 401009"/>
              <a:gd name="connsiteX0" fmla="*/ 0 w 5060592"/>
              <a:gd name="connsiteY0" fmla="*/ 368352 h 401009"/>
              <a:gd name="connsiteX1" fmla="*/ 504075 w 5060592"/>
              <a:gd name="connsiteY1" fmla="*/ 1588 h 401009"/>
              <a:gd name="connsiteX2" fmla="*/ 3358344 w 5060592"/>
              <a:gd name="connsiteY2" fmla="*/ 0 h 401009"/>
              <a:gd name="connsiteX3" fmla="*/ 5060592 w 5060592"/>
              <a:gd name="connsiteY3" fmla="*/ 401009 h 401009"/>
              <a:gd name="connsiteX4" fmla="*/ 0 w 5060592"/>
              <a:gd name="connsiteY4" fmla="*/ 368352 h 401009"/>
              <a:gd name="connsiteX0" fmla="*/ 0 w 5078915"/>
              <a:gd name="connsiteY0" fmla="*/ 414326 h 414326"/>
              <a:gd name="connsiteX1" fmla="*/ 522398 w 5078915"/>
              <a:gd name="connsiteY1" fmla="*/ 1588 h 414326"/>
              <a:gd name="connsiteX2" fmla="*/ 3376667 w 5078915"/>
              <a:gd name="connsiteY2" fmla="*/ 0 h 414326"/>
              <a:gd name="connsiteX3" fmla="*/ 5078915 w 5078915"/>
              <a:gd name="connsiteY3" fmla="*/ 401009 h 414326"/>
              <a:gd name="connsiteX4" fmla="*/ 0 w 5078915"/>
              <a:gd name="connsiteY4" fmla="*/ 414326 h 414326"/>
              <a:gd name="connsiteX0" fmla="*/ 0 w 5097238"/>
              <a:gd name="connsiteY0" fmla="*/ 414326 h 414326"/>
              <a:gd name="connsiteX1" fmla="*/ 540721 w 5097238"/>
              <a:gd name="connsiteY1" fmla="*/ 1588 h 414326"/>
              <a:gd name="connsiteX2" fmla="*/ 3394990 w 5097238"/>
              <a:gd name="connsiteY2" fmla="*/ 0 h 414326"/>
              <a:gd name="connsiteX3" fmla="*/ 5097238 w 5097238"/>
              <a:gd name="connsiteY3" fmla="*/ 401009 h 414326"/>
              <a:gd name="connsiteX4" fmla="*/ 0 w 5097238"/>
              <a:gd name="connsiteY4" fmla="*/ 414326 h 414326"/>
              <a:gd name="connsiteX0" fmla="*/ 0 w 5115561"/>
              <a:gd name="connsiteY0" fmla="*/ 414326 h 414326"/>
              <a:gd name="connsiteX1" fmla="*/ 559044 w 5115561"/>
              <a:gd name="connsiteY1" fmla="*/ 1588 h 414326"/>
              <a:gd name="connsiteX2" fmla="*/ 3413313 w 5115561"/>
              <a:gd name="connsiteY2" fmla="*/ 0 h 414326"/>
              <a:gd name="connsiteX3" fmla="*/ 5115561 w 5115561"/>
              <a:gd name="connsiteY3" fmla="*/ 401009 h 414326"/>
              <a:gd name="connsiteX4" fmla="*/ 0 w 5115561"/>
              <a:gd name="connsiteY4" fmla="*/ 414326 h 414326"/>
              <a:gd name="connsiteX0" fmla="*/ 0 w 5146100"/>
              <a:gd name="connsiteY0" fmla="*/ 409217 h 409217"/>
              <a:gd name="connsiteX1" fmla="*/ 589583 w 5146100"/>
              <a:gd name="connsiteY1" fmla="*/ 1588 h 409217"/>
              <a:gd name="connsiteX2" fmla="*/ 3443852 w 5146100"/>
              <a:gd name="connsiteY2" fmla="*/ 0 h 409217"/>
              <a:gd name="connsiteX3" fmla="*/ 5146100 w 5146100"/>
              <a:gd name="connsiteY3" fmla="*/ 401009 h 409217"/>
              <a:gd name="connsiteX4" fmla="*/ 0 w 5146100"/>
              <a:gd name="connsiteY4" fmla="*/ 409217 h 409217"/>
              <a:gd name="connsiteX0" fmla="*/ 0 w 5115561"/>
              <a:gd name="connsiteY0" fmla="*/ 419433 h 419433"/>
              <a:gd name="connsiteX1" fmla="*/ 559044 w 5115561"/>
              <a:gd name="connsiteY1" fmla="*/ 1588 h 419433"/>
              <a:gd name="connsiteX2" fmla="*/ 3413313 w 5115561"/>
              <a:gd name="connsiteY2" fmla="*/ 0 h 419433"/>
              <a:gd name="connsiteX3" fmla="*/ 5115561 w 5115561"/>
              <a:gd name="connsiteY3" fmla="*/ 401009 h 419433"/>
              <a:gd name="connsiteX4" fmla="*/ 0 w 5115561"/>
              <a:gd name="connsiteY4" fmla="*/ 419433 h 419433"/>
              <a:gd name="connsiteX0" fmla="*/ 0 w 5117046"/>
              <a:gd name="connsiteY0" fmla="*/ 410742 h 410742"/>
              <a:gd name="connsiteX1" fmla="*/ 560529 w 5117046"/>
              <a:gd name="connsiteY1" fmla="*/ 1588 h 410742"/>
              <a:gd name="connsiteX2" fmla="*/ 3414798 w 5117046"/>
              <a:gd name="connsiteY2" fmla="*/ 0 h 410742"/>
              <a:gd name="connsiteX3" fmla="*/ 5117046 w 5117046"/>
              <a:gd name="connsiteY3" fmla="*/ 401009 h 410742"/>
              <a:gd name="connsiteX4" fmla="*/ 0 w 5117046"/>
              <a:gd name="connsiteY4" fmla="*/ 410742 h 410742"/>
              <a:gd name="connsiteX0" fmla="*/ 0 w 5121500"/>
              <a:gd name="connsiteY0" fmla="*/ 409501 h 409501"/>
              <a:gd name="connsiteX1" fmla="*/ 564983 w 5121500"/>
              <a:gd name="connsiteY1" fmla="*/ 1588 h 409501"/>
              <a:gd name="connsiteX2" fmla="*/ 3419252 w 5121500"/>
              <a:gd name="connsiteY2" fmla="*/ 0 h 409501"/>
              <a:gd name="connsiteX3" fmla="*/ 5121500 w 5121500"/>
              <a:gd name="connsiteY3" fmla="*/ 401009 h 409501"/>
              <a:gd name="connsiteX4" fmla="*/ 0 w 5121500"/>
              <a:gd name="connsiteY4" fmla="*/ 409501 h 409501"/>
              <a:gd name="connsiteX0" fmla="*/ 0 w 5121500"/>
              <a:gd name="connsiteY0" fmla="*/ 409501 h 409501"/>
              <a:gd name="connsiteX1" fmla="*/ 560530 w 5121500"/>
              <a:gd name="connsiteY1" fmla="*/ 18892 h 409501"/>
              <a:gd name="connsiteX2" fmla="*/ 3419252 w 5121500"/>
              <a:gd name="connsiteY2" fmla="*/ 0 h 409501"/>
              <a:gd name="connsiteX3" fmla="*/ 5121500 w 5121500"/>
              <a:gd name="connsiteY3" fmla="*/ 401009 h 409501"/>
              <a:gd name="connsiteX4" fmla="*/ 0 w 5121500"/>
              <a:gd name="connsiteY4" fmla="*/ 409501 h 409501"/>
              <a:gd name="connsiteX0" fmla="*/ 0 w 5121500"/>
              <a:gd name="connsiteY0" fmla="*/ 409501 h 409501"/>
              <a:gd name="connsiteX1" fmla="*/ 556076 w 5121500"/>
              <a:gd name="connsiteY1" fmla="*/ 12712 h 409501"/>
              <a:gd name="connsiteX2" fmla="*/ 3419252 w 5121500"/>
              <a:gd name="connsiteY2" fmla="*/ 0 h 409501"/>
              <a:gd name="connsiteX3" fmla="*/ 5121500 w 5121500"/>
              <a:gd name="connsiteY3" fmla="*/ 401009 h 409501"/>
              <a:gd name="connsiteX4" fmla="*/ 0 w 5121500"/>
              <a:gd name="connsiteY4" fmla="*/ 409501 h 409501"/>
              <a:gd name="connsiteX0" fmla="*/ 0 w 5121500"/>
              <a:gd name="connsiteY0" fmla="*/ 409501 h 409501"/>
              <a:gd name="connsiteX1" fmla="*/ 569436 w 5121500"/>
              <a:gd name="connsiteY1" fmla="*/ 6532 h 409501"/>
              <a:gd name="connsiteX2" fmla="*/ 3419252 w 5121500"/>
              <a:gd name="connsiteY2" fmla="*/ 0 h 409501"/>
              <a:gd name="connsiteX3" fmla="*/ 5121500 w 5121500"/>
              <a:gd name="connsiteY3" fmla="*/ 401009 h 409501"/>
              <a:gd name="connsiteX4" fmla="*/ 0 w 5121500"/>
              <a:gd name="connsiteY4" fmla="*/ 409501 h 409501"/>
              <a:gd name="connsiteX0" fmla="*/ 0 w 5121500"/>
              <a:gd name="connsiteY0" fmla="*/ 402969 h 402969"/>
              <a:gd name="connsiteX1" fmla="*/ 569436 w 5121500"/>
              <a:gd name="connsiteY1" fmla="*/ 0 h 402969"/>
              <a:gd name="connsiteX2" fmla="*/ 3391046 w 5121500"/>
              <a:gd name="connsiteY2" fmla="*/ 1709 h 402969"/>
              <a:gd name="connsiteX3" fmla="*/ 5121500 w 5121500"/>
              <a:gd name="connsiteY3" fmla="*/ 394477 h 402969"/>
              <a:gd name="connsiteX4" fmla="*/ 0 w 5121500"/>
              <a:gd name="connsiteY4" fmla="*/ 402969 h 402969"/>
              <a:gd name="connsiteX0" fmla="*/ 0 w 5121500"/>
              <a:gd name="connsiteY0" fmla="*/ 402969 h 402969"/>
              <a:gd name="connsiteX1" fmla="*/ 569436 w 5121500"/>
              <a:gd name="connsiteY1" fmla="*/ 0 h 402969"/>
              <a:gd name="connsiteX2" fmla="*/ 3370263 w 5121500"/>
              <a:gd name="connsiteY2" fmla="*/ 5005 h 402969"/>
              <a:gd name="connsiteX3" fmla="*/ 5121500 w 5121500"/>
              <a:gd name="connsiteY3" fmla="*/ 394477 h 402969"/>
              <a:gd name="connsiteX4" fmla="*/ 0 w 5121500"/>
              <a:gd name="connsiteY4" fmla="*/ 402969 h 402969"/>
              <a:gd name="connsiteX0" fmla="*/ 0 w 5121500"/>
              <a:gd name="connsiteY0" fmla="*/ 402969 h 402969"/>
              <a:gd name="connsiteX1" fmla="*/ 569436 w 5121500"/>
              <a:gd name="connsiteY1" fmla="*/ 0 h 402969"/>
              <a:gd name="connsiteX2" fmla="*/ 3388077 w 5121500"/>
              <a:gd name="connsiteY2" fmla="*/ 5005 h 402969"/>
              <a:gd name="connsiteX3" fmla="*/ 5121500 w 5121500"/>
              <a:gd name="connsiteY3" fmla="*/ 394477 h 402969"/>
              <a:gd name="connsiteX4" fmla="*/ 0 w 5121500"/>
              <a:gd name="connsiteY4" fmla="*/ 402969 h 40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1500" h="402969">
                <a:moveTo>
                  <a:pt x="0" y="402969"/>
                </a:moveTo>
                <a:lnTo>
                  <a:pt x="569436" y="0"/>
                </a:lnTo>
                <a:lnTo>
                  <a:pt x="3388077" y="5005"/>
                </a:lnTo>
                <a:lnTo>
                  <a:pt x="5121500" y="394477"/>
                </a:lnTo>
                <a:lnTo>
                  <a:pt x="0" y="402969"/>
                </a:lnTo>
                <a:close/>
              </a:path>
            </a:pathLst>
          </a:custGeom>
          <a:gradFill>
            <a:gsLst>
              <a:gs pos="100000">
                <a:schemeClr val="bg2">
                  <a:lumMod val="50000"/>
                </a:schemeClr>
              </a:gs>
              <a:gs pos="0">
                <a:srgbClr val="D1D1D1">
                  <a:lumMod val="74000"/>
                  <a:lumOff val="2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텍스트, 폰트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6D402B-0AFA-48FD-58EA-DD17B21F58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4" y="6455949"/>
            <a:ext cx="1209904" cy="40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83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3E77F-D8BD-D2D4-D580-93A123593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22FDFDB-FCFA-4DD2-EEE5-FA49E6CCD367}"/>
              </a:ext>
            </a:extLst>
          </p:cNvPr>
          <p:cNvSpPr txBox="1"/>
          <p:nvPr/>
        </p:nvSpPr>
        <p:spPr>
          <a:xfrm rot="10800000" flipV="1">
            <a:off x="360000" y="180000"/>
            <a:ext cx="5149388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200" b="1" dirty="0">
                <a:solidFill>
                  <a:schemeClr val="tx2">
                    <a:lumMod val="75000"/>
                    <a:lumOff val="25000"/>
                    <a:alpha val="50000"/>
                  </a:schemeClr>
                </a:solidFill>
              </a:rPr>
              <a:t>03. </a:t>
            </a:r>
            <a:r>
              <a:rPr lang="en-US" altLang="ko-KR" sz="1200" b="1" dirty="0">
                <a:solidFill>
                  <a:srgbClr val="A7C0D7"/>
                </a:solidFill>
              </a:rPr>
              <a:t>Performance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D85641-F90D-6605-3CA4-60719FEB0EA9}"/>
              </a:ext>
            </a:extLst>
          </p:cNvPr>
          <p:cNvSpPr txBox="1"/>
          <p:nvPr/>
        </p:nvSpPr>
        <p:spPr>
          <a:xfrm>
            <a:off x="540001" y="630000"/>
            <a:ext cx="7140274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Performance : Basic Portfolio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BD1D299-B5A7-2E20-5616-8E572E043913}"/>
              </a:ext>
            </a:extLst>
          </p:cNvPr>
          <p:cNvSpPr/>
          <p:nvPr/>
        </p:nvSpPr>
        <p:spPr>
          <a:xfrm>
            <a:off x="360000" y="720000"/>
            <a:ext cx="101948" cy="251534"/>
          </a:xfrm>
          <a:prstGeom prst="rect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AB922DF-0AF6-7B7D-C786-EB2DE128A1EB}"/>
              </a:ext>
            </a:extLst>
          </p:cNvPr>
          <p:cNvGrpSpPr/>
          <p:nvPr/>
        </p:nvGrpSpPr>
        <p:grpSpPr>
          <a:xfrm>
            <a:off x="354601" y="4767166"/>
            <a:ext cx="2625071" cy="1497396"/>
            <a:chOff x="6162529" y="1483938"/>
            <a:chExt cx="2625071" cy="14973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사각형: 잘린 한쪽 모서리 13">
                  <a:extLst>
                    <a:ext uri="{FF2B5EF4-FFF2-40B4-BE49-F238E27FC236}">
                      <a16:creationId xmlns:a16="http://schemas.microsoft.com/office/drawing/2014/main" id="{A9B18C37-8AD8-2443-C68F-8ABD41FAA9AF}"/>
                    </a:ext>
                  </a:extLst>
                </p:cNvPr>
                <p:cNvSpPr/>
                <p:nvPr/>
              </p:nvSpPr>
              <p:spPr>
                <a:xfrm>
                  <a:off x="6267600" y="1541334"/>
                  <a:ext cx="2520000" cy="1440000"/>
                </a:xfrm>
                <a:prstGeom prst="snip1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:endParaRPr lang="en-US" altLang="ko-KR" sz="12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altLang="ko-KR" sz="2000" b="1" dirty="0">
                      <a:solidFill>
                        <a:srgbClr val="156082"/>
                      </a:solidFill>
                    </a:rPr>
                    <a:t>   21.49%</a:t>
                  </a:r>
                </a:p>
                <a:p>
                  <a:pPr algn="ctr"/>
                  <a:r>
                    <a:rPr lang="en-US" altLang="ko-KR" sz="1200" b="0" dirty="0">
                      <a:solidFill>
                        <a:schemeClr val="tx1"/>
                      </a:solidFill>
                    </a:rPr>
                    <a:t>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최</m:t>
                          </m:r>
                          <m:r>
                            <a:rPr lang="ko-KR" altLang="en-US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종</m:t>
                          </m:r>
                          <m: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자</m:t>
                          </m:r>
                          <m:r>
                            <a:rPr lang="ko-KR" altLang="en-US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산</m:t>
                          </m:r>
                        </m:num>
                        <m:den>
                          <m:r>
                            <a:rPr lang="ko-KR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처</m:t>
                          </m:r>
                          <m:r>
                            <a:rPr lang="ko-KR" altLang="en-US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음</m:t>
                          </m:r>
                          <m: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자</m:t>
                          </m:r>
                          <m:r>
                            <a:rPr lang="ko-KR" altLang="en-US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산</m:t>
                          </m:r>
                        </m:den>
                      </m:f>
                      <m:r>
                        <a:rPr lang="en-US" altLang="ko-K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ko-KR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투</m:t>
                              </m:r>
                              <m:r>
                                <a:rPr lang="ko-KR" altLang="en-US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자</m:t>
                              </m:r>
                              <m:r>
                                <a:rPr lang="ko-KR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기</m:t>
                              </m:r>
                              <m:r>
                                <a:rPr lang="ko-KR" altLang="en-US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간</m:t>
                              </m:r>
                              <m:d>
                                <m:dPr>
                                  <m:ctrlPr>
                                    <a:rPr lang="en-US" altLang="ko-KR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ko-KR" alt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년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a14:m>
                  <a:endParaRPr lang="en-US" altLang="ko-KR" sz="1200" b="0" dirty="0">
                    <a:solidFill>
                      <a:schemeClr val="tx1"/>
                    </a:solidFill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1200" dirty="0">
                      <a:solidFill>
                        <a:schemeClr val="tx1"/>
                      </a:solidFill>
                    </a:rPr>
                    <a:t>:</a:t>
                  </a:r>
                  <a:r>
                    <a:rPr lang="ko-KR" altLang="en-US" sz="1200" dirty="0">
                      <a:solidFill>
                        <a:schemeClr val="tx1"/>
                      </a:solidFill>
                    </a:rPr>
                    <a:t> 연평균 수익률</a:t>
                  </a:r>
                </a:p>
              </p:txBody>
            </p:sp>
          </mc:Choice>
          <mc:Fallback xmlns="">
            <p:sp>
              <p:nvSpPr>
                <p:cNvPr id="14" name="사각형: 잘린 한쪽 모서리 13">
                  <a:extLst>
                    <a:ext uri="{FF2B5EF4-FFF2-40B4-BE49-F238E27FC236}">
                      <a16:creationId xmlns:a16="http://schemas.microsoft.com/office/drawing/2014/main" id="{A9B18C37-8AD8-2443-C68F-8ABD41FAA9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7600" y="1541334"/>
                  <a:ext cx="2520000" cy="1440000"/>
                </a:xfrm>
                <a:prstGeom prst="snip1Rect">
                  <a:avLst/>
                </a:prstGeom>
                <a:blipFill>
                  <a:blip r:embed="rId4"/>
                  <a:stretch>
                    <a:fillRect b="-208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63D41ACE-23BF-82B1-32F9-DFAA33C334EF}"/>
                </a:ext>
              </a:extLst>
            </p:cNvPr>
            <p:cNvSpPr/>
            <p:nvPr/>
          </p:nvSpPr>
          <p:spPr>
            <a:xfrm>
              <a:off x="6162529" y="1483938"/>
              <a:ext cx="1519200" cy="34128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>
                  <a:solidFill>
                    <a:schemeClr val="bg1"/>
                  </a:solidFill>
                </a:rPr>
                <a:t>CAGR</a:t>
              </a:r>
              <a:endParaRPr lang="ko-KR" altLang="en-US" sz="13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50F51F2-2271-0E5B-E1F2-FFF35485C3A2}"/>
              </a:ext>
            </a:extLst>
          </p:cNvPr>
          <p:cNvGrpSpPr/>
          <p:nvPr/>
        </p:nvGrpSpPr>
        <p:grpSpPr>
          <a:xfrm>
            <a:off x="3303520" y="4767166"/>
            <a:ext cx="2634907" cy="1497396"/>
            <a:chOff x="9136708" y="1576127"/>
            <a:chExt cx="2634907" cy="14973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사각형: 잘린 한쪽 모서리 27">
                  <a:extLst>
                    <a:ext uri="{FF2B5EF4-FFF2-40B4-BE49-F238E27FC236}">
                      <a16:creationId xmlns:a16="http://schemas.microsoft.com/office/drawing/2014/main" id="{D5A92E32-0F5E-3379-3457-49B5703E8419}"/>
                    </a:ext>
                  </a:extLst>
                </p:cNvPr>
                <p:cNvSpPr/>
                <p:nvPr/>
              </p:nvSpPr>
              <p:spPr>
                <a:xfrm>
                  <a:off x="9251615" y="1633523"/>
                  <a:ext cx="2520000" cy="1440000"/>
                </a:xfrm>
                <a:prstGeom prst="snip1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b="1" dirty="0">
                      <a:solidFill>
                        <a:srgbClr val="156082"/>
                      </a:solidFill>
                    </a:rPr>
                    <a:t>  </a:t>
                  </a:r>
                </a:p>
                <a:p>
                  <a:pPr algn="ctr"/>
                  <a:r>
                    <a:rPr lang="en-US" altLang="ko-KR" sz="2000" b="1" dirty="0">
                      <a:solidFill>
                        <a:srgbClr val="156082"/>
                      </a:solidFill>
                    </a:rPr>
                    <a:t>0.9042</a:t>
                  </a:r>
                </a:p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altLang="ko-KR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altLang="ko-KR" sz="1200" b="0" dirty="0">
                    <a:solidFill>
                      <a:schemeClr val="tx1"/>
                    </a:solidFill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1200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ko-KR" sz="1200" dirty="0">
                      <a:solidFill>
                        <a:schemeClr val="tx1"/>
                      </a:solidFill>
                    </a:rPr>
                    <a:t>: </a:t>
                  </a:r>
                  <a:r>
                    <a:rPr lang="ko-KR" altLang="en-US" sz="1200" dirty="0">
                      <a:solidFill>
                        <a:schemeClr val="tx1"/>
                      </a:solidFill>
                    </a:rPr>
                    <a:t>위험대비 수익률</a:t>
                  </a:r>
                </a:p>
              </p:txBody>
            </p:sp>
          </mc:Choice>
          <mc:Fallback xmlns="">
            <p:sp>
              <p:nvSpPr>
                <p:cNvPr id="28" name="사각형: 잘린 한쪽 모서리 27">
                  <a:extLst>
                    <a:ext uri="{FF2B5EF4-FFF2-40B4-BE49-F238E27FC236}">
                      <a16:creationId xmlns:a16="http://schemas.microsoft.com/office/drawing/2014/main" id="{D5A92E32-0F5E-3379-3457-49B5703E84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51615" y="1633523"/>
                  <a:ext cx="2520000" cy="1440000"/>
                </a:xfrm>
                <a:prstGeom prst="snip1Rect">
                  <a:avLst/>
                </a:prstGeom>
                <a:blipFill>
                  <a:blip r:embed="rId5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924D1447-A21D-C1B4-241E-B8845B22F340}"/>
                </a:ext>
              </a:extLst>
            </p:cNvPr>
            <p:cNvSpPr/>
            <p:nvPr/>
          </p:nvSpPr>
          <p:spPr>
            <a:xfrm>
              <a:off x="9136708" y="1576127"/>
              <a:ext cx="1519200" cy="34128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>
                  <a:solidFill>
                    <a:schemeClr val="bg1"/>
                  </a:solidFill>
                </a:rPr>
                <a:t>Sharpe Ratio</a:t>
              </a:r>
              <a:endParaRPr lang="ko-KR" altLang="en-US" sz="13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3842046-B0A7-16DE-A499-84ADA671E1F5}"/>
              </a:ext>
            </a:extLst>
          </p:cNvPr>
          <p:cNvGrpSpPr/>
          <p:nvPr/>
        </p:nvGrpSpPr>
        <p:grpSpPr>
          <a:xfrm>
            <a:off x="6262275" y="4767165"/>
            <a:ext cx="2620124" cy="1496834"/>
            <a:chOff x="6571106" y="5086238"/>
            <a:chExt cx="2620124" cy="14968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사각형: 잘린 한쪽 모서리 30">
                  <a:extLst>
                    <a:ext uri="{FF2B5EF4-FFF2-40B4-BE49-F238E27FC236}">
                      <a16:creationId xmlns:a16="http://schemas.microsoft.com/office/drawing/2014/main" id="{7CA75403-1C03-ADF7-8C5B-A12DF184B68A}"/>
                    </a:ext>
                  </a:extLst>
                </p:cNvPr>
                <p:cNvSpPr/>
                <p:nvPr/>
              </p:nvSpPr>
              <p:spPr>
                <a:xfrm>
                  <a:off x="6671230" y="5143072"/>
                  <a:ext cx="2520000" cy="1440000"/>
                </a:xfrm>
                <a:prstGeom prst="snip1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2000" b="1" dirty="0">
                      <a:solidFill>
                        <a:srgbClr val="156082"/>
                      </a:solidFill>
                    </a:rPr>
                    <a:t>0.2652</a:t>
                  </a:r>
                  <a:endParaRPr lang="en-US" altLang="ko-KR" sz="2000" dirty="0">
                    <a:solidFill>
                      <a:srgbClr val="156082"/>
                    </a:solidFill>
                  </a:endParaRPr>
                </a:p>
                <a:p>
                  <a:pPr algn="ctr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ko-K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𝑚𝑜𝑛𝑡h𝑙𝑦</m:t>
                          </m:r>
                        </m:sub>
                      </m:sSub>
                      <m:r>
                        <a:rPr lang="en-US" altLang="ko-K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e>
                      </m:rad>
                    </m:oMath>
                  </a14:m>
                  <a:r>
                    <a:rPr lang="ko-KR" altLang="en-US" sz="1200" dirty="0">
                      <a:solidFill>
                        <a:schemeClr val="tx1"/>
                      </a:solidFill>
                    </a:rPr>
                    <a:t> </a:t>
                  </a:r>
                </a:p>
                <a:p>
                  <a:pPr algn="ctr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𝑚𝑜𝑛𝑡h𝑙𝑦</m:t>
                          </m:r>
                        </m:sub>
                      </m:sSub>
                      <m:r>
                        <a:rPr lang="en-US" altLang="ko-K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ko-KR" alt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월</m:t>
                      </m:r>
                    </m:oMath>
                  </a14:m>
                  <a:r>
                    <a:rPr lang="ko-KR" altLang="en-US" sz="1200" dirty="0">
                      <a:solidFill>
                        <a:schemeClr val="tx1"/>
                      </a:solidFill>
                    </a:rPr>
                    <a:t>간수익률 표준편차</a:t>
                  </a:r>
                </a:p>
              </p:txBody>
            </p:sp>
          </mc:Choice>
          <mc:Fallback xmlns="">
            <p:sp>
              <p:nvSpPr>
                <p:cNvPr id="31" name="사각형: 잘린 한쪽 모서리 30">
                  <a:extLst>
                    <a:ext uri="{FF2B5EF4-FFF2-40B4-BE49-F238E27FC236}">
                      <a16:creationId xmlns:a16="http://schemas.microsoft.com/office/drawing/2014/main" id="{7CA75403-1C03-ADF7-8C5B-A12DF184B68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1230" y="5143072"/>
                  <a:ext cx="2520000" cy="1440000"/>
                </a:xfrm>
                <a:prstGeom prst="snip1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EB964DED-46E5-FEC9-F729-B57CF4AB8A64}"/>
                </a:ext>
              </a:extLst>
            </p:cNvPr>
            <p:cNvSpPr/>
            <p:nvPr/>
          </p:nvSpPr>
          <p:spPr>
            <a:xfrm>
              <a:off x="6571106" y="5086238"/>
              <a:ext cx="1519200" cy="34128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>
                  <a:solidFill>
                    <a:schemeClr val="bg1"/>
                  </a:solidFill>
                </a:rPr>
                <a:t>Volatility</a:t>
              </a:r>
              <a:endParaRPr lang="ko-KR" altLang="en-US" sz="13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2" name="그림 1" descr="텍스트, 폰트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8AFCE0-CBA5-DF75-961D-17826C5E32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4" y="6455949"/>
            <a:ext cx="1209904" cy="403301"/>
          </a:xfrm>
          <a:prstGeom prst="rect">
            <a:avLst/>
          </a:prstGeom>
        </p:spPr>
      </p:pic>
      <p:grpSp>
        <p:nvGrpSpPr>
          <p:cNvPr id="42" name="그룹 41">
            <a:extLst>
              <a:ext uri="{FF2B5EF4-FFF2-40B4-BE49-F238E27FC236}">
                <a16:creationId xmlns:a16="http://schemas.microsoft.com/office/drawing/2014/main" id="{2EB9C080-AA2A-23CC-3ABD-5C029F65729F}"/>
              </a:ext>
            </a:extLst>
          </p:cNvPr>
          <p:cNvGrpSpPr/>
          <p:nvPr/>
        </p:nvGrpSpPr>
        <p:grpSpPr>
          <a:xfrm>
            <a:off x="360000" y="1171990"/>
            <a:ext cx="5472000" cy="311948"/>
            <a:chOff x="360000" y="1171989"/>
            <a:chExt cx="3565389" cy="311949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99900926-24B4-0D4D-AF6B-07A853D53626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rgbClr val="215F9A"/>
                  </a:solidFill>
                </a:rPr>
                <a:t>Cumulative Return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63F41FC5-93D5-D6E8-BAD1-1024FCFFFA10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8CE8731-3CB3-FC03-1ECB-3C74F631D41D}"/>
              </a:ext>
            </a:extLst>
          </p:cNvPr>
          <p:cNvGrpSpPr/>
          <p:nvPr/>
        </p:nvGrpSpPr>
        <p:grpSpPr>
          <a:xfrm>
            <a:off x="6360002" y="1173600"/>
            <a:ext cx="5472000" cy="311948"/>
            <a:chOff x="360000" y="1171989"/>
            <a:chExt cx="3565389" cy="311949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CB3FF26D-A15C-4C5C-CA7C-04B32580EA4D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rgbClr val="215F9A"/>
                  </a:solidFill>
                </a:rPr>
                <a:t>Log Cumulative Return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159817E6-D9D7-4E15-1C92-857582087120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9D85A828-ECEB-5A9F-B21D-CC7EC48C92E6}"/>
              </a:ext>
            </a:extLst>
          </p:cNvPr>
          <p:cNvGrpSpPr/>
          <p:nvPr/>
        </p:nvGrpSpPr>
        <p:grpSpPr>
          <a:xfrm>
            <a:off x="9206300" y="4767165"/>
            <a:ext cx="2620124" cy="1496834"/>
            <a:chOff x="6571106" y="5086238"/>
            <a:chExt cx="2620124" cy="1496834"/>
          </a:xfrm>
        </p:grpSpPr>
        <p:sp>
          <p:nvSpPr>
            <p:cNvPr id="5" name="사각형: 잘린 한쪽 모서리 4">
              <a:extLst>
                <a:ext uri="{FF2B5EF4-FFF2-40B4-BE49-F238E27FC236}">
                  <a16:creationId xmlns:a16="http://schemas.microsoft.com/office/drawing/2014/main" id="{895DD091-B280-5B6C-14FC-31B0BEA5EBB5}"/>
                </a:ext>
              </a:extLst>
            </p:cNvPr>
            <p:cNvSpPr/>
            <p:nvPr/>
          </p:nvSpPr>
          <p:spPr>
            <a:xfrm>
              <a:off x="6671230" y="5143072"/>
              <a:ext cx="2520000" cy="1440000"/>
            </a:xfrm>
            <a:prstGeom prst="snip1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2000" b="1" dirty="0">
                  <a:solidFill>
                    <a:srgbClr val="156082"/>
                  </a:solidFill>
                </a:rPr>
                <a:t>-21.24%</a:t>
              </a:r>
              <a:endParaRPr lang="en-US" altLang="ko-KR" sz="2000" dirty="0">
                <a:solidFill>
                  <a:srgbClr val="156082"/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/>
                  </a:solidFill>
                </a:rPr>
                <a:t>: </a:t>
              </a:r>
              <a:r>
                <a:rPr lang="ko-KR" altLang="en-US" sz="1200" dirty="0">
                  <a:solidFill>
                    <a:schemeClr val="tx1"/>
                  </a:solidFill>
                </a:rPr>
                <a:t>월간 최저 수익률</a:t>
              </a: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D71E723C-E2AF-315D-D441-D282F8DECBE7}"/>
                </a:ext>
              </a:extLst>
            </p:cNvPr>
            <p:cNvSpPr/>
            <p:nvPr/>
          </p:nvSpPr>
          <p:spPr>
            <a:xfrm>
              <a:off x="6571106" y="5086238"/>
              <a:ext cx="1519200" cy="34128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>
                  <a:solidFill>
                    <a:schemeClr val="bg1"/>
                  </a:solidFill>
                </a:rPr>
                <a:t>MDD</a:t>
              </a:r>
              <a:endParaRPr lang="ko-KR" altLang="en-US" sz="13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12" name="그림 11" descr="그래프, 라인, 텍스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091405-E3E4-48BD-7A3D-5B49E76415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1592262"/>
            <a:ext cx="5472000" cy="2914841"/>
          </a:xfrm>
          <a:prstGeom prst="rect">
            <a:avLst/>
          </a:prstGeom>
        </p:spPr>
      </p:pic>
      <p:pic>
        <p:nvPicPr>
          <p:cNvPr id="16" name="그림 15" descr="그래프, 라인, 텍스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3D24A4-2ED1-B9DB-ACFF-8FBCF2B841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002" y="1592261"/>
            <a:ext cx="5472000" cy="291484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9F52C1D-6CDE-F373-A84A-C06FE63A462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72" y="1800000"/>
            <a:ext cx="720000" cy="40941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BA94E11-4D3F-5D5B-AD47-7074B92F9B9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000" y="1800000"/>
            <a:ext cx="720000" cy="40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208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C1C1C-7536-572B-6FFC-67DB32951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96AE73D2-4AFB-E600-F45A-3CE556712BB3}"/>
              </a:ext>
            </a:extLst>
          </p:cNvPr>
          <p:cNvSpPr txBox="1"/>
          <p:nvPr/>
        </p:nvSpPr>
        <p:spPr>
          <a:xfrm rot="10800000" flipV="1">
            <a:off x="360000" y="180000"/>
            <a:ext cx="5149388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200" b="1" dirty="0">
                <a:solidFill>
                  <a:schemeClr val="tx2">
                    <a:lumMod val="75000"/>
                    <a:lumOff val="25000"/>
                    <a:alpha val="50000"/>
                  </a:schemeClr>
                </a:solidFill>
              </a:rPr>
              <a:t>03. </a:t>
            </a:r>
            <a:r>
              <a:rPr lang="en-US" altLang="ko-KR" sz="1200" b="1" dirty="0">
                <a:solidFill>
                  <a:srgbClr val="A7C0D7"/>
                </a:solidFill>
              </a:rPr>
              <a:t>Performance Analysis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1477D4-D84E-9A6E-3E09-0E1B4175401F}"/>
              </a:ext>
            </a:extLst>
          </p:cNvPr>
          <p:cNvSpPr txBox="1"/>
          <p:nvPr/>
        </p:nvSpPr>
        <p:spPr>
          <a:xfrm>
            <a:off x="540000" y="630000"/>
            <a:ext cx="8837680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Performance : Basic Portfolio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1B08F30-06B8-444F-8497-D773924EE31C}"/>
              </a:ext>
            </a:extLst>
          </p:cNvPr>
          <p:cNvSpPr/>
          <p:nvPr/>
        </p:nvSpPr>
        <p:spPr>
          <a:xfrm>
            <a:off x="360000" y="720000"/>
            <a:ext cx="101948" cy="251534"/>
          </a:xfrm>
          <a:prstGeom prst="rect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2221733-A5F3-8B0B-094D-C69B4D692ABE}"/>
              </a:ext>
            </a:extLst>
          </p:cNvPr>
          <p:cNvSpPr/>
          <p:nvPr/>
        </p:nvSpPr>
        <p:spPr>
          <a:xfrm>
            <a:off x="360000" y="720000"/>
            <a:ext cx="101948" cy="251534"/>
          </a:xfrm>
          <a:prstGeom prst="rect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E21BD457-30FD-C9C1-85B6-3D2C013CC7C5}"/>
              </a:ext>
            </a:extLst>
          </p:cNvPr>
          <p:cNvGrpSpPr/>
          <p:nvPr/>
        </p:nvGrpSpPr>
        <p:grpSpPr>
          <a:xfrm>
            <a:off x="360000" y="1171990"/>
            <a:ext cx="5472000" cy="311948"/>
            <a:chOff x="360000" y="1171989"/>
            <a:chExt cx="3559479" cy="311949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0CEEF64B-EF29-E38B-807B-28631530EF3D}"/>
                </a:ext>
              </a:extLst>
            </p:cNvPr>
            <p:cNvSpPr/>
            <p:nvPr/>
          </p:nvSpPr>
          <p:spPr>
            <a:xfrm>
              <a:off x="360000" y="1171989"/>
              <a:ext cx="3497841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rgbClr val="215F9A"/>
                  </a:solidFill>
                </a:rPr>
                <a:t>Quantile Verification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2C71F21-E320-D717-2037-2960C7497251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5947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55C2C37-2D09-8719-04BD-55284674C09E}"/>
              </a:ext>
            </a:extLst>
          </p:cNvPr>
          <p:cNvSpPr txBox="1"/>
          <p:nvPr/>
        </p:nvSpPr>
        <p:spPr>
          <a:xfrm>
            <a:off x="360000" y="4360265"/>
            <a:ext cx="5472000" cy="1165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i="1" dirty="0" err="1"/>
              <a:t>공왜도</a:t>
            </a:r>
            <a:r>
              <a:rPr lang="ko-KR" altLang="en-US" sz="1200" b="1" i="1" dirty="0"/>
              <a:t> 값을 </a:t>
            </a:r>
            <a:r>
              <a:rPr lang="en-US" altLang="ko-KR" sz="1200" b="1" i="1" dirty="0"/>
              <a:t>5</a:t>
            </a:r>
            <a:r>
              <a:rPr lang="ko-KR" altLang="en-US" sz="1200" b="1" i="1" dirty="0"/>
              <a:t>분위로 나누어 각 분위별 포트폴리오를 구성</a:t>
            </a:r>
            <a:endParaRPr lang="en-US" altLang="ko-KR" sz="1200" b="1" i="1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P1</a:t>
            </a:r>
            <a:r>
              <a:rPr lang="en-US" altLang="ko-KR" sz="1200" dirty="0"/>
              <a:t> : </a:t>
            </a:r>
            <a:r>
              <a:rPr lang="ko-KR" altLang="en-US" sz="1200" dirty="0" err="1"/>
              <a:t>공왜도</a:t>
            </a:r>
            <a:r>
              <a:rPr lang="ko-KR" altLang="en-US" sz="1200" dirty="0"/>
              <a:t> 값 하위 </a:t>
            </a:r>
            <a:r>
              <a:rPr lang="en-US" altLang="ko-KR" sz="1200" dirty="0"/>
              <a:t>20% </a:t>
            </a:r>
            <a:r>
              <a:rPr lang="ko-KR" altLang="en-US" sz="1200" dirty="0"/>
              <a:t>종목으로 구성된 포트폴리오</a:t>
            </a: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/>
              <a:t>P5</a:t>
            </a:r>
            <a:r>
              <a:rPr lang="en-US" altLang="ko-KR" sz="1200" dirty="0"/>
              <a:t> : </a:t>
            </a:r>
            <a:r>
              <a:rPr lang="ko-KR" altLang="en-US" sz="1200" dirty="0" err="1"/>
              <a:t>공왜도</a:t>
            </a:r>
            <a:r>
              <a:rPr lang="ko-KR" altLang="en-US" sz="1200" dirty="0"/>
              <a:t> 값 상위 </a:t>
            </a:r>
            <a:r>
              <a:rPr lang="en-US" altLang="ko-KR" sz="1200" dirty="0"/>
              <a:t>20% </a:t>
            </a:r>
            <a:r>
              <a:rPr lang="ko-KR" altLang="en-US" sz="1200" dirty="0"/>
              <a:t>종목으로 구성된 포트폴리오</a:t>
            </a: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ym typeface="Wingdings" panose="05000000000000000000" pitchFamily="2" charset="2"/>
              </a:rPr>
              <a:t> </a:t>
            </a:r>
            <a:r>
              <a:rPr lang="ko-KR" altLang="en-US" sz="1200" dirty="0">
                <a:sym typeface="Wingdings" panose="05000000000000000000" pitchFamily="2" charset="2"/>
              </a:rPr>
              <a:t>포트폴리오의 </a:t>
            </a:r>
            <a:r>
              <a:rPr lang="ko-KR" altLang="en-US" sz="1200" dirty="0" err="1">
                <a:sym typeface="Wingdings" panose="05000000000000000000" pitchFamily="2" charset="2"/>
              </a:rPr>
              <a:t>공왜도</a:t>
            </a:r>
            <a:r>
              <a:rPr lang="ko-KR" altLang="en-US" sz="1200" dirty="0">
                <a:sym typeface="Wingdings" panose="05000000000000000000" pitchFamily="2" charset="2"/>
              </a:rPr>
              <a:t> 값이 낮아질수록 높은 수익률을 기록</a:t>
            </a:r>
            <a:endParaRPr lang="ko-KR" altLang="en-US" sz="1200" dirty="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59FC830-1ED1-00C3-53E3-1F322EF5B038}"/>
              </a:ext>
            </a:extLst>
          </p:cNvPr>
          <p:cNvSpPr/>
          <p:nvPr/>
        </p:nvSpPr>
        <p:spPr>
          <a:xfrm>
            <a:off x="359181" y="5771519"/>
            <a:ext cx="5472000" cy="533090"/>
          </a:xfrm>
          <a:prstGeom prst="roundRect">
            <a:avLst/>
          </a:prstGeom>
          <a:solidFill>
            <a:srgbClr val="DFE7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P1 -&gt; Long Position, P5 -&gt; Short Position</a:t>
            </a:r>
            <a:r>
              <a:rPr lang="ko-KR" altLang="en-US" sz="1200" dirty="0">
                <a:solidFill>
                  <a:schemeClr val="tx1"/>
                </a:solidFill>
              </a:rPr>
              <a:t>으로 포트폴리오를 구성하여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시장 영향을 최소화 하는 포트폴리오 구성</a:t>
            </a:r>
          </a:p>
        </p:txBody>
      </p:sp>
      <p:pic>
        <p:nvPicPr>
          <p:cNvPr id="2" name="그림 1" descr="텍스트, 폰트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9A5B5E-180B-5D96-7ACE-6EA44C881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4" y="6455949"/>
            <a:ext cx="1209904" cy="403301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382FCAB4-A76A-A137-3FAF-19830E68BFD4}"/>
              </a:ext>
            </a:extLst>
          </p:cNvPr>
          <p:cNvGrpSpPr/>
          <p:nvPr/>
        </p:nvGrpSpPr>
        <p:grpSpPr>
          <a:xfrm>
            <a:off x="360000" y="1627200"/>
            <a:ext cx="5472000" cy="2700000"/>
            <a:chOff x="334963" y="1620000"/>
            <a:chExt cx="5520319" cy="2643222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230EF718-4839-036F-91D8-7348CDB6FF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342" t="15938" r="10034" b="165"/>
            <a:stretch>
              <a:fillRect/>
            </a:stretch>
          </p:blipFill>
          <p:spPr>
            <a:xfrm>
              <a:off x="3196411" y="1909634"/>
              <a:ext cx="2658871" cy="2346534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BE376DC1-4092-6056-C9FE-D041FC10E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209" t="15169" r="56030" b="165"/>
            <a:stretch>
              <a:fillRect/>
            </a:stretch>
          </p:blipFill>
          <p:spPr>
            <a:xfrm>
              <a:off x="334963" y="1892714"/>
              <a:ext cx="2700000" cy="237050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80C9DB5-73A2-912C-1CF2-4BD86F24553B}"/>
                </a:ext>
              </a:extLst>
            </p:cNvPr>
            <p:cNvSpPr txBox="1"/>
            <p:nvPr/>
          </p:nvSpPr>
          <p:spPr>
            <a:xfrm>
              <a:off x="992182" y="1620000"/>
              <a:ext cx="14078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Cumulative NAV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2D9C7DB-5D39-3C2E-B162-9A4291D3886A}"/>
                </a:ext>
              </a:extLst>
            </p:cNvPr>
            <p:cNvSpPr txBox="1"/>
            <p:nvPr/>
          </p:nvSpPr>
          <p:spPr>
            <a:xfrm>
              <a:off x="3663864" y="1620000"/>
              <a:ext cx="20063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Log Cumulative Return </a:t>
              </a:r>
              <a:endParaRPr lang="ko-KR" altLang="en-US" sz="1200" b="1" dirty="0"/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41F366C-BE5D-6B2E-6E13-E8BBF3D19C72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 flipV="1">
              <a:off x="2831507" y="2140111"/>
              <a:ext cx="652770" cy="178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543BF56-549D-BCE5-1E88-A388D26A5885}"/>
                </a:ext>
              </a:extLst>
            </p:cNvPr>
            <p:cNvCxnSpPr>
              <a:cxnSpLocks/>
            </p:cNvCxnSpPr>
            <p:nvPr/>
          </p:nvCxnSpPr>
          <p:spPr>
            <a:xfrm>
              <a:off x="3951730" y="2140111"/>
              <a:ext cx="791720" cy="17045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B44E11C-562E-21B6-6729-97CD8863DE71}"/>
                </a:ext>
              </a:extLst>
            </p:cNvPr>
            <p:cNvSpPr/>
            <p:nvPr/>
          </p:nvSpPr>
          <p:spPr>
            <a:xfrm>
              <a:off x="3484277" y="2025445"/>
              <a:ext cx="467453" cy="229332"/>
            </a:xfrm>
            <a:prstGeom prst="rect">
              <a:avLst/>
            </a:prstGeom>
            <a:noFill/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P1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459EA194-4A9F-A493-2DDA-064DC4597A18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 flipV="1">
              <a:off x="2934694" y="3810500"/>
              <a:ext cx="652770" cy="188215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B65C9CA5-8C13-7413-49DA-008FCD54E12D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 flipV="1">
              <a:off x="4054917" y="3709475"/>
              <a:ext cx="491494" cy="101025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1579A2B-695D-D84F-2C30-ADB6CD7B59AE}"/>
                </a:ext>
              </a:extLst>
            </p:cNvPr>
            <p:cNvSpPr/>
            <p:nvPr/>
          </p:nvSpPr>
          <p:spPr>
            <a:xfrm>
              <a:off x="3587464" y="3695834"/>
              <a:ext cx="467453" cy="229332"/>
            </a:xfrm>
            <a:prstGeom prst="rect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P5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221A667-8C82-82DB-7A05-6F6CB796A31B}"/>
              </a:ext>
            </a:extLst>
          </p:cNvPr>
          <p:cNvGrpSpPr/>
          <p:nvPr/>
        </p:nvGrpSpPr>
        <p:grpSpPr>
          <a:xfrm>
            <a:off x="6361200" y="1171990"/>
            <a:ext cx="5472000" cy="311948"/>
            <a:chOff x="360000" y="1171989"/>
            <a:chExt cx="3565389" cy="311949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DE533D26-C460-FC27-8E5B-0E096F238BE9}"/>
                </a:ext>
              </a:extLst>
            </p:cNvPr>
            <p:cNvSpPr/>
            <p:nvPr/>
          </p:nvSpPr>
          <p:spPr>
            <a:xfrm>
              <a:off x="360000" y="1171989"/>
              <a:ext cx="3497841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rgbClr val="215F9A"/>
                  </a:solidFill>
                </a:rPr>
                <a:t>Heatmaps with Market Cap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89749EBB-0B0C-FFCD-63C3-9463A163D93E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D2E09B68-4BC1-5B03-2A8F-372F739EFBDE}"/>
              </a:ext>
            </a:extLst>
          </p:cNvPr>
          <p:cNvSpPr txBox="1"/>
          <p:nvPr/>
        </p:nvSpPr>
        <p:spPr>
          <a:xfrm>
            <a:off x="6360002" y="4350072"/>
            <a:ext cx="5472000" cy="1164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i="1" dirty="0"/>
              <a:t>기업규모와 </a:t>
            </a:r>
            <a:r>
              <a:rPr lang="ko-KR" altLang="en-US" sz="1200" b="1" i="1" dirty="0" err="1"/>
              <a:t>팩터</a:t>
            </a:r>
            <a:r>
              <a:rPr lang="ko-KR" altLang="en-US" sz="1200" b="1" i="1" dirty="0"/>
              <a:t> 노출도 변화에 따른 전략 성과를 분석하는 강건성 검증 수행</a:t>
            </a:r>
            <a:r>
              <a:rPr lang="en-US" altLang="ko-KR" sz="1200" b="1" i="1" dirty="0"/>
              <a:t>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/>
              <a:t>공왜도</a:t>
            </a:r>
            <a:r>
              <a:rPr lang="ko-KR" altLang="en-US" sz="1200" dirty="0"/>
              <a:t> 값이 작을수록</a:t>
            </a:r>
            <a:r>
              <a:rPr lang="en-US" altLang="ko-KR" sz="1200" dirty="0"/>
              <a:t>, </a:t>
            </a:r>
            <a:r>
              <a:rPr lang="ko-KR" altLang="en-US" sz="1200" dirty="0"/>
              <a:t>시가총액이 낮을수록 </a:t>
            </a:r>
            <a:r>
              <a:rPr lang="ko-KR" altLang="en-US" sz="1200" dirty="0" err="1"/>
              <a:t>히트맵에서</a:t>
            </a:r>
            <a:r>
              <a:rPr lang="ko-KR" altLang="en-US" sz="1200" dirty="0"/>
              <a:t> 왼쪽상단에 위치</a:t>
            </a:r>
            <a:endParaRPr lang="en-US" altLang="ko-KR" sz="1200" b="1" i="1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CAGR </a:t>
            </a:r>
            <a:r>
              <a:rPr lang="ko-KR" altLang="en-US" sz="1200" dirty="0" err="1"/>
              <a:t>히트맵</a:t>
            </a:r>
            <a:r>
              <a:rPr lang="ko-KR" altLang="en-US" sz="1200" dirty="0"/>
              <a:t> 분석 </a:t>
            </a:r>
            <a:r>
              <a:rPr lang="en-US" altLang="ko-KR" sz="1200" dirty="0"/>
              <a:t>: </a:t>
            </a:r>
            <a:r>
              <a:rPr lang="ko-KR" altLang="en-US" sz="1200" dirty="0"/>
              <a:t>음의 </a:t>
            </a:r>
            <a:r>
              <a:rPr lang="ko-KR" altLang="en-US" sz="1200" dirty="0" err="1"/>
              <a:t>공왜도</a:t>
            </a:r>
            <a:r>
              <a:rPr lang="ko-KR" altLang="en-US" sz="1200" dirty="0"/>
              <a:t> 영역일수록 </a:t>
            </a:r>
            <a:r>
              <a:rPr lang="ko-KR" altLang="en-US" sz="1200" b="1" dirty="0"/>
              <a:t>높은 수익 </a:t>
            </a:r>
            <a:r>
              <a:rPr lang="ko-KR" altLang="en-US" sz="1200" b="1" dirty="0" err="1"/>
              <a:t>창출력</a:t>
            </a:r>
            <a:r>
              <a:rPr lang="ko-KR" altLang="en-US" sz="1200" b="1" dirty="0"/>
              <a:t> </a:t>
            </a:r>
            <a:endParaRPr lang="en-US" altLang="ko-KR" sz="1200" b="1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Sharpe Ratio </a:t>
            </a:r>
            <a:r>
              <a:rPr lang="ko-KR" altLang="en-US" sz="1200" dirty="0" err="1"/>
              <a:t>히트맵</a:t>
            </a:r>
            <a:r>
              <a:rPr lang="ko-KR" altLang="en-US" sz="1200" dirty="0"/>
              <a:t> 분석 </a:t>
            </a:r>
            <a:r>
              <a:rPr lang="en-US" altLang="ko-KR" sz="1200" dirty="0"/>
              <a:t>: </a:t>
            </a:r>
            <a:r>
              <a:rPr lang="ko-KR" altLang="en-US" sz="1200" dirty="0"/>
              <a:t>음의 </a:t>
            </a:r>
            <a:r>
              <a:rPr lang="ko-KR" altLang="en-US" sz="1200" dirty="0" err="1"/>
              <a:t>공왜도</a:t>
            </a:r>
            <a:r>
              <a:rPr lang="ko-KR" altLang="en-US" sz="1200" dirty="0"/>
              <a:t> 영역일수록 </a:t>
            </a:r>
            <a:r>
              <a:rPr lang="ko-KR" altLang="en-US" sz="1200" b="1" dirty="0"/>
              <a:t>높은 샤프비율</a:t>
            </a:r>
            <a:endParaRPr lang="en-US" altLang="ko-KR" sz="12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9AF44F3-EBAD-ABA1-1F31-61D9D1269983}"/>
              </a:ext>
            </a:extLst>
          </p:cNvPr>
          <p:cNvGrpSpPr/>
          <p:nvPr/>
        </p:nvGrpSpPr>
        <p:grpSpPr>
          <a:xfrm>
            <a:off x="6361200" y="1646142"/>
            <a:ext cx="5472000" cy="2700000"/>
            <a:chOff x="6293519" y="1646142"/>
            <a:chExt cx="5563519" cy="2713619"/>
          </a:xfrm>
        </p:grpSpPr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780E6972-EFDB-5C75-7EB7-84F06802E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909" r="14933"/>
            <a:stretch>
              <a:fillRect/>
            </a:stretch>
          </p:blipFill>
          <p:spPr>
            <a:xfrm>
              <a:off x="6293519" y="1646142"/>
              <a:ext cx="2963787" cy="2617080"/>
            </a:xfrm>
            <a:prstGeom prst="rect">
              <a:avLst/>
            </a:prstGeom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9B981176-3A3E-FE17-A84E-FD93896F9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2473" t="5955" r="14199"/>
            <a:stretch>
              <a:fillRect/>
            </a:stretch>
          </p:blipFill>
          <p:spPr>
            <a:xfrm>
              <a:off x="9298429" y="1646142"/>
              <a:ext cx="2558609" cy="2569473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0695056-749C-9207-FA43-31838E227299}"/>
                </a:ext>
              </a:extLst>
            </p:cNvPr>
            <p:cNvSpPr txBox="1"/>
            <p:nvPr/>
          </p:nvSpPr>
          <p:spPr>
            <a:xfrm>
              <a:off x="7721962" y="4113540"/>
              <a:ext cx="6050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/>
                <a:t>CAGR</a:t>
              </a:r>
              <a:endParaRPr lang="ko-KR" altLang="en-US" sz="1000" b="1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4D5812B-64EA-E3B4-73AA-4C44306B9EC7}"/>
                </a:ext>
              </a:extLst>
            </p:cNvPr>
            <p:cNvSpPr txBox="1"/>
            <p:nvPr/>
          </p:nvSpPr>
          <p:spPr>
            <a:xfrm>
              <a:off x="10193672" y="4113540"/>
              <a:ext cx="10782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/>
                <a:t>Sharp Ratio</a:t>
              </a:r>
              <a:endParaRPr lang="ko-KR" altLang="en-US" sz="1000" b="1" dirty="0"/>
            </a:p>
          </p:txBody>
        </p: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22ADFF6C-A432-B193-F287-8E93B981F017}"/>
              </a:ext>
            </a:extLst>
          </p:cNvPr>
          <p:cNvSpPr/>
          <p:nvPr/>
        </p:nvSpPr>
        <p:spPr>
          <a:xfrm>
            <a:off x="6360002" y="5775635"/>
            <a:ext cx="5472817" cy="533090"/>
          </a:xfrm>
          <a:prstGeom prst="roundRect">
            <a:avLst/>
          </a:prstGeom>
          <a:solidFill>
            <a:srgbClr val="DFE7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모든 시가총액 분위에서 </a:t>
            </a:r>
            <a:r>
              <a:rPr lang="ko-KR" altLang="en-US" sz="1200" dirty="0" err="1">
                <a:solidFill>
                  <a:schemeClr val="tx1"/>
                </a:solidFill>
              </a:rPr>
              <a:t>팩터가</a:t>
            </a:r>
            <a:r>
              <a:rPr lang="ko-KR" altLang="en-US" sz="1200" dirty="0">
                <a:solidFill>
                  <a:schemeClr val="tx1"/>
                </a:solidFill>
              </a:rPr>
              <a:t> 체계적으로 작동하므로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수익률을 극대화하기 위해 시가총액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 err="1">
                <a:solidFill>
                  <a:schemeClr val="tx1"/>
                </a:solidFill>
              </a:rPr>
              <a:t>공왜도</a:t>
            </a:r>
            <a:r>
              <a:rPr lang="ko-KR" altLang="en-US" sz="1200" dirty="0">
                <a:solidFill>
                  <a:schemeClr val="tx1"/>
                </a:solidFill>
              </a:rPr>
              <a:t> 하위 </a:t>
            </a:r>
            <a:r>
              <a:rPr lang="en-US" altLang="ko-KR" sz="1200" dirty="0">
                <a:solidFill>
                  <a:schemeClr val="tx1"/>
                </a:solidFill>
              </a:rPr>
              <a:t>20% </a:t>
            </a:r>
            <a:r>
              <a:rPr lang="ko-KR" altLang="en-US" sz="1200" dirty="0">
                <a:solidFill>
                  <a:schemeClr val="tx1"/>
                </a:solidFill>
              </a:rPr>
              <a:t>포트폴리오 구성</a:t>
            </a:r>
          </a:p>
        </p:txBody>
      </p:sp>
      <p:sp>
        <p:nvSpPr>
          <p:cNvPr id="52" name="이등변 삼각형 51">
            <a:extLst>
              <a:ext uri="{FF2B5EF4-FFF2-40B4-BE49-F238E27FC236}">
                <a16:creationId xmlns:a16="http://schemas.microsoft.com/office/drawing/2014/main" id="{1D8F3CAF-4EB1-C0C4-9D37-8DB910C9ADFE}"/>
              </a:ext>
            </a:extLst>
          </p:cNvPr>
          <p:cNvSpPr/>
          <p:nvPr/>
        </p:nvSpPr>
        <p:spPr>
          <a:xfrm flipV="1">
            <a:off x="1580029" y="5559717"/>
            <a:ext cx="3163421" cy="178182"/>
          </a:xfrm>
          <a:prstGeom prst="triangle">
            <a:avLst/>
          </a:prstGeom>
          <a:gradFill>
            <a:gsLst>
              <a:gs pos="80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76000"/>
                  <a:lumOff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이등변 삼각형 52">
            <a:extLst>
              <a:ext uri="{FF2B5EF4-FFF2-40B4-BE49-F238E27FC236}">
                <a16:creationId xmlns:a16="http://schemas.microsoft.com/office/drawing/2014/main" id="{E97775EF-03C2-EEE7-C01B-3B47DA8EF41E}"/>
              </a:ext>
            </a:extLst>
          </p:cNvPr>
          <p:cNvSpPr/>
          <p:nvPr/>
        </p:nvSpPr>
        <p:spPr>
          <a:xfrm flipV="1">
            <a:off x="7446369" y="5542275"/>
            <a:ext cx="3163421" cy="178182"/>
          </a:xfrm>
          <a:prstGeom prst="triangle">
            <a:avLst/>
          </a:prstGeom>
          <a:gradFill>
            <a:gsLst>
              <a:gs pos="80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76000"/>
                  <a:lumOff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567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AE212-4A11-9AE6-2F35-5D3A32B6D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그래프, 라인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028E73-0EE7-B141-4A3D-DD785E8A0371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1591200"/>
            <a:ext cx="5472000" cy="2916000"/>
          </a:xfrm>
          <a:prstGeom prst="rect">
            <a:avLst/>
          </a:prstGeom>
        </p:spPr>
      </p:pic>
      <p:pic>
        <p:nvPicPr>
          <p:cNvPr id="9" name="그림 8" descr="그래프, 라인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9BDD66-E4B6-451B-8384-D4E45CE0051F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200" y="1591200"/>
            <a:ext cx="5472000" cy="291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B52A88-9255-417A-0352-7A39AC751D32}"/>
              </a:ext>
            </a:extLst>
          </p:cNvPr>
          <p:cNvSpPr txBox="1"/>
          <p:nvPr/>
        </p:nvSpPr>
        <p:spPr>
          <a:xfrm rot="10800000" flipV="1">
            <a:off x="360000" y="180000"/>
            <a:ext cx="5149388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200" b="1" dirty="0">
                <a:solidFill>
                  <a:schemeClr val="tx2">
                    <a:lumMod val="75000"/>
                    <a:lumOff val="25000"/>
                    <a:alpha val="50000"/>
                  </a:schemeClr>
                </a:solidFill>
              </a:rPr>
              <a:t>03. </a:t>
            </a:r>
            <a:r>
              <a:rPr lang="en-US" altLang="ko-KR" sz="1200" b="1" dirty="0">
                <a:solidFill>
                  <a:srgbClr val="A7C0D7"/>
                </a:solidFill>
              </a:rPr>
              <a:t>Performance Analysis</a:t>
            </a:r>
          </a:p>
        </p:txBody>
      </p:sp>
      <p:pic>
        <p:nvPicPr>
          <p:cNvPr id="2" name="그림 1" descr="텍스트, 폰트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D55EE0-7256-7BDA-DF35-B8EB3B4199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4" y="6455949"/>
            <a:ext cx="1209904" cy="40330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620FCCB-876A-32EF-D8B8-022F64293294}"/>
              </a:ext>
            </a:extLst>
          </p:cNvPr>
          <p:cNvSpPr txBox="1"/>
          <p:nvPr/>
        </p:nvSpPr>
        <p:spPr>
          <a:xfrm>
            <a:off x="540000" y="630000"/>
            <a:ext cx="6450079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Performance : Long-Short Portfolio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F165F16-B61C-9F32-0E5B-A1C1C7864BA6}"/>
              </a:ext>
            </a:extLst>
          </p:cNvPr>
          <p:cNvSpPr/>
          <p:nvPr/>
        </p:nvSpPr>
        <p:spPr>
          <a:xfrm>
            <a:off x="360000" y="720000"/>
            <a:ext cx="101948" cy="251534"/>
          </a:xfrm>
          <a:prstGeom prst="rect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BEECB70-13D5-9768-85F3-1A46D945004C}"/>
              </a:ext>
            </a:extLst>
          </p:cNvPr>
          <p:cNvGrpSpPr/>
          <p:nvPr/>
        </p:nvGrpSpPr>
        <p:grpSpPr>
          <a:xfrm>
            <a:off x="360000" y="1171990"/>
            <a:ext cx="5472000" cy="311948"/>
            <a:chOff x="360000" y="1171989"/>
            <a:chExt cx="3565389" cy="311949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434E8E5B-4101-4FF3-9F3E-9AC44A48E2A3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rgbClr val="215F9A"/>
                  </a:solidFill>
                </a:rPr>
                <a:t>Cumulative Return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C90EA8C4-658A-66DE-8E12-3C13A1690565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5F5633E-F4E9-54FC-0DB3-FDA2A8B7195F}"/>
              </a:ext>
            </a:extLst>
          </p:cNvPr>
          <p:cNvGrpSpPr/>
          <p:nvPr/>
        </p:nvGrpSpPr>
        <p:grpSpPr>
          <a:xfrm>
            <a:off x="354602" y="4767166"/>
            <a:ext cx="2625070" cy="1497396"/>
            <a:chOff x="6162530" y="1483938"/>
            <a:chExt cx="2625070" cy="14973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사각형: 잘린 한쪽 모서리 34">
                  <a:extLst>
                    <a:ext uri="{FF2B5EF4-FFF2-40B4-BE49-F238E27FC236}">
                      <a16:creationId xmlns:a16="http://schemas.microsoft.com/office/drawing/2014/main" id="{D4DA8353-DB5A-B12C-178B-0A55D8C22A64}"/>
                    </a:ext>
                  </a:extLst>
                </p:cNvPr>
                <p:cNvSpPr/>
                <p:nvPr/>
              </p:nvSpPr>
              <p:spPr>
                <a:xfrm>
                  <a:off x="6267600" y="1541334"/>
                  <a:ext cx="2520000" cy="1440000"/>
                </a:xfrm>
                <a:prstGeom prst="snip1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:endParaRPr lang="en-US" altLang="ko-KR" sz="12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altLang="ko-KR" sz="2000" b="1" dirty="0">
                      <a:solidFill>
                        <a:srgbClr val="156082"/>
                      </a:solidFill>
                    </a:rPr>
                    <a:t>   14.85%</a:t>
                  </a:r>
                </a:p>
                <a:p>
                  <a:pPr algn="ctr"/>
                  <a:r>
                    <a:rPr lang="en-US" altLang="ko-KR" sz="1200" b="0" dirty="0">
                      <a:solidFill>
                        <a:schemeClr val="tx1"/>
                      </a:solidFill>
                    </a:rPr>
                    <a:t>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최</m:t>
                          </m:r>
                          <m:r>
                            <a:rPr lang="ko-KR" altLang="en-US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종</m:t>
                          </m:r>
                          <m: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자</m:t>
                          </m:r>
                          <m:r>
                            <a:rPr lang="ko-KR" altLang="en-US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산</m:t>
                          </m:r>
                        </m:num>
                        <m:den>
                          <m:r>
                            <a:rPr lang="ko-KR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처</m:t>
                          </m:r>
                          <m:r>
                            <a:rPr lang="ko-KR" altLang="en-US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음</m:t>
                          </m:r>
                          <m: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자</m:t>
                          </m:r>
                          <m:r>
                            <a:rPr lang="ko-KR" altLang="en-US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산</m:t>
                          </m:r>
                        </m:den>
                      </m:f>
                      <m:r>
                        <a:rPr lang="en-US" altLang="ko-K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ko-KR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투</m:t>
                              </m:r>
                              <m:r>
                                <a:rPr lang="ko-KR" altLang="en-US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자</m:t>
                              </m:r>
                              <m:r>
                                <a:rPr lang="ko-KR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기</m:t>
                              </m:r>
                              <m:r>
                                <a:rPr lang="ko-KR" altLang="en-US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간</m:t>
                              </m:r>
                              <m:d>
                                <m:dPr>
                                  <m:ctrlPr>
                                    <a:rPr lang="en-US" altLang="ko-KR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ko-KR" alt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년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a14:m>
                  <a:endParaRPr lang="en-US" altLang="ko-KR" sz="1200" b="0" dirty="0">
                    <a:solidFill>
                      <a:schemeClr val="tx1"/>
                    </a:solidFill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1200" dirty="0">
                      <a:solidFill>
                        <a:schemeClr val="tx1"/>
                      </a:solidFill>
                    </a:rPr>
                    <a:t>:</a:t>
                  </a:r>
                  <a:r>
                    <a:rPr lang="ko-KR" altLang="en-US" sz="1200" dirty="0">
                      <a:solidFill>
                        <a:schemeClr val="tx1"/>
                      </a:solidFill>
                    </a:rPr>
                    <a:t> 연평균 수익률</a:t>
                  </a:r>
                  <a:endParaRPr lang="en-US" altLang="ko-KR" sz="1200" dirty="0">
                    <a:solidFill>
                      <a:schemeClr val="tx1"/>
                    </a:solidFill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ko-KR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사각형: 잘린 한쪽 모서리 34">
                  <a:extLst>
                    <a:ext uri="{FF2B5EF4-FFF2-40B4-BE49-F238E27FC236}">
                      <a16:creationId xmlns:a16="http://schemas.microsoft.com/office/drawing/2014/main" id="{D4DA8353-DB5A-B12C-178B-0A55D8C22A6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7600" y="1541334"/>
                  <a:ext cx="2520000" cy="1440000"/>
                </a:xfrm>
                <a:prstGeom prst="snip1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A22DE6A0-83AA-4768-9587-9801B2821425}"/>
                </a:ext>
              </a:extLst>
            </p:cNvPr>
            <p:cNvSpPr/>
            <p:nvPr/>
          </p:nvSpPr>
          <p:spPr>
            <a:xfrm>
              <a:off x="6162530" y="1483938"/>
              <a:ext cx="1322371" cy="34128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>
                  <a:solidFill>
                    <a:schemeClr val="bg1"/>
                  </a:solidFill>
                </a:rPr>
                <a:t>CAGR</a:t>
              </a:r>
              <a:endParaRPr lang="ko-KR" altLang="en-US" sz="13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11CA65B-CE84-7A41-1D51-931832AE8DE4}"/>
              </a:ext>
            </a:extLst>
          </p:cNvPr>
          <p:cNvGrpSpPr/>
          <p:nvPr/>
        </p:nvGrpSpPr>
        <p:grpSpPr>
          <a:xfrm>
            <a:off x="3303521" y="4767166"/>
            <a:ext cx="2634906" cy="1497396"/>
            <a:chOff x="9136709" y="1576127"/>
            <a:chExt cx="2634906" cy="14973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사각형: 잘린 한쪽 모서리 37">
                  <a:extLst>
                    <a:ext uri="{FF2B5EF4-FFF2-40B4-BE49-F238E27FC236}">
                      <a16:creationId xmlns:a16="http://schemas.microsoft.com/office/drawing/2014/main" id="{071351E4-24DD-CA15-59B8-02A639A02A45}"/>
                    </a:ext>
                  </a:extLst>
                </p:cNvPr>
                <p:cNvSpPr/>
                <p:nvPr/>
              </p:nvSpPr>
              <p:spPr>
                <a:xfrm>
                  <a:off x="9251615" y="1633523"/>
                  <a:ext cx="2520000" cy="1440000"/>
                </a:xfrm>
                <a:prstGeom prst="snip1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b="1" dirty="0">
                      <a:solidFill>
                        <a:srgbClr val="156082"/>
                      </a:solidFill>
                    </a:rPr>
                    <a:t>  </a:t>
                  </a:r>
                </a:p>
                <a:p>
                  <a:pPr algn="ctr"/>
                  <a:r>
                    <a:rPr lang="en-US" altLang="ko-KR" sz="2000" b="1" dirty="0">
                      <a:solidFill>
                        <a:srgbClr val="156082"/>
                      </a:solidFill>
                    </a:rPr>
                    <a:t>3.686</a:t>
                  </a:r>
                </a:p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altLang="ko-KR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altLang="ko-KR" sz="1200" dirty="0">
                    <a:solidFill>
                      <a:schemeClr val="tx1"/>
                    </a:solidFill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1200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ko-KR" sz="1200" dirty="0">
                      <a:solidFill>
                        <a:schemeClr val="tx1"/>
                      </a:solidFill>
                    </a:rPr>
                    <a:t>: </a:t>
                  </a:r>
                  <a:r>
                    <a:rPr lang="ko-KR" altLang="en-US" sz="1200" dirty="0">
                      <a:solidFill>
                        <a:schemeClr val="tx1"/>
                      </a:solidFill>
                    </a:rPr>
                    <a:t>위험대비 수익률</a:t>
                  </a:r>
                </a:p>
              </p:txBody>
            </p:sp>
          </mc:Choice>
          <mc:Fallback xmlns="">
            <p:sp>
              <p:nvSpPr>
                <p:cNvPr id="38" name="사각형: 잘린 한쪽 모서리 37">
                  <a:extLst>
                    <a:ext uri="{FF2B5EF4-FFF2-40B4-BE49-F238E27FC236}">
                      <a16:creationId xmlns:a16="http://schemas.microsoft.com/office/drawing/2014/main" id="{071351E4-24DD-CA15-59B8-02A639A02A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51615" y="1633523"/>
                  <a:ext cx="2520000" cy="1440000"/>
                </a:xfrm>
                <a:prstGeom prst="snip1Rect">
                  <a:avLst/>
                </a:prstGeom>
                <a:blipFill>
                  <a:blip r:embed="rId6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3070126B-D005-303A-0C4E-DD594E1008C5}"/>
                </a:ext>
              </a:extLst>
            </p:cNvPr>
            <p:cNvSpPr/>
            <p:nvPr/>
          </p:nvSpPr>
          <p:spPr>
            <a:xfrm>
              <a:off x="9136709" y="1576127"/>
              <a:ext cx="1322371" cy="34128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>
                  <a:solidFill>
                    <a:schemeClr val="bg1"/>
                  </a:solidFill>
                </a:rPr>
                <a:t>Sharpe Ratio</a:t>
              </a:r>
              <a:endParaRPr lang="ko-KR" altLang="en-US" sz="13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B00A82C-70D9-20E8-0509-5AC4A5F27819}"/>
              </a:ext>
            </a:extLst>
          </p:cNvPr>
          <p:cNvGrpSpPr/>
          <p:nvPr/>
        </p:nvGrpSpPr>
        <p:grpSpPr>
          <a:xfrm>
            <a:off x="6262276" y="4767165"/>
            <a:ext cx="2620123" cy="1496834"/>
            <a:chOff x="6571107" y="5086238"/>
            <a:chExt cx="2620123" cy="14968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사각형: 잘린 한쪽 모서리 40">
                  <a:extLst>
                    <a:ext uri="{FF2B5EF4-FFF2-40B4-BE49-F238E27FC236}">
                      <a16:creationId xmlns:a16="http://schemas.microsoft.com/office/drawing/2014/main" id="{714039B3-C1BF-E4EB-7B79-A74C5BB66EDE}"/>
                    </a:ext>
                  </a:extLst>
                </p:cNvPr>
                <p:cNvSpPr/>
                <p:nvPr/>
              </p:nvSpPr>
              <p:spPr>
                <a:xfrm>
                  <a:off x="6671230" y="5143072"/>
                  <a:ext cx="2520000" cy="1440000"/>
                </a:xfrm>
                <a:prstGeom prst="snip1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2000" b="1" dirty="0">
                      <a:solidFill>
                        <a:srgbClr val="156082"/>
                      </a:solidFill>
                    </a:rPr>
                    <a:t>0.0375</a:t>
                  </a:r>
                  <a:endParaRPr lang="en-US" altLang="ko-KR" sz="2000" dirty="0">
                    <a:solidFill>
                      <a:srgbClr val="156082"/>
                    </a:solidFill>
                  </a:endParaRPr>
                </a:p>
                <a:p>
                  <a:pPr algn="ctr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ko-K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𝑚𝑜𝑛𝑡h𝑙𝑦</m:t>
                          </m:r>
                        </m:sub>
                      </m:sSub>
                      <m:r>
                        <a:rPr lang="en-US" altLang="ko-K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e>
                      </m:rad>
                    </m:oMath>
                  </a14:m>
                  <a:r>
                    <a:rPr lang="ko-KR" altLang="en-US" sz="1200" dirty="0">
                      <a:solidFill>
                        <a:schemeClr val="tx1"/>
                      </a:solidFill>
                    </a:rPr>
                    <a:t> </a:t>
                  </a:r>
                  <a:endParaRPr lang="en-US" altLang="ko-KR" sz="1200" dirty="0">
                    <a:solidFill>
                      <a:schemeClr val="tx1"/>
                    </a:solidFill>
                  </a:endParaRPr>
                </a:p>
                <a:p>
                  <a:pPr algn="ctr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𝑚𝑜𝑛𝑡h𝑙𝑦</m:t>
                          </m:r>
                        </m:sub>
                      </m:sSub>
                      <m:r>
                        <a:rPr lang="en-US" altLang="ko-K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ko-KR" alt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월</m:t>
                      </m:r>
                    </m:oMath>
                  </a14:m>
                  <a:r>
                    <a:rPr lang="ko-KR" altLang="en-US" sz="1200" dirty="0">
                      <a:solidFill>
                        <a:schemeClr val="tx1"/>
                      </a:solidFill>
                    </a:rPr>
                    <a:t>간수익률 표준편차</a:t>
                  </a:r>
                </a:p>
              </p:txBody>
            </p:sp>
          </mc:Choice>
          <mc:Fallback xmlns="">
            <p:sp>
              <p:nvSpPr>
                <p:cNvPr id="41" name="사각형: 잘린 한쪽 모서리 40">
                  <a:extLst>
                    <a:ext uri="{FF2B5EF4-FFF2-40B4-BE49-F238E27FC236}">
                      <a16:creationId xmlns:a16="http://schemas.microsoft.com/office/drawing/2014/main" id="{714039B3-C1BF-E4EB-7B79-A74C5BB66E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1230" y="5143072"/>
                  <a:ext cx="2520000" cy="1440000"/>
                </a:xfrm>
                <a:prstGeom prst="snip1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BDCC6AC4-2952-A2B6-B862-46A8E7CC730B}"/>
                </a:ext>
              </a:extLst>
            </p:cNvPr>
            <p:cNvSpPr/>
            <p:nvPr/>
          </p:nvSpPr>
          <p:spPr>
            <a:xfrm>
              <a:off x="6571107" y="5086238"/>
              <a:ext cx="1322371" cy="34128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>
                  <a:solidFill>
                    <a:schemeClr val="bg1"/>
                  </a:solidFill>
                </a:rPr>
                <a:t>Volatility</a:t>
              </a:r>
              <a:endParaRPr lang="ko-KR" altLang="en-US" sz="13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991AA96-8A1C-0164-46D8-679890D04F95}"/>
              </a:ext>
            </a:extLst>
          </p:cNvPr>
          <p:cNvGrpSpPr/>
          <p:nvPr/>
        </p:nvGrpSpPr>
        <p:grpSpPr>
          <a:xfrm>
            <a:off x="9206248" y="4766400"/>
            <a:ext cx="2631150" cy="1497599"/>
            <a:chOff x="9140465" y="4043512"/>
            <a:chExt cx="2631150" cy="1497599"/>
          </a:xfrm>
        </p:grpSpPr>
        <p:sp>
          <p:nvSpPr>
            <p:cNvPr id="44" name="사각형: 잘린 한쪽 모서리 43">
              <a:extLst>
                <a:ext uri="{FF2B5EF4-FFF2-40B4-BE49-F238E27FC236}">
                  <a16:creationId xmlns:a16="http://schemas.microsoft.com/office/drawing/2014/main" id="{2F87FEA5-BFDD-64FF-1AF3-8DFBA2EC5A48}"/>
                </a:ext>
              </a:extLst>
            </p:cNvPr>
            <p:cNvSpPr/>
            <p:nvPr/>
          </p:nvSpPr>
          <p:spPr>
            <a:xfrm>
              <a:off x="9251615" y="4101111"/>
              <a:ext cx="2520000" cy="1440000"/>
            </a:xfrm>
            <a:prstGeom prst="snip1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2000" b="1" dirty="0">
                  <a:solidFill>
                    <a:srgbClr val="156082"/>
                  </a:solidFill>
                </a:rPr>
                <a:t> -2.74%</a:t>
              </a:r>
              <a:endParaRPr lang="en-US" altLang="ko-KR" sz="2000" dirty="0">
                <a:solidFill>
                  <a:srgbClr val="156082"/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/>
                  </a:solidFill>
                </a:rPr>
                <a:t>: </a:t>
              </a:r>
              <a:r>
                <a:rPr lang="ko-KR" altLang="en-US" sz="1200" dirty="0">
                  <a:solidFill>
                    <a:schemeClr val="tx1"/>
                  </a:solidFill>
                </a:rPr>
                <a:t>월간 최저 수익률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>
                <a:lnSpc>
                  <a:spcPct val="150000"/>
                </a:lnSpc>
              </a:pP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9BC58B90-AB37-6260-6953-61752F01F65A}"/>
                </a:ext>
              </a:extLst>
            </p:cNvPr>
            <p:cNvSpPr/>
            <p:nvPr/>
          </p:nvSpPr>
          <p:spPr>
            <a:xfrm>
              <a:off x="9140465" y="4043512"/>
              <a:ext cx="1322371" cy="34128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>
                  <a:solidFill>
                    <a:schemeClr val="bg1"/>
                  </a:solidFill>
                </a:rPr>
                <a:t>MDD</a:t>
              </a:r>
              <a:endParaRPr lang="ko-KR" altLang="en-US" sz="13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B09DD4BF-83C0-4850-0DBF-2F2D52433855}"/>
              </a:ext>
            </a:extLst>
          </p:cNvPr>
          <p:cNvGrpSpPr/>
          <p:nvPr/>
        </p:nvGrpSpPr>
        <p:grpSpPr>
          <a:xfrm>
            <a:off x="6360002" y="1173600"/>
            <a:ext cx="5472000" cy="311948"/>
            <a:chOff x="360000" y="1171989"/>
            <a:chExt cx="3565389" cy="311949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01D9303-D57A-99B0-FA07-06EA8721EE0B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rgbClr val="215F9A"/>
                  </a:solidFill>
                </a:rPr>
                <a:t>Log Cumulative Return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B977A068-9A23-9F71-A7BD-8A413BE17A3E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93DDC16E-97F1-D46B-5D32-F47AB7F2A0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000" y="1800000"/>
            <a:ext cx="720000" cy="40941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EC0883C-B186-E01A-F839-36C21C002A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32" y="1800000"/>
            <a:ext cx="720000" cy="40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441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A4D70-E43F-9F13-4B54-64070586C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57E205-18C7-B4F4-BD63-565B06143385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200" y="1591200"/>
            <a:ext cx="5472000" cy="3420000"/>
          </a:xfrm>
          <a:prstGeom prst="rect">
            <a:avLst/>
          </a:prstGeom>
        </p:spPr>
      </p:pic>
      <p:pic>
        <p:nvPicPr>
          <p:cNvPr id="6" name="그림 5" descr="텍스트, 스크린샷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83D7EC-161F-8741-DD6A-E1A12ADBCC3E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01" y="1589989"/>
            <a:ext cx="5472000" cy="342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DF7230-AC36-1608-1884-3201C21D7443}"/>
              </a:ext>
            </a:extLst>
          </p:cNvPr>
          <p:cNvSpPr txBox="1"/>
          <p:nvPr/>
        </p:nvSpPr>
        <p:spPr>
          <a:xfrm rot="10800000" flipV="1">
            <a:off x="362840" y="190062"/>
            <a:ext cx="5149388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200" b="1" dirty="0">
                <a:solidFill>
                  <a:schemeClr val="tx2">
                    <a:lumMod val="75000"/>
                    <a:lumOff val="25000"/>
                    <a:alpha val="50000"/>
                  </a:schemeClr>
                </a:solidFill>
              </a:rPr>
              <a:t>03. </a:t>
            </a:r>
            <a:r>
              <a:rPr lang="en-US" altLang="ko-KR" sz="1200" b="1" dirty="0">
                <a:solidFill>
                  <a:srgbClr val="A7C0D7"/>
                </a:solidFill>
              </a:rPr>
              <a:t>Performance Analysis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9F85C3-2212-B8E5-BDC2-FBEBD96824D3}"/>
              </a:ext>
            </a:extLst>
          </p:cNvPr>
          <p:cNvSpPr/>
          <p:nvPr/>
        </p:nvSpPr>
        <p:spPr>
          <a:xfrm>
            <a:off x="360000" y="720000"/>
            <a:ext cx="101948" cy="251534"/>
          </a:xfrm>
          <a:prstGeom prst="rect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75621A-93C5-4C5D-F7EE-E652927133B2}"/>
              </a:ext>
            </a:extLst>
          </p:cNvPr>
          <p:cNvSpPr txBox="1"/>
          <p:nvPr/>
        </p:nvSpPr>
        <p:spPr>
          <a:xfrm>
            <a:off x="359999" y="5124446"/>
            <a:ext cx="5472000" cy="887615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월별 수익률이 양수를 기록한 비율</a:t>
            </a:r>
            <a:r>
              <a:rPr lang="en-US" altLang="ko-KR" sz="1200" dirty="0"/>
              <a:t>(Win Rate)</a:t>
            </a:r>
            <a:r>
              <a:rPr lang="ko-KR" altLang="en-US" sz="1200" dirty="0"/>
              <a:t>이 </a:t>
            </a:r>
            <a:r>
              <a:rPr lang="en-US" altLang="ko-KR" sz="1200" dirty="0"/>
              <a:t>87.5%</a:t>
            </a:r>
            <a:r>
              <a:rPr lang="ko-KR" altLang="en-US" sz="1200" dirty="0"/>
              <a:t>로 높은 일관성</a:t>
            </a: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롱</a:t>
            </a:r>
            <a:r>
              <a:rPr lang="en-US" altLang="ko-KR" sz="1200" dirty="0"/>
              <a:t>/</a:t>
            </a:r>
            <a:r>
              <a:rPr lang="ko-KR" altLang="en-US" sz="1200" dirty="0"/>
              <a:t>숏 전략을 통해 시장 급락시기 </a:t>
            </a:r>
            <a:r>
              <a:rPr lang="ko-KR" altLang="en-US" sz="1200" dirty="0" err="1"/>
              <a:t>헷징</a:t>
            </a:r>
            <a:r>
              <a:rPr lang="ko-KR" altLang="en-US" sz="1200" dirty="0"/>
              <a:t> 효과로 가장 큰 월 손실이 </a:t>
            </a:r>
            <a:r>
              <a:rPr lang="en-US" altLang="ko-KR" sz="1200" dirty="0"/>
              <a:t>3% </a:t>
            </a:r>
            <a:r>
              <a:rPr lang="ko-KR" altLang="en-US" sz="1200" dirty="0"/>
              <a:t>미만</a:t>
            </a: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롱</a:t>
            </a:r>
            <a:r>
              <a:rPr lang="en-US" altLang="ko-KR" sz="1200" dirty="0"/>
              <a:t>-</a:t>
            </a:r>
            <a:r>
              <a:rPr lang="ko-KR" altLang="en-US" sz="1200" dirty="0" err="1"/>
              <a:t>온리</a:t>
            </a:r>
            <a:r>
              <a:rPr lang="ko-KR" altLang="en-US" sz="1200" dirty="0"/>
              <a:t> 전략 대비 매우 낮은 변동성</a:t>
            </a:r>
            <a:r>
              <a:rPr lang="en-US" altLang="ko-KR" sz="1200" dirty="0"/>
              <a:t>(</a:t>
            </a:r>
            <a:r>
              <a:rPr lang="ko-KR" altLang="en-US" sz="1200" dirty="0"/>
              <a:t>연 </a:t>
            </a:r>
            <a:r>
              <a:rPr lang="en-US" altLang="ko-KR" sz="1200" dirty="0"/>
              <a:t>3~4%), </a:t>
            </a:r>
            <a:r>
              <a:rPr lang="ko-KR" altLang="en-US" sz="1200" dirty="0"/>
              <a:t>꾸준한 장기 누적 수익</a:t>
            </a:r>
            <a:endParaRPr lang="en-US" altLang="ko-KR" sz="1200" dirty="0"/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C6345B59-5AB6-FB18-57F1-E0DB71B07ABA}"/>
              </a:ext>
            </a:extLst>
          </p:cNvPr>
          <p:cNvGrpSpPr/>
          <p:nvPr/>
        </p:nvGrpSpPr>
        <p:grpSpPr>
          <a:xfrm>
            <a:off x="360000" y="1171990"/>
            <a:ext cx="5472000" cy="311948"/>
            <a:chOff x="360000" y="1171989"/>
            <a:chExt cx="3559479" cy="311949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E6537953-B4EE-2819-FD8A-6946B2B8DB75}"/>
                </a:ext>
              </a:extLst>
            </p:cNvPr>
            <p:cNvSpPr/>
            <p:nvPr/>
          </p:nvSpPr>
          <p:spPr>
            <a:xfrm>
              <a:off x="360000" y="1171989"/>
              <a:ext cx="3497841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rgbClr val="215F9A"/>
                  </a:solidFill>
                </a:rPr>
                <a:t>Monthly Return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034BAA8A-CA60-794F-F91E-1DF60375A1ED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5947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81E88A66-6269-A786-E4D6-4E49D7A1C328}"/>
              </a:ext>
            </a:extLst>
          </p:cNvPr>
          <p:cNvGrpSpPr/>
          <p:nvPr/>
        </p:nvGrpSpPr>
        <p:grpSpPr>
          <a:xfrm>
            <a:off x="6361200" y="1171988"/>
            <a:ext cx="5472000" cy="311949"/>
            <a:chOff x="360000" y="1171988"/>
            <a:chExt cx="3565389" cy="311950"/>
          </a:xfrm>
        </p:grpSpPr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3846BC1C-B5A5-1028-D8A2-054B21FC85C6}"/>
                </a:ext>
              </a:extLst>
            </p:cNvPr>
            <p:cNvSpPr/>
            <p:nvPr/>
          </p:nvSpPr>
          <p:spPr>
            <a:xfrm>
              <a:off x="360000" y="1171988"/>
              <a:ext cx="3497841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Returns</a:t>
              </a:r>
              <a:r>
                <a:rPr lang="ko-KR" altLang="en-US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During</a:t>
              </a:r>
              <a:r>
                <a:rPr lang="ko-KR" altLang="en-US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KOSPI Crisis Months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A129FD3D-6DE4-FEC7-5078-118CF7DF33E5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그림 1" descr="텍스트, 폰트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807BBF-B8CD-F005-BFBB-8559D266AC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4" y="6455949"/>
            <a:ext cx="1209904" cy="4033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9D98A0-5D09-109A-A144-F1F54C45B56B}"/>
              </a:ext>
            </a:extLst>
          </p:cNvPr>
          <p:cNvSpPr txBox="1"/>
          <p:nvPr/>
        </p:nvSpPr>
        <p:spPr>
          <a:xfrm>
            <a:off x="540000" y="630000"/>
            <a:ext cx="6450079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Performance : Long-Short Portfolio</a:t>
            </a:r>
          </a:p>
        </p:txBody>
      </p:sp>
      <p:sp>
        <p:nvSpPr>
          <p:cNvPr id="25" name="말풍선: 사각형 24">
            <a:extLst>
              <a:ext uri="{FF2B5EF4-FFF2-40B4-BE49-F238E27FC236}">
                <a16:creationId xmlns:a16="http://schemas.microsoft.com/office/drawing/2014/main" id="{A9A46884-0A9C-794E-6C88-D4A541FDF84A}"/>
              </a:ext>
            </a:extLst>
          </p:cNvPr>
          <p:cNvSpPr/>
          <p:nvPr/>
        </p:nvSpPr>
        <p:spPr>
          <a:xfrm>
            <a:off x="4736391" y="1668463"/>
            <a:ext cx="968608" cy="476515"/>
          </a:xfrm>
          <a:prstGeom prst="wedgeRectCallout">
            <a:avLst>
              <a:gd name="adj1" fmla="val -40963"/>
              <a:gd name="adj2" fmla="val 9918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Win Rate</a:t>
            </a:r>
          </a:p>
          <a:p>
            <a:pPr algn="ctr"/>
            <a:r>
              <a:rPr lang="en-US" altLang="ko-KR" sz="1200" b="1" dirty="0"/>
              <a:t>87.5 %</a:t>
            </a:r>
            <a:endParaRPr lang="ko-KR" altLang="en-US" sz="1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01E51B-06D6-47E4-9E06-48BA9423DCB0}"/>
              </a:ext>
            </a:extLst>
          </p:cNvPr>
          <p:cNvSpPr txBox="1"/>
          <p:nvPr/>
        </p:nvSpPr>
        <p:spPr>
          <a:xfrm>
            <a:off x="6361200" y="5084763"/>
            <a:ext cx="5472000" cy="1441613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KOSPI</a:t>
            </a:r>
            <a:r>
              <a:rPr lang="ko-KR" altLang="en-US" sz="1200" dirty="0"/>
              <a:t>가 </a:t>
            </a:r>
            <a:r>
              <a:rPr lang="en-US" altLang="ko-KR" sz="1200" dirty="0"/>
              <a:t>3% </a:t>
            </a:r>
            <a:r>
              <a:rPr lang="ko-KR" altLang="en-US" sz="1200" dirty="0"/>
              <a:t>이상 하락한 </a:t>
            </a:r>
            <a:r>
              <a:rPr lang="en-US" altLang="ko-KR" sz="1200" dirty="0"/>
              <a:t>23</a:t>
            </a:r>
            <a:r>
              <a:rPr lang="ko-KR" altLang="en-US" sz="1200" dirty="0"/>
              <a:t>개의 월 중 </a:t>
            </a:r>
            <a:r>
              <a:rPr lang="en-US" altLang="ko-KR" sz="1200" dirty="0"/>
              <a:t>4</a:t>
            </a:r>
            <a:r>
              <a:rPr lang="ko-KR" altLang="en-US" sz="1200" dirty="0"/>
              <a:t>번을 제외하고 양의 성과를 기록</a:t>
            </a:r>
            <a:r>
              <a:rPr lang="en-US" altLang="ko-KR" sz="1200" dirty="0"/>
              <a:t>. </a:t>
            </a:r>
            <a:r>
              <a:rPr lang="ko-KR" altLang="en-US" sz="1200" b="1" dirty="0"/>
              <a:t>변동성 확대 국면에서 전략의 안정적인 수익 구조 부각</a:t>
            </a:r>
            <a:r>
              <a:rPr lang="en-US" altLang="ko-KR" sz="1200" b="1" dirty="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특히 금리 인상</a:t>
            </a:r>
            <a:r>
              <a:rPr lang="en-US" altLang="ko-KR" sz="1200" dirty="0"/>
              <a:t>(2018-02), </a:t>
            </a:r>
            <a:r>
              <a:rPr lang="ko-KR" altLang="en-US" sz="1200" dirty="0"/>
              <a:t>코로나</a:t>
            </a:r>
            <a:r>
              <a:rPr lang="en-US" altLang="ko-KR" sz="1200" dirty="0"/>
              <a:t>(2020-01)</a:t>
            </a:r>
            <a:r>
              <a:rPr lang="ko-KR" altLang="en-US" sz="1200" dirty="0"/>
              <a:t> 등 </a:t>
            </a:r>
            <a:br>
              <a:rPr lang="en-US" altLang="ko-KR" sz="1200" dirty="0"/>
            </a:br>
            <a:r>
              <a:rPr lang="ko-KR" altLang="en-US" sz="1200" dirty="0"/>
              <a:t>체계적 리스크가 집중된 시기에도 일관된 수익을 기록</a:t>
            </a:r>
            <a:r>
              <a:rPr lang="en-US" altLang="ko-KR" sz="1200" dirty="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롱</a:t>
            </a:r>
            <a:r>
              <a:rPr lang="en-US" altLang="ko-KR" sz="1200" dirty="0"/>
              <a:t>/</a:t>
            </a:r>
            <a:r>
              <a:rPr lang="ko-KR" altLang="en-US" sz="1200" dirty="0"/>
              <a:t>숏 구조를 통한 </a:t>
            </a:r>
            <a:r>
              <a:rPr lang="ko-KR" altLang="en-US" sz="1200" dirty="0" err="1"/>
              <a:t>하방</a:t>
            </a:r>
            <a:r>
              <a:rPr lang="ko-KR" altLang="en-US" sz="1200" dirty="0"/>
              <a:t> 베타 축소가 </a:t>
            </a:r>
            <a:r>
              <a:rPr lang="ko-KR" altLang="en-US" sz="1200" dirty="0" err="1"/>
              <a:t>급락기</a:t>
            </a:r>
            <a:r>
              <a:rPr lang="ko-KR" altLang="en-US" sz="1200" dirty="0"/>
              <a:t> 손실 완화에 결정적 기여</a:t>
            </a:r>
            <a:r>
              <a:rPr lang="en-US" altLang="ko-KR" sz="1200" dirty="0"/>
              <a:t>.</a:t>
            </a:r>
          </a:p>
        </p:txBody>
      </p:sp>
      <p:sp>
        <p:nvSpPr>
          <p:cNvPr id="15" name="왼쪽 중괄호 14">
            <a:extLst>
              <a:ext uri="{FF2B5EF4-FFF2-40B4-BE49-F238E27FC236}">
                <a16:creationId xmlns:a16="http://schemas.microsoft.com/office/drawing/2014/main" id="{D772A2DB-50B1-8113-D8BD-BC9EAB1EFC58}"/>
              </a:ext>
            </a:extLst>
          </p:cNvPr>
          <p:cNvSpPr/>
          <p:nvPr/>
        </p:nvSpPr>
        <p:spPr>
          <a:xfrm rot="16200000">
            <a:off x="7240410" y="3547498"/>
            <a:ext cx="101705" cy="360000"/>
          </a:xfrm>
          <a:prstGeom prst="leftBrac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왼쪽 중괄호 15">
            <a:extLst>
              <a:ext uri="{FF2B5EF4-FFF2-40B4-BE49-F238E27FC236}">
                <a16:creationId xmlns:a16="http://schemas.microsoft.com/office/drawing/2014/main" id="{97F48821-08E8-9ECF-B946-0EE782EBD9F4}"/>
              </a:ext>
            </a:extLst>
          </p:cNvPr>
          <p:cNvSpPr/>
          <p:nvPr/>
        </p:nvSpPr>
        <p:spPr>
          <a:xfrm rot="16200000">
            <a:off x="8633337" y="3448498"/>
            <a:ext cx="101706" cy="558000"/>
          </a:xfrm>
          <a:prstGeom prst="leftBrac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왼쪽 중괄호 18">
            <a:extLst>
              <a:ext uri="{FF2B5EF4-FFF2-40B4-BE49-F238E27FC236}">
                <a16:creationId xmlns:a16="http://schemas.microsoft.com/office/drawing/2014/main" id="{E54E94C6-84F7-3BC5-7235-CDFF9FC4C1F1}"/>
              </a:ext>
            </a:extLst>
          </p:cNvPr>
          <p:cNvSpPr/>
          <p:nvPr/>
        </p:nvSpPr>
        <p:spPr>
          <a:xfrm rot="16200000">
            <a:off x="10006678" y="3547495"/>
            <a:ext cx="101706" cy="360000"/>
          </a:xfrm>
          <a:prstGeom prst="leftBrac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274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F6FA6-E07E-6684-7948-3DF5D85F3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55C4C1-B881-B3CA-929B-AC618A984F8A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1592263"/>
            <a:ext cx="5472000" cy="291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F03055-E949-F664-9390-B51BE4811E8C}"/>
              </a:ext>
            </a:extLst>
          </p:cNvPr>
          <p:cNvSpPr txBox="1"/>
          <p:nvPr/>
        </p:nvSpPr>
        <p:spPr>
          <a:xfrm rot="10800000" flipV="1">
            <a:off x="360000" y="180000"/>
            <a:ext cx="5149388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200" b="1" dirty="0">
                <a:solidFill>
                  <a:schemeClr val="tx2">
                    <a:lumMod val="75000"/>
                    <a:lumOff val="25000"/>
                    <a:alpha val="50000"/>
                  </a:schemeClr>
                </a:solidFill>
              </a:rPr>
              <a:t>03. </a:t>
            </a:r>
            <a:r>
              <a:rPr lang="en-US" altLang="ko-KR" sz="1200" b="1" dirty="0">
                <a:solidFill>
                  <a:srgbClr val="A7C0D7"/>
                </a:solidFill>
              </a:rPr>
              <a:t>Performance Analysis</a:t>
            </a:r>
          </a:p>
        </p:txBody>
      </p:sp>
      <p:pic>
        <p:nvPicPr>
          <p:cNvPr id="2" name="그림 1" descr="텍스트, 폰트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D9F09C-0FA3-1B11-FF08-1E88087FB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4" y="6455949"/>
            <a:ext cx="1209904" cy="40330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CDDDD97-345D-4762-733A-9FE8409DFF93}"/>
              </a:ext>
            </a:extLst>
          </p:cNvPr>
          <p:cNvSpPr txBox="1"/>
          <p:nvPr/>
        </p:nvSpPr>
        <p:spPr>
          <a:xfrm>
            <a:off x="540000" y="630000"/>
            <a:ext cx="6450079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Performance : Size 20 Portfolio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BD84677-AA60-53F1-963A-B083DA4BBC29}"/>
              </a:ext>
            </a:extLst>
          </p:cNvPr>
          <p:cNvSpPr/>
          <p:nvPr/>
        </p:nvSpPr>
        <p:spPr>
          <a:xfrm>
            <a:off x="360000" y="720000"/>
            <a:ext cx="101948" cy="251534"/>
          </a:xfrm>
          <a:prstGeom prst="rect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7104924-5251-77F8-5226-50CDFFB7BB79}"/>
              </a:ext>
            </a:extLst>
          </p:cNvPr>
          <p:cNvGrpSpPr/>
          <p:nvPr/>
        </p:nvGrpSpPr>
        <p:grpSpPr>
          <a:xfrm>
            <a:off x="354602" y="4767166"/>
            <a:ext cx="2625070" cy="1497396"/>
            <a:chOff x="6162530" y="1483938"/>
            <a:chExt cx="2625070" cy="14973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사각형: 잘린 한쪽 모서리 34">
                  <a:extLst>
                    <a:ext uri="{FF2B5EF4-FFF2-40B4-BE49-F238E27FC236}">
                      <a16:creationId xmlns:a16="http://schemas.microsoft.com/office/drawing/2014/main" id="{4EEC407A-D5DA-0A38-43B5-C1F64952BF50}"/>
                    </a:ext>
                  </a:extLst>
                </p:cNvPr>
                <p:cNvSpPr/>
                <p:nvPr/>
              </p:nvSpPr>
              <p:spPr>
                <a:xfrm>
                  <a:off x="6267600" y="1541334"/>
                  <a:ext cx="2520000" cy="1440000"/>
                </a:xfrm>
                <a:prstGeom prst="snip1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:endParaRPr lang="en-US" altLang="ko-KR" sz="12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altLang="ko-KR" sz="2000" b="1" dirty="0">
                      <a:solidFill>
                        <a:srgbClr val="156082"/>
                      </a:solidFill>
                    </a:rPr>
                    <a:t>   38.73%</a:t>
                  </a:r>
                </a:p>
                <a:p>
                  <a:pPr algn="ctr"/>
                  <a:r>
                    <a:rPr lang="en-US" altLang="ko-KR" sz="1200" b="0" dirty="0">
                      <a:solidFill>
                        <a:schemeClr val="tx1"/>
                      </a:solidFill>
                    </a:rPr>
                    <a:t>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최</m:t>
                          </m:r>
                          <m:r>
                            <a:rPr lang="ko-KR" altLang="en-US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종</m:t>
                          </m:r>
                          <m: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자</m:t>
                          </m:r>
                          <m:r>
                            <a:rPr lang="ko-KR" altLang="en-US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산</m:t>
                          </m:r>
                        </m:num>
                        <m:den>
                          <m:r>
                            <a:rPr lang="ko-KR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처</m:t>
                          </m:r>
                          <m:r>
                            <a:rPr lang="ko-KR" altLang="en-US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음</m:t>
                          </m:r>
                          <m: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자</m:t>
                          </m:r>
                          <m:r>
                            <a:rPr lang="ko-KR" altLang="en-US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산</m:t>
                          </m:r>
                        </m:den>
                      </m:f>
                      <m:r>
                        <a:rPr lang="en-US" altLang="ko-K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ko-KR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투</m:t>
                              </m:r>
                              <m:r>
                                <a:rPr lang="ko-KR" altLang="en-US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자</m:t>
                              </m:r>
                              <m:r>
                                <a:rPr lang="ko-KR" altLang="en-US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기</m:t>
                              </m:r>
                              <m:r>
                                <a:rPr lang="ko-KR" altLang="en-US" sz="1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간</m:t>
                              </m:r>
                              <m:d>
                                <m:dPr>
                                  <m:ctrlPr>
                                    <a:rPr lang="en-US" altLang="ko-KR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ko-KR" altLang="en-US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년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a14:m>
                  <a:endParaRPr lang="en-US" altLang="ko-KR" sz="1200" b="0" dirty="0">
                    <a:solidFill>
                      <a:schemeClr val="tx1"/>
                    </a:solidFill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1200" dirty="0">
                      <a:solidFill>
                        <a:schemeClr val="tx1"/>
                      </a:solidFill>
                    </a:rPr>
                    <a:t>:</a:t>
                  </a:r>
                  <a:r>
                    <a:rPr lang="ko-KR" altLang="en-US" sz="1200" dirty="0">
                      <a:solidFill>
                        <a:schemeClr val="tx1"/>
                      </a:solidFill>
                    </a:rPr>
                    <a:t> 연평균 수익률</a:t>
                  </a:r>
                  <a:endParaRPr lang="en-US" altLang="ko-KR" sz="1200" dirty="0">
                    <a:solidFill>
                      <a:schemeClr val="tx1"/>
                    </a:solidFill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ko-KR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사각형: 잘린 한쪽 모서리 34">
                  <a:extLst>
                    <a:ext uri="{FF2B5EF4-FFF2-40B4-BE49-F238E27FC236}">
                      <a16:creationId xmlns:a16="http://schemas.microsoft.com/office/drawing/2014/main" id="{4EEC407A-D5DA-0A38-43B5-C1F64952BF5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7600" y="1541334"/>
                  <a:ext cx="2520000" cy="1440000"/>
                </a:xfrm>
                <a:prstGeom prst="snip1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971EB859-B0D0-B645-EC5A-DAE69263F9CA}"/>
                </a:ext>
              </a:extLst>
            </p:cNvPr>
            <p:cNvSpPr/>
            <p:nvPr/>
          </p:nvSpPr>
          <p:spPr>
            <a:xfrm>
              <a:off x="6162530" y="1483938"/>
              <a:ext cx="1322371" cy="34128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>
                  <a:solidFill>
                    <a:schemeClr val="bg1"/>
                  </a:solidFill>
                </a:rPr>
                <a:t>CAGR</a:t>
              </a:r>
              <a:endParaRPr lang="ko-KR" altLang="en-US" sz="13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5CC780D-F68B-CE27-3C93-94E7E28AAC5A}"/>
              </a:ext>
            </a:extLst>
          </p:cNvPr>
          <p:cNvGrpSpPr/>
          <p:nvPr/>
        </p:nvGrpSpPr>
        <p:grpSpPr>
          <a:xfrm>
            <a:off x="3303521" y="4767166"/>
            <a:ext cx="2634906" cy="1497396"/>
            <a:chOff x="9136709" y="1576127"/>
            <a:chExt cx="2634906" cy="14973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사각형: 잘린 한쪽 모서리 37">
                  <a:extLst>
                    <a:ext uri="{FF2B5EF4-FFF2-40B4-BE49-F238E27FC236}">
                      <a16:creationId xmlns:a16="http://schemas.microsoft.com/office/drawing/2014/main" id="{FA70C94F-E507-0FA3-295B-1D36AB2DDB49}"/>
                    </a:ext>
                  </a:extLst>
                </p:cNvPr>
                <p:cNvSpPr/>
                <p:nvPr/>
              </p:nvSpPr>
              <p:spPr>
                <a:xfrm>
                  <a:off x="9251615" y="1633523"/>
                  <a:ext cx="2520000" cy="1440000"/>
                </a:xfrm>
                <a:prstGeom prst="snip1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b="1" dirty="0">
                      <a:solidFill>
                        <a:srgbClr val="156082"/>
                      </a:solidFill>
                    </a:rPr>
                    <a:t>  </a:t>
                  </a:r>
                </a:p>
                <a:p>
                  <a:pPr algn="ctr"/>
                  <a:r>
                    <a:rPr lang="en-US" altLang="ko-KR" sz="2000" b="1" dirty="0">
                      <a:solidFill>
                        <a:srgbClr val="156082"/>
                      </a:solidFill>
                    </a:rPr>
                    <a:t>1.4383</a:t>
                  </a:r>
                </a:p>
                <a:p>
                  <a:pPr algn="ctr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altLang="ko-KR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altLang="ko-KR" sz="1200" dirty="0">
                    <a:solidFill>
                      <a:schemeClr val="tx1"/>
                    </a:solidFill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ko-KR" altLang="en-US" sz="1200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ko-KR" sz="1200" dirty="0">
                      <a:solidFill>
                        <a:schemeClr val="tx1"/>
                      </a:solidFill>
                    </a:rPr>
                    <a:t>: </a:t>
                  </a:r>
                  <a:r>
                    <a:rPr lang="ko-KR" altLang="en-US" sz="1200" dirty="0">
                      <a:solidFill>
                        <a:schemeClr val="tx1"/>
                      </a:solidFill>
                    </a:rPr>
                    <a:t>위험대비 수익률</a:t>
                  </a:r>
                </a:p>
              </p:txBody>
            </p:sp>
          </mc:Choice>
          <mc:Fallback xmlns="">
            <p:sp>
              <p:nvSpPr>
                <p:cNvPr id="38" name="사각형: 잘린 한쪽 모서리 37">
                  <a:extLst>
                    <a:ext uri="{FF2B5EF4-FFF2-40B4-BE49-F238E27FC236}">
                      <a16:creationId xmlns:a16="http://schemas.microsoft.com/office/drawing/2014/main" id="{FA70C94F-E507-0FA3-295B-1D36AB2DDB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51615" y="1633523"/>
                  <a:ext cx="2520000" cy="1440000"/>
                </a:xfrm>
                <a:prstGeom prst="snip1Rect">
                  <a:avLst/>
                </a:prstGeom>
                <a:blipFill>
                  <a:blip r:embed="rId5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BCD06C21-5D48-A63D-A67C-FD728EBBDB40}"/>
                </a:ext>
              </a:extLst>
            </p:cNvPr>
            <p:cNvSpPr/>
            <p:nvPr/>
          </p:nvSpPr>
          <p:spPr>
            <a:xfrm>
              <a:off x="9136709" y="1576127"/>
              <a:ext cx="1322371" cy="34128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>
                  <a:solidFill>
                    <a:schemeClr val="bg1"/>
                  </a:solidFill>
                </a:rPr>
                <a:t>Sharpe Ratio</a:t>
              </a:r>
              <a:endParaRPr lang="ko-KR" altLang="en-US" sz="13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3ED60819-6D9A-28D1-5F9C-B718785FADF5}"/>
              </a:ext>
            </a:extLst>
          </p:cNvPr>
          <p:cNvGrpSpPr/>
          <p:nvPr/>
        </p:nvGrpSpPr>
        <p:grpSpPr>
          <a:xfrm>
            <a:off x="6262276" y="4767165"/>
            <a:ext cx="2620123" cy="1496834"/>
            <a:chOff x="6571107" y="5086238"/>
            <a:chExt cx="2620123" cy="14968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사각형: 잘린 한쪽 모서리 40">
                  <a:extLst>
                    <a:ext uri="{FF2B5EF4-FFF2-40B4-BE49-F238E27FC236}">
                      <a16:creationId xmlns:a16="http://schemas.microsoft.com/office/drawing/2014/main" id="{0B5A085F-90D5-1972-3CF2-318E3AFED8F2}"/>
                    </a:ext>
                  </a:extLst>
                </p:cNvPr>
                <p:cNvSpPr/>
                <p:nvPr/>
              </p:nvSpPr>
              <p:spPr>
                <a:xfrm>
                  <a:off x="6671230" y="5143072"/>
                  <a:ext cx="2520000" cy="1440000"/>
                </a:xfrm>
                <a:prstGeom prst="snip1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altLang="ko-KR" sz="2000" b="1" dirty="0">
                      <a:solidFill>
                        <a:srgbClr val="156082"/>
                      </a:solidFill>
                    </a:rPr>
                    <a:t>0.2523</a:t>
                  </a:r>
                  <a:endParaRPr lang="en-US" altLang="ko-KR" sz="2000" dirty="0">
                    <a:solidFill>
                      <a:srgbClr val="156082"/>
                    </a:solidFill>
                  </a:endParaRPr>
                </a:p>
                <a:p>
                  <a:pPr algn="ctr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ko-K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𝑚𝑜𝑛𝑡h𝑙𝑦</m:t>
                          </m:r>
                        </m:sub>
                      </m:sSub>
                      <m:r>
                        <a:rPr lang="en-US" altLang="ko-K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ko-KR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e>
                      </m:rad>
                    </m:oMath>
                  </a14:m>
                  <a:r>
                    <a:rPr lang="ko-KR" altLang="en-US" sz="1200" dirty="0">
                      <a:solidFill>
                        <a:schemeClr val="tx1"/>
                      </a:solidFill>
                    </a:rPr>
                    <a:t> </a:t>
                  </a:r>
                  <a:endParaRPr lang="en-US" altLang="ko-KR" sz="1200" dirty="0">
                    <a:solidFill>
                      <a:schemeClr val="tx1"/>
                    </a:solidFill>
                  </a:endParaRPr>
                </a:p>
                <a:p>
                  <a:pPr algn="ctr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𝑚𝑜𝑛𝑡h𝑙𝑦</m:t>
                          </m:r>
                        </m:sub>
                      </m:sSub>
                      <m:r>
                        <a:rPr lang="en-US" altLang="ko-KR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 </m:t>
                      </m:r>
                      <m:r>
                        <a:rPr lang="ko-KR" alt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월</m:t>
                      </m:r>
                    </m:oMath>
                  </a14:m>
                  <a:r>
                    <a:rPr lang="ko-KR" altLang="en-US" sz="1200" dirty="0">
                      <a:solidFill>
                        <a:schemeClr val="tx1"/>
                      </a:solidFill>
                    </a:rPr>
                    <a:t>간수익률 표준편차</a:t>
                  </a:r>
                </a:p>
              </p:txBody>
            </p:sp>
          </mc:Choice>
          <mc:Fallback xmlns="">
            <p:sp>
              <p:nvSpPr>
                <p:cNvPr id="41" name="사각형: 잘린 한쪽 모서리 40">
                  <a:extLst>
                    <a:ext uri="{FF2B5EF4-FFF2-40B4-BE49-F238E27FC236}">
                      <a16:creationId xmlns:a16="http://schemas.microsoft.com/office/drawing/2014/main" id="{0B5A085F-90D5-1972-3CF2-318E3AFED8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1230" y="5143072"/>
                  <a:ext cx="2520000" cy="1440000"/>
                </a:xfrm>
                <a:prstGeom prst="snip1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44AADE8F-502A-540F-A459-661C1181E98D}"/>
                </a:ext>
              </a:extLst>
            </p:cNvPr>
            <p:cNvSpPr/>
            <p:nvPr/>
          </p:nvSpPr>
          <p:spPr>
            <a:xfrm>
              <a:off x="6571107" y="5086238"/>
              <a:ext cx="1322371" cy="34128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>
                  <a:solidFill>
                    <a:schemeClr val="bg1"/>
                  </a:solidFill>
                </a:rPr>
                <a:t>Volatility</a:t>
              </a:r>
              <a:endParaRPr lang="ko-KR" altLang="en-US" sz="13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B069F46-749E-F712-EDAE-1F9419AAFC15}"/>
              </a:ext>
            </a:extLst>
          </p:cNvPr>
          <p:cNvGrpSpPr/>
          <p:nvPr/>
        </p:nvGrpSpPr>
        <p:grpSpPr>
          <a:xfrm>
            <a:off x="9206248" y="4766400"/>
            <a:ext cx="2631150" cy="1497599"/>
            <a:chOff x="9140465" y="4043512"/>
            <a:chExt cx="2631150" cy="1497599"/>
          </a:xfrm>
        </p:grpSpPr>
        <p:sp>
          <p:nvSpPr>
            <p:cNvPr id="44" name="사각형: 잘린 한쪽 모서리 43">
              <a:extLst>
                <a:ext uri="{FF2B5EF4-FFF2-40B4-BE49-F238E27FC236}">
                  <a16:creationId xmlns:a16="http://schemas.microsoft.com/office/drawing/2014/main" id="{27828D9C-B3A9-1B2F-DB25-39090012CF75}"/>
                </a:ext>
              </a:extLst>
            </p:cNvPr>
            <p:cNvSpPr/>
            <p:nvPr/>
          </p:nvSpPr>
          <p:spPr>
            <a:xfrm>
              <a:off x="9251615" y="4101111"/>
              <a:ext cx="2520000" cy="1440000"/>
            </a:xfrm>
            <a:prstGeom prst="snip1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2000" b="1" dirty="0">
                  <a:solidFill>
                    <a:srgbClr val="156082"/>
                  </a:solidFill>
                </a:rPr>
                <a:t> -17.54%</a:t>
              </a:r>
              <a:endParaRPr lang="en-US" altLang="ko-KR" sz="2000" dirty="0">
                <a:solidFill>
                  <a:srgbClr val="156082"/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/>
                  </a:solidFill>
                </a:rPr>
                <a:t>: </a:t>
              </a:r>
              <a:r>
                <a:rPr lang="ko-KR" altLang="en-US" sz="1200" dirty="0">
                  <a:solidFill>
                    <a:schemeClr val="tx1"/>
                  </a:solidFill>
                </a:rPr>
                <a:t>월간 최저 수익률</a:t>
              </a:r>
            </a:p>
            <a:p>
              <a:pPr>
                <a:lnSpc>
                  <a:spcPct val="150000"/>
                </a:lnSpc>
              </a:pP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6215F778-01C0-0985-F5DF-0297ECC03D1D}"/>
                </a:ext>
              </a:extLst>
            </p:cNvPr>
            <p:cNvSpPr/>
            <p:nvPr/>
          </p:nvSpPr>
          <p:spPr>
            <a:xfrm>
              <a:off x="9140465" y="4043512"/>
              <a:ext cx="1322371" cy="34128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>
                  <a:solidFill>
                    <a:schemeClr val="bg1"/>
                  </a:solidFill>
                </a:rPr>
                <a:t>MDD</a:t>
              </a:r>
              <a:endParaRPr lang="ko-KR" altLang="en-US" sz="13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DEBE629-E33C-D832-B4F8-9DDA2D60EB64}"/>
              </a:ext>
            </a:extLst>
          </p:cNvPr>
          <p:cNvGrpSpPr/>
          <p:nvPr/>
        </p:nvGrpSpPr>
        <p:grpSpPr>
          <a:xfrm>
            <a:off x="360000" y="1171990"/>
            <a:ext cx="5472000" cy="311948"/>
            <a:chOff x="360000" y="1171989"/>
            <a:chExt cx="3565389" cy="311949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0B16B83-BCB7-848E-D079-502E5682559A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rgbClr val="215F9A"/>
                  </a:solidFill>
                </a:rPr>
                <a:t>Cumulative Return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883864F1-8C0F-2F62-9A90-D05469B01752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5668D903-4B8A-7829-43AA-999D8702F75D}"/>
              </a:ext>
            </a:extLst>
          </p:cNvPr>
          <p:cNvGrpSpPr/>
          <p:nvPr/>
        </p:nvGrpSpPr>
        <p:grpSpPr>
          <a:xfrm>
            <a:off x="6360002" y="1171990"/>
            <a:ext cx="5472000" cy="311948"/>
            <a:chOff x="360000" y="1171989"/>
            <a:chExt cx="3565389" cy="311949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00116688-F07A-3D29-A9D3-9D5B6192CC6E}"/>
                </a:ext>
              </a:extLst>
            </p:cNvPr>
            <p:cNvSpPr/>
            <p:nvPr/>
          </p:nvSpPr>
          <p:spPr>
            <a:xfrm>
              <a:off x="360000" y="1171989"/>
              <a:ext cx="3242469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rgbClr val="215F9A"/>
                  </a:solidFill>
                </a:rPr>
                <a:t>Cumulative Log Return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F3A01898-ED87-C6E4-469A-F0060827DA1E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그림 6" descr="그래프, 라인, 텍스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EC15B8-928E-213D-5D78-DFF04FC94C06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002" y="1592263"/>
            <a:ext cx="5472000" cy="2916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9FC10BD-E80C-F57F-0090-B41B276901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12" y="1800000"/>
            <a:ext cx="720000" cy="40941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4A9176A-CB7D-8DA5-B8C8-3C150906FD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000" y="1800000"/>
            <a:ext cx="720000" cy="40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128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1BFCB-5C10-45F9-8F8A-DB8A15FC6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F79A16-985A-AC99-ED51-3596A2FB1308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200" y="1591200"/>
            <a:ext cx="5472000" cy="3420000"/>
          </a:xfrm>
          <a:prstGeom prst="rect">
            <a:avLst/>
          </a:prstGeom>
        </p:spPr>
      </p:pic>
      <p:pic>
        <p:nvPicPr>
          <p:cNvPr id="9" name="그림 8" descr="텍스트, 스크린샷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5836BD-D6CD-709F-3842-57CF8A8A1A3B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1591200"/>
            <a:ext cx="5472000" cy="342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DBDE60-F6EC-E15C-EA47-F413C0F0390F}"/>
              </a:ext>
            </a:extLst>
          </p:cNvPr>
          <p:cNvSpPr txBox="1"/>
          <p:nvPr/>
        </p:nvSpPr>
        <p:spPr>
          <a:xfrm rot="10800000" flipV="1">
            <a:off x="360000" y="180000"/>
            <a:ext cx="5149388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200" b="1" dirty="0">
                <a:solidFill>
                  <a:schemeClr val="tx2">
                    <a:lumMod val="75000"/>
                    <a:lumOff val="25000"/>
                    <a:alpha val="50000"/>
                  </a:schemeClr>
                </a:solidFill>
              </a:rPr>
              <a:t>03. </a:t>
            </a:r>
            <a:r>
              <a:rPr lang="en-US" altLang="ko-KR" sz="1200" b="1" dirty="0">
                <a:solidFill>
                  <a:srgbClr val="A7C0D7"/>
                </a:solidFill>
              </a:rPr>
              <a:t>Performance Analysis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09EE9A-07A1-F103-601F-9747D7AF9554}"/>
              </a:ext>
            </a:extLst>
          </p:cNvPr>
          <p:cNvSpPr/>
          <p:nvPr/>
        </p:nvSpPr>
        <p:spPr>
          <a:xfrm>
            <a:off x="360000" y="720000"/>
            <a:ext cx="101948" cy="251534"/>
          </a:xfrm>
          <a:prstGeom prst="rect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pic>
        <p:nvPicPr>
          <p:cNvPr id="2" name="그림 1" descr="텍스트, 폰트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D7BE6A-52B3-B6A1-C1D7-C3FD048276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4" y="6455949"/>
            <a:ext cx="1209904" cy="4033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F83074-FB0F-67F4-9117-FDC5A7ABE7F9}"/>
              </a:ext>
            </a:extLst>
          </p:cNvPr>
          <p:cNvSpPr txBox="1"/>
          <p:nvPr/>
        </p:nvSpPr>
        <p:spPr>
          <a:xfrm>
            <a:off x="540000" y="630000"/>
            <a:ext cx="6450079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Performance : Size 20 Portfolio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F2DA91-E7CF-2DFD-5FDC-05633CDFEA56}"/>
              </a:ext>
            </a:extLst>
          </p:cNvPr>
          <p:cNvSpPr txBox="1"/>
          <p:nvPr/>
        </p:nvSpPr>
        <p:spPr>
          <a:xfrm>
            <a:off x="356089" y="5241600"/>
            <a:ext cx="5472000" cy="888833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Win Rate 61.7%</a:t>
            </a:r>
            <a:r>
              <a:rPr lang="ko-KR" altLang="en-US" sz="1200" dirty="0"/>
              <a:t>로 절반을 상회하나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상∙하방</a:t>
            </a:r>
            <a:r>
              <a:rPr lang="ko-KR" altLang="en-US" sz="1200" dirty="0"/>
              <a:t> 변동성이 크다</a:t>
            </a:r>
            <a:r>
              <a:rPr lang="en-US" altLang="ko-KR" sz="1200" dirty="0"/>
              <a:t>.</a:t>
            </a:r>
            <a:r>
              <a:rPr lang="ko-KR" altLang="en-US" sz="1200" dirty="0"/>
              <a:t>  </a:t>
            </a: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월간 </a:t>
            </a:r>
            <a:r>
              <a:rPr lang="en-US" altLang="ko-KR" sz="1200" dirty="0"/>
              <a:t>10%</a:t>
            </a:r>
            <a:r>
              <a:rPr lang="ko-KR" altLang="en-US" sz="1200" dirty="0"/>
              <a:t>이상 수익 </a:t>
            </a:r>
            <a:r>
              <a:rPr lang="en-US" altLang="ko-KR" sz="1200" dirty="0"/>
              <a:t>16</a:t>
            </a:r>
            <a:r>
              <a:rPr lang="ko-KR" altLang="en-US" sz="1200" dirty="0"/>
              <a:t>회 </a:t>
            </a:r>
            <a:r>
              <a:rPr lang="en-US" altLang="ko-KR" sz="1200" dirty="0"/>
              <a:t>vs 10% </a:t>
            </a:r>
            <a:r>
              <a:rPr lang="ko-KR" altLang="en-US" sz="1200" dirty="0"/>
              <a:t>이상 손실 </a:t>
            </a:r>
            <a:r>
              <a:rPr lang="en-US" altLang="ko-KR" sz="1200" dirty="0"/>
              <a:t>4</a:t>
            </a:r>
            <a:r>
              <a:rPr lang="ko-KR" altLang="en-US" sz="1200" dirty="0"/>
              <a:t>회 </a:t>
            </a:r>
            <a:br>
              <a:rPr lang="en-US" altLang="ko-KR" sz="1200" dirty="0"/>
            </a:br>
            <a:r>
              <a:rPr lang="en-US" altLang="ko-KR" sz="1200" dirty="0">
                <a:sym typeface="Wingdings" panose="05000000000000000000" pitchFamily="2" charset="2"/>
              </a:rPr>
              <a:t> </a:t>
            </a:r>
            <a:r>
              <a:rPr lang="ko-KR" altLang="en-US" sz="1200" b="1" dirty="0">
                <a:sym typeface="Wingdings" panose="05000000000000000000" pitchFamily="2" charset="2"/>
              </a:rPr>
              <a:t>대형 수익 발생빈도가 손실 발생빈도보다 훨씬 많다</a:t>
            </a:r>
            <a:r>
              <a:rPr lang="en-US" altLang="ko-KR" sz="1200" dirty="0">
                <a:sym typeface="Wingdings" panose="05000000000000000000" pitchFamily="2" charset="2"/>
              </a:rPr>
              <a:t>.</a:t>
            </a:r>
            <a:endParaRPr lang="en-US" altLang="ko-KR" sz="1200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9ED87DB-E3BE-CE77-9984-FBDE80750508}"/>
              </a:ext>
            </a:extLst>
          </p:cNvPr>
          <p:cNvGrpSpPr/>
          <p:nvPr/>
        </p:nvGrpSpPr>
        <p:grpSpPr>
          <a:xfrm>
            <a:off x="360000" y="1171990"/>
            <a:ext cx="5472000" cy="311948"/>
            <a:chOff x="360000" y="1171989"/>
            <a:chExt cx="3559479" cy="311949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A29AF803-CB19-1280-BB31-C75BA7F64C7B}"/>
                </a:ext>
              </a:extLst>
            </p:cNvPr>
            <p:cNvSpPr/>
            <p:nvPr/>
          </p:nvSpPr>
          <p:spPr>
            <a:xfrm>
              <a:off x="360000" y="1171989"/>
              <a:ext cx="3497841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rgbClr val="215F9A"/>
                  </a:solidFill>
                </a:rPr>
                <a:t>Monthly Return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957C289E-2B34-CD1F-4552-E6E0D202F597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5947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FC83123-4B7E-5118-4C02-4A86423C9101}"/>
              </a:ext>
            </a:extLst>
          </p:cNvPr>
          <p:cNvGrpSpPr/>
          <p:nvPr/>
        </p:nvGrpSpPr>
        <p:grpSpPr>
          <a:xfrm>
            <a:off x="6361200" y="1171988"/>
            <a:ext cx="5472000" cy="311949"/>
            <a:chOff x="360000" y="1171988"/>
            <a:chExt cx="3565389" cy="31195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F258A94-E1F9-567A-6FA4-7AA65B723FDC}"/>
                </a:ext>
              </a:extLst>
            </p:cNvPr>
            <p:cNvSpPr/>
            <p:nvPr/>
          </p:nvSpPr>
          <p:spPr>
            <a:xfrm>
              <a:off x="360000" y="1171988"/>
              <a:ext cx="3497841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Transaction-cost Adjusted Performance</a:t>
              </a:r>
            </a:p>
          </p:txBody>
        </p: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5EE75D2D-A067-FEC5-A274-17E021DF5981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36621B9-5873-FFAF-8F86-5DE03A727AAF}"/>
              </a:ext>
            </a:extLst>
          </p:cNvPr>
          <p:cNvSpPr txBox="1"/>
          <p:nvPr/>
        </p:nvSpPr>
        <p:spPr>
          <a:xfrm>
            <a:off x="6361200" y="5241600"/>
            <a:ext cx="5365455" cy="887615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H80L30 : </a:t>
            </a:r>
            <a:r>
              <a:rPr lang="ko-KR" altLang="en-US" sz="1200" dirty="0"/>
              <a:t>유동성 하위 </a:t>
            </a:r>
            <a:r>
              <a:rPr lang="en-US" altLang="ko-KR" sz="1200" dirty="0"/>
              <a:t>20% </a:t>
            </a:r>
            <a:r>
              <a:rPr lang="ko-KR" altLang="en-US" sz="1200" dirty="0"/>
              <a:t>종목에 </a:t>
            </a:r>
            <a:r>
              <a:rPr lang="en-US" altLang="ko-KR" sz="1200" dirty="0"/>
              <a:t>80bp, </a:t>
            </a:r>
            <a:r>
              <a:rPr lang="ko-KR" altLang="en-US" sz="1200" dirty="0"/>
              <a:t>그 외 종목에 </a:t>
            </a:r>
            <a:r>
              <a:rPr lang="en-US" altLang="ko-KR" sz="1200" dirty="0"/>
              <a:t>30bp</a:t>
            </a:r>
            <a:r>
              <a:rPr lang="ko-KR" altLang="en-US" sz="1200" dirty="0"/>
              <a:t>의 거래비용</a:t>
            </a:r>
            <a:endParaRPr lang="en-US" altLang="ko-KR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/>
              <a:t>거래비용 차감 후에도 </a:t>
            </a:r>
            <a:r>
              <a:rPr lang="ko-KR" altLang="en-US" sz="1200" b="1" dirty="0"/>
              <a:t>장기 초과성과의 지속성</a:t>
            </a:r>
            <a:r>
              <a:rPr lang="ko-KR" altLang="en-US" sz="1200" dirty="0"/>
              <a:t>은 </a:t>
            </a:r>
            <a:br>
              <a:rPr lang="en-US" altLang="ko-KR" sz="1200" dirty="0"/>
            </a:br>
            <a:r>
              <a:rPr lang="ko-KR" altLang="en-US" sz="1200" dirty="0"/>
              <a:t>전략의 실무 적용 가능성을 뒷받침한다</a:t>
            </a:r>
            <a:r>
              <a:rPr lang="en-US" altLang="ko-KR" sz="1200" dirty="0"/>
              <a:t>.</a:t>
            </a:r>
          </a:p>
        </p:txBody>
      </p:sp>
      <p:sp>
        <p:nvSpPr>
          <p:cNvPr id="35" name="말풍선: 사각형 34">
            <a:extLst>
              <a:ext uri="{FF2B5EF4-FFF2-40B4-BE49-F238E27FC236}">
                <a16:creationId xmlns:a16="http://schemas.microsoft.com/office/drawing/2014/main" id="{004FD7B8-8D05-FC0D-00AA-BE233B20B236}"/>
              </a:ext>
            </a:extLst>
          </p:cNvPr>
          <p:cNvSpPr/>
          <p:nvPr/>
        </p:nvSpPr>
        <p:spPr>
          <a:xfrm>
            <a:off x="4737600" y="3986157"/>
            <a:ext cx="968608" cy="476515"/>
          </a:xfrm>
          <a:prstGeom prst="wedgeRectCallout">
            <a:avLst>
              <a:gd name="adj1" fmla="val -32436"/>
              <a:gd name="adj2" fmla="val -840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Win Rate</a:t>
            </a:r>
          </a:p>
          <a:p>
            <a:pPr algn="ctr"/>
            <a:r>
              <a:rPr lang="en-US" altLang="ko-KR" sz="1200" b="1" dirty="0"/>
              <a:t>69.5 %</a:t>
            </a:r>
            <a:endParaRPr lang="ko-KR" altLang="en-US" sz="1200" b="1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9B6B675-36F8-9CF8-3E21-88B8CC96BA9D}"/>
              </a:ext>
            </a:extLst>
          </p:cNvPr>
          <p:cNvGrpSpPr/>
          <p:nvPr/>
        </p:nvGrpSpPr>
        <p:grpSpPr>
          <a:xfrm>
            <a:off x="6840000" y="1800000"/>
            <a:ext cx="720001" cy="410400"/>
            <a:chOff x="6944659" y="1774800"/>
            <a:chExt cx="720001" cy="4104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A7781F4-08C4-42FC-40CC-1757BF5CF2FA}"/>
                </a:ext>
              </a:extLst>
            </p:cNvPr>
            <p:cNvSpPr/>
            <p:nvPr/>
          </p:nvSpPr>
          <p:spPr>
            <a:xfrm>
              <a:off x="6944659" y="1774800"/>
              <a:ext cx="720001" cy="4104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DBDB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25000"/>
                </a:lnSpc>
              </a:pPr>
              <a:r>
                <a:rPr lang="en-US" altLang="ko-KR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   H0L0</a:t>
              </a:r>
            </a:p>
            <a:p>
              <a:pPr>
                <a:lnSpc>
                  <a:spcPct val="125000"/>
                </a:lnSpc>
              </a:pPr>
              <a:r>
                <a:rPr lang="en-US" altLang="ko-KR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   H80L30</a:t>
              </a:r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DB833C61-83A5-F8E0-D8E7-9C883BC3798A}"/>
                </a:ext>
              </a:extLst>
            </p:cNvPr>
            <p:cNvCxnSpPr>
              <a:cxnSpLocks/>
            </p:cNvCxnSpPr>
            <p:nvPr/>
          </p:nvCxnSpPr>
          <p:spPr>
            <a:xfrm>
              <a:off x="6996800" y="1907988"/>
              <a:ext cx="144000" cy="0"/>
            </a:xfrm>
            <a:prstGeom prst="line">
              <a:avLst/>
            </a:prstGeom>
            <a:ln w="25400">
              <a:solidFill>
                <a:srgbClr val="FF7F0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8796C0E0-384D-ED78-7E01-6A10DF80FE1C}"/>
                </a:ext>
              </a:extLst>
            </p:cNvPr>
            <p:cNvCxnSpPr>
              <a:cxnSpLocks/>
            </p:cNvCxnSpPr>
            <p:nvPr/>
          </p:nvCxnSpPr>
          <p:spPr>
            <a:xfrm>
              <a:off x="6996800" y="2060388"/>
              <a:ext cx="144000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62432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977EB-42FA-6391-DF9B-AAA8C025E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EE019F52-9D85-8A09-BB94-E5EFB07FA28D}"/>
              </a:ext>
            </a:extLst>
          </p:cNvPr>
          <p:cNvSpPr/>
          <p:nvPr/>
        </p:nvSpPr>
        <p:spPr>
          <a:xfrm>
            <a:off x="486984" y="1294605"/>
            <a:ext cx="5400000" cy="4646810"/>
          </a:xfrm>
          <a:prstGeom prst="roundRect">
            <a:avLst>
              <a:gd name="adj" fmla="val 5260"/>
            </a:avLst>
          </a:prstGeom>
          <a:solidFill>
            <a:srgbClr val="EFF9FF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6A654A01-EA1A-D1B6-CE9F-6D03D737D24F}"/>
              </a:ext>
            </a:extLst>
          </p:cNvPr>
          <p:cNvSpPr/>
          <p:nvPr/>
        </p:nvSpPr>
        <p:spPr>
          <a:xfrm>
            <a:off x="6305018" y="1294605"/>
            <a:ext cx="5400000" cy="4646810"/>
          </a:xfrm>
          <a:prstGeom prst="roundRect">
            <a:avLst>
              <a:gd name="adj" fmla="val 5677"/>
            </a:avLst>
          </a:prstGeom>
          <a:solidFill>
            <a:srgbClr val="EFF9FF">
              <a:alpha val="99000"/>
            </a:srgb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B7FF90-77ED-863F-4A70-64535B53FFE3}"/>
              </a:ext>
            </a:extLst>
          </p:cNvPr>
          <p:cNvSpPr txBox="1"/>
          <p:nvPr/>
        </p:nvSpPr>
        <p:spPr>
          <a:xfrm rot="10800000" flipV="1">
            <a:off x="360000" y="180000"/>
            <a:ext cx="5149388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200" b="1" dirty="0">
                <a:solidFill>
                  <a:schemeClr val="tx2">
                    <a:lumMod val="75000"/>
                    <a:lumOff val="25000"/>
                    <a:alpha val="50000"/>
                  </a:schemeClr>
                </a:solidFill>
              </a:rPr>
              <a:t>03. </a:t>
            </a:r>
            <a:r>
              <a:rPr lang="en-US" altLang="ko-KR" sz="1200" b="1" dirty="0">
                <a:solidFill>
                  <a:srgbClr val="A7C0D7"/>
                </a:solidFill>
              </a:rPr>
              <a:t>Performance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981430-6BB8-81EF-CF41-60347022DB15}"/>
              </a:ext>
            </a:extLst>
          </p:cNvPr>
          <p:cNvSpPr txBox="1"/>
          <p:nvPr/>
        </p:nvSpPr>
        <p:spPr>
          <a:xfrm>
            <a:off x="540000" y="630000"/>
            <a:ext cx="3836057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Annual Performance Summary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398B3E0-E75C-2D88-9885-2CF737D9316F}"/>
              </a:ext>
            </a:extLst>
          </p:cNvPr>
          <p:cNvSpPr/>
          <p:nvPr/>
        </p:nvSpPr>
        <p:spPr>
          <a:xfrm>
            <a:off x="360000" y="720000"/>
            <a:ext cx="101948" cy="251534"/>
          </a:xfrm>
          <a:prstGeom prst="rect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FD92D07F-AC5D-6A6D-6CB8-4B49EF016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565505"/>
              </p:ext>
            </p:extLst>
          </p:nvPr>
        </p:nvGraphicFramePr>
        <p:xfrm>
          <a:off x="720855" y="1715593"/>
          <a:ext cx="4932258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109235451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650404156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619700530"/>
                    </a:ext>
                  </a:extLst>
                </a:gridCol>
                <a:gridCol w="1188258">
                  <a:extLst>
                    <a:ext uri="{9D8B030D-6E8A-4147-A177-3AD203B41FA5}">
                      <a16:colId xmlns:a16="http://schemas.microsoft.com/office/drawing/2014/main" val="1476013585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82523945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Year 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Return(%)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Sharpe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Drawdown(%)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Vol(%)</a:t>
                      </a:r>
                      <a:endParaRPr lang="ko-KR" altLang="en-US" sz="1200" dirty="0"/>
                    </a:p>
                  </a:txBody>
                  <a:tcPr marT="72000"/>
                </a:tc>
                <a:extLst>
                  <a:ext uri="{0D108BD9-81ED-4DB2-BD59-A6C34878D82A}">
                    <a16:rowId xmlns:a16="http://schemas.microsoft.com/office/drawing/2014/main" val="392472318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2025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0.1259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3.7834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-0.35%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0.0316</a:t>
                      </a:r>
                      <a:endParaRPr lang="ko-KR" altLang="en-US" sz="1200" dirty="0"/>
                    </a:p>
                  </a:txBody>
                  <a:tcPr marT="72000"/>
                </a:tc>
                <a:extLst>
                  <a:ext uri="{0D108BD9-81ED-4DB2-BD59-A6C34878D82A}">
                    <a16:rowId xmlns:a16="http://schemas.microsoft.com/office/drawing/2014/main" val="16561938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2024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0.1262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3.9245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-0.18%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0.0305</a:t>
                      </a:r>
                      <a:endParaRPr lang="ko-KR" altLang="en-US" sz="1200" dirty="0"/>
                    </a:p>
                  </a:txBody>
                  <a:tcPr marT="72000"/>
                </a:tc>
                <a:extLst>
                  <a:ext uri="{0D108BD9-81ED-4DB2-BD59-A6C34878D82A}">
                    <a16:rowId xmlns:a16="http://schemas.microsoft.com/office/drawing/2014/main" val="161544248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2023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0.0777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1.2754</a:t>
                      </a:r>
                      <a:endParaRPr lang="ko-KR" altLang="en-US" sz="1200" b="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-2.74%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0.0596</a:t>
                      </a:r>
                      <a:endParaRPr lang="ko-KR" altLang="en-US" sz="1200" dirty="0"/>
                    </a:p>
                  </a:txBody>
                  <a:tcPr marT="72000"/>
                </a:tc>
                <a:extLst>
                  <a:ext uri="{0D108BD9-81ED-4DB2-BD59-A6C34878D82A}">
                    <a16:rowId xmlns:a16="http://schemas.microsoft.com/office/drawing/2014/main" val="3732850696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2022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0.1655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4.4703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0%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0.0346</a:t>
                      </a:r>
                      <a:endParaRPr lang="ko-KR" altLang="en-US" sz="1200" dirty="0"/>
                    </a:p>
                  </a:txBody>
                  <a:tcPr marT="72000"/>
                </a:tc>
                <a:extLst>
                  <a:ext uri="{0D108BD9-81ED-4DB2-BD59-A6C34878D82A}">
                    <a16:rowId xmlns:a16="http://schemas.microsoft.com/office/drawing/2014/main" val="462350457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2021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0.1624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3.3086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-1.28%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0.0461</a:t>
                      </a:r>
                      <a:endParaRPr lang="ko-KR" altLang="en-US" sz="1200" dirty="0"/>
                    </a:p>
                  </a:txBody>
                  <a:tcPr marT="72000"/>
                </a:tc>
                <a:extLst>
                  <a:ext uri="{0D108BD9-81ED-4DB2-BD59-A6C34878D82A}">
                    <a16:rowId xmlns:a16="http://schemas.microsoft.com/office/drawing/2014/main" val="274623406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2020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0.1541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4.0467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-0.43%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0.0358</a:t>
                      </a:r>
                      <a:endParaRPr lang="ko-KR" altLang="en-US" sz="1200" dirty="0"/>
                    </a:p>
                  </a:txBody>
                  <a:tcPr marT="72000"/>
                </a:tc>
                <a:extLst>
                  <a:ext uri="{0D108BD9-81ED-4DB2-BD59-A6C34878D82A}">
                    <a16:rowId xmlns:a16="http://schemas.microsoft.com/office/drawing/2014/main" val="118991905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2019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0.1221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6.3395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0%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0.0183</a:t>
                      </a:r>
                      <a:endParaRPr lang="ko-KR" altLang="en-US" sz="1200" dirty="0"/>
                    </a:p>
                  </a:txBody>
                  <a:tcPr marT="72000"/>
                </a:tc>
                <a:extLst>
                  <a:ext uri="{0D108BD9-81ED-4DB2-BD59-A6C34878D82A}">
                    <a16:rowId xmlns:a16="http://schemas.microsoft.com/office/drawing/2014/main" val="1775994069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2018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0.1876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3.4328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-0.93%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0.0508</a:t>
                      </a:r>
                      <a:endParaRPr lang="ko-KR" altLang="en-US" sz="1200" dirty="0"/>
                    </a:p>
                  </a:txBody>
                  <a:tcPr marT="72000"/>
                </a:tc>
                <a:extLst>
                  <a:ext uri="{0D108BD9-81ED-4DB2-BD59-A6C34878D82A}">
                    <a16:rowId xmlns:a16="http://schemas.microsoft.com/office/drawing/2014/main" val="4190898347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2017</a:t>
                      </a:r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0.1452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3.1745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-1.25%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0.0432</a:t>
                      </a:r>
                      <a:endParaRPr lang="ko-KR" altLang="en-US" sz="1200" dirty="0"/>
                    </a:p>
                  </a:txBody>
                  <a:tcPr marT="72000"/>
                </a:tc>
                <a:extLst>
                  <a:ext uri="{0D108BD9-81ED-4DB2-BD59-A6C34878D82A}">
                    <a16:rowId xmlns:a16="http://schemas.microsoft.com/office/drawing/2014/main" val="3608539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2016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0.1217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5.3941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-0.011%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0.0214</a:t>
                      </a:r>
                      <a:endParaRPr lang="ko-KR" altLang="en-US" sz="1200" dirty="0"/>
                    </a:p>
                  </a:txBody>
                  <a:tcPr marT="72000"/>
                </a:tc>
                <a:extLst>
                  <a:ext uri="{0D108BD9-81ED-4DB2-BD59-A6C34878D82A}">
                    <a16:rowId xmlns:a16="http://schemas.microsoft.com/office/drawing/2014/main" val="3395688376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2015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0.228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7.5365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0%</a:t>
                      </a:r>
                      <a:endParaRPr lang="ko-KR" altLang="en-US" sz="1200" dirty="0"/>
                    </a:p>
                  </a:txBody>
                  <a:tcPr marT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0.0275</a:t>
                      </a:r>
                      <a:endParaRPr lang="ko-KR" altLang="en-US" sz="1200" dirty="0"/>
                    </a:p>
                  </a:txBody>
                  <a:tcPr marT="72000"/>
                </a:tc>
                <a:extLst>
                  <a:ext uri="{0D108BD9-81ED-4DB2-BD59-A6C34878D82A}">
                    <a16:rowId xmlns:a16="http://schemas.microsoft.com/office/drawing/2014/main" val="218947708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A6911409-6B13-587B-6A92-E6D4F83A8613}"/>
              </a:ext>
            </a:extLst>
          </p:cNvPr>
          <p:cNvSpPr txBox="1"/>
          <p:nvPr/>
        </p:nvSpPr>
        <p:spPr>
          <a:xfrm>
            <a:off x="8313670" y="1369073"/>
            <a:ext cx="1387858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i="1" dirty="0"/>
              <a:t>Size 20 Portfolio</a:t>
            </a:r>
            <a:endParaRPr lang="ko-KR" altLang="en-US" sz="1200" b="1" i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DA865A2-FBEE-755B-AAC8-8FD3DEB6AE79}"/>
              </a:ext>
            </a:extLst>
          </p:cNvPr>
          <p:cNvSpPr txBox="1"/>
          <p:nvPr/>
        </p:nvSpPr>
        <p:spPr>
          <a:xfrm>
            <a:off x="2230166" y="1382254"/>
            <a:ext cx="1913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i="1" dirty="0"/>
              <a:t>Long-Short Portfolio</a:t>
            </a:r>
            <a:endParaRPr lang="ko-KR" altLang="en-US" sz="1200" b="1" i="1" dirty="0"/>
          </a:p>
        </p:txBody>
      </p:sp>
      <p:pic>
        <p:nvPicPr>
          <p:cNvPr id="5" name="그림 4" descr="텍스트, 폰트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FD850A-A95D-629A-D645-9426CC40F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4" y="6455949"/>
            <a:ext cx="1209904" cy="4033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D71949-DD77-B7B7-68D5-E1362532C849}"/>
              </a:ext>
            </a:extLst>
          </p:cNvPr>
          <p:cNvSpPr txBox="1"/>
          <p:nvPr/>
        </p:nvSpPr>
        <p:spPr>
          <a:xfrm>
            <a:off x="461948" y="6073464"/>
            <a:ext cx="39308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*) </a:t>
            </a:r>
            <a:r>
              <a:rPr lang="ko-KR" altLang="en-US" sz="1000" dirty="0"/>
              <a:t>월별 수익률 기준이므로 일별로 </a:t>
            </a:r>
            <a:r>
              <a:rPr lang="ko-KR" altLang="en-US" sz="1000" dirty="0" err="1"/>
              <a:t>계산시</a:t>
            </a:r>
            <a:r>
              <a:rPr lang="ko-KR" altLang="en-US" sz="1000" dirty="0"/>
              <a:t> </a:t>
            </a:r>
            <a:r>
              <a:rPr lang="en-US" altLang="ko-KR" sz="1000" dirty="0"/>
              <a:t>MDD</a:t>
            </a:r>
            <a:r>
              <a:rPr lang="ko-KR" altLang="en-US" sz="1000" dirty="0"/>
              <a:t>가 달라질 수 있음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D229237-98C2-868B-EC80-55A52D522A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772413"/>
              </p:ext>
            </p:extLst>
          </p:nvPr>
        </p:nvGraphicFramePr>
        <p:xfrm>
          <a:off x="6539017" y="1715593"/>
          <a:ext cx="4932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109235451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650404156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619700530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1476013585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164657717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Year 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Return(%)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Sharpe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Drawdown(%)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Vol(%)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72318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2025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0.5784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1.7715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-3.33%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0.28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1938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-0.1176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-1.1662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-4.51%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0.1026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44248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0.1521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0.7381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-9.14%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0.2238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850696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-0.0139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0.1264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-16.04%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0.3508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350457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0.3633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1.5989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-6.8%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0.2086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23406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2020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0.7952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2.0038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-9.53%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0.3215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91905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2019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0.473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1.8529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-10.17%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0.2249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1838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2018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0.4012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1.2401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-17.54%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0.3131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7812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2017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0.1424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0.8069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-7.7%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0.1855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249726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2016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0.5416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2.366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-6.93%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0.1933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50628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2015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1.6574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5.0113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-5.92%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0.2069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276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8033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1AEF2-2F61-7146-6BD5-848058EF7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그래프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2DF86D-3EA3-46B4-B49C-3EA028443DF0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1591200"/>
            <a:ext cx="5472000" cy="234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8219D2-BC70-BCA6-0CF0-5C80B183BCF5}"/>
              </a:ext>
            </a:extLst>
          </p:cNvPr>
          <p:cNvSpPr txBox="1"/>
          <p:nvPr/>
        </p:nvSpPr>
        <p:spPr>
          <a:xfrm>
            <a:off x="540000" y="630000"/>
            <a:ext cx="3836057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Performance Summary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0B32A18-2CEB-BBC9-A18F-1B6B04CD558E}"/>
              </a:ext>
            </a:extLst>
          </p:cNvPr>
          <p:cNvSpPr/>
          <p:nvPr/>
        </p:nvSpPr>
        <p:spPr>
          <a:xfrm>
            <a:off x="360000" y="720000"/>
            <a:ext cx="101948" cy="251534"/>
          </a:xfrm>
          <a:prstGeom prst="rect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pic>
        <p:nvPicPr>
          <p:cNvPr id="5" name="그림 4" descr="텍스트, 폰트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77FA24-2286-8C74-F298-6E1022BCC5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4" y="6455949"/>
            <a:ext cx="1209904" cy="4033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3BB2AD-6071-B701-A92D-454147B75BFB}"/>
              </a:ext>
            </a:extLst>
          </p:cNvPr>
          <p:cNvSpPr txBox="1">
            <a:spLocks/>
          </p:cNvSpPr>
          <p:nvPr/>
        </p:nvSpPr>
        <p:spPr>
          <a:xfrm rot="10800000" flipV="1">
            <a:off x="360000" y="180000"/>
            <a:ext cx="4644204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200" b="1" dirty="0">
                <a:solidFill>
                  <a:schemeClr val="tx2">
                    <a:lumMod val="75000"/>
                    <a:lumOff val="25000"/>
                    <a:alpha val="50000"/>
                  </a:schemeClr>
                </a:solidFill>
              </a:rPr>
              <a:t>04. Conclusion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6ED94E5-B12B-818B-28B9-AE2813924B0B}"/>
              </a:ext>
            </a:extLst>
          </p:cNvPr>
          <p:cNvGrpSpPr/>
          <p:nvPr/>
        </p:nvGrpSpPr>
        <p:grpSpPr>
          <a:xfrm>
            <a:off x="360000" y="1160463"/>
            <a:ext cx="5472000" cy="311949"/>
            <a:chOff x="360000" y="1171988"/>
            <a:chExt cx="3565389" cy="31195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307904D-5533-E6D1-B1F0-ED0AB982269D}"/>
                </a:ext>
              </a:extLst>
            </p:cNvPr>
            <p:cNvSpPr/>
            <p:nvPr/>
          </p:nvSpPr>
          <p:spPr>
            <a:xfrm>
              <a:off x="360000" y="1171988"/>
              <a:ext cx="3497841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rgbClr val="215F9A"/>
                  </a:solidFill>
                </a:rPr>
                <a:t>Cumulative Returns &amp; Cumulative Log Returns 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BD3BCB38-BDA0-BD5C-3113-F9C4C2B55CF5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A24CE3D-C5E5-C5C3-48D0-9C85EB399CA3}"/>
              </a:ext>
            </a:extLst>
          </p:cNvPr>
          <p:cNvGrpSpPr/>
          <p:nvPr/>
        </p:nvGrpSpPr>
        <p:grpSpPr>
          <a:xfrm>
            <a:off x="6361200" y="1171988"/>
            <a:ext cx="5472000" cy="311949"/>
            <a:chOff x="360000" y="1171988"/>
            <a:chExt cx="3565389" cy="31195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55DAFA8-73FA-4822-3906-D68A7AD0D7DE}"/>
                </a:ext>
              </a:extLst>
            </p:cNvPr>
            <p:cNvSpPr/>
            <p:nvPr/>
          </p:nvSpPr>
          <p:spPr>
            <a:xfrm>
              <a:off x="360000" y="1171988"/>
              <a:ext cx="3497841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rgbClr val="215F9A"/>
                  </a:solidFill>
                </a:rPr>
                <a:t>Sharpe Ratio &amp; MDD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08F69861-E0D7-26FC-D9DD-1BB69020821E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243A4F3-9D4B-EE01-3ED1-2B9642CD91BD}"/>
              </a:ext>
            </a:extLst>
          </p:cNvPr>
          <p:cNvSpPr/>
          <p:nvPr/>
        </p:nvSpPr>
        <p:spPr>
          <a:xfrm>
            <a:off x="6361200" y="4452877"/>
            <a:ext cx="5472000" cy="1855848"/>
          </a:xfrm>
          <a:prstGeom prst="rect">
            <a:avLst/>
          </a:prstGeom>
          <a:noFill/>
          <a:ln w="22225">
            <a:solidFill>
              <a:srgbClr val="CBDBE3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000" bIns="108000"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세 포트폴리오 모두 백테스트 기간 중 코스피를 상회하는 수익률을 보인다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특히 소형주 결합 포트폴리오는 </a:t>
            </a:r>
            <a:r>
              <a:rPr lang="en-US" altLang="ko-KR" sz="1200" dirty="0">
                <a:solidFill>
                  <a:schemeClr val="tx1"/>
                </a:solidFill>
              </a:rPr>
              <a:t>CAGR 38.73%</a:t>
            </a:r>
            <a:r>
              <a:rPr lang="ko-KR" altLang="en-US" sz="1200" dirty="0">
                <a:solidFill>
                  <a:schemeClr val="tx1"/>
                </a:solidFill>
              </a:rPr>
              <a:t>로 독보적 수익률을 보인다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5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세 포트폴리오 모두 백테스트 기간 중 코스피보다 낮은 </a:t>
            </a:r>
            <a:r>
              <a:rPr lang="en-US" altLang="ko-KR" sz="1200" dirty="0">
                <a:solidFill>
                  <a:schemeClr val="tx1"/>
                </a:solidFill>
              </a:rPr>
              <a:t>MDD</a:t>
            </a:r>
            <a:r>
              <a:rPr lang="ko-KR" altLang="en-US" sz="1200" dirty="0">
                <a:solidFill>
                  <a:schemeClr val="tx1"/>
                </a:solidFill>
              </a:rPr>
              <a:t>를 기록했다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롱</a:t>
            </a:r>
            <a:r>
              <a:rPr lang="en-US" altLang="ko-KR" sz="1200" dirty="0">
                <a:solidFill>
                  <a:schemeClr val="tx1"/>
                </a:solidFill>
              </a:rPr>
              <a:t>-</a:t>
            </a:r>
            <a:r>
              <a:rPr lang="ko-KR" altLang="en-US" sz="1200" dirty="0">
                <a:solidFill>
                  <a:schemeClr val="tx1"/>
                </a:solidFill>
              </a:rPr>
              <a:t>숏 포트폴리오의 연환산변동성은 </a:t>
            </a:r>
            <a:r>
              <a:rPr lang="en-US" altLang="ko-KR" sz="1200" b="1" dirty="0">
                <a:solidFill>
                  <a:schemeClr val="tx1"/>
                </a:solidFill>
              </a:rPr>
              <a:t>3.75%</a:t>
            </a:r>
            <a:r>
              <a:rPr lang="ko-KR" altLang="en-US" sz="1200" dirty="0">
                <a:solidFill>
                  <a:schemeClr val="tx1"/>
                </a:solidFill>
              </a:rPr>
              <a:t>로 안정적인 수익률을 보장하며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샤프 비율이 </a:t>
            </a:r>
            <a:r>
              <a:rPr lang="en-US" altLang="ko-KR" sz="1200" b="1" dirty="0">
                <a:solidFill>
                  <a:schemeClr val="tx1"/>
                </a:solidFill>
              </a:rPr>
              <a:t>3.686</a:t>
            </a:r>
            <a:r>
              <a:rPr lang="ko-KR" altLang="en-US" sz="1200" dirty="0">
                <a:solidFill>
                  <a:schemeClr val="tx1"/>
                </a:solidFill>
              </a:rPr>
              <a:t>으로 매우 높아 위험 대비 탁월한 성과를 보여준다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</a:rPr>
              <a:t>→ </a:t>
            </a:r>
            <a:r>
              <a:rPr lang="ko-KR" altLang="en-US" sz="1200" b="1" dirty="0">
                <a:solidFill>
                  <a:schemeClr val="tx1"/>
                </a:solidFill>
              </a:rPr>
              <a:t>리스크 관리가 중요한 기관투자자에게 적합한 포트폴리오임을 시사한다</a:t>
            </a:r>
            <a:r>
              <a:rPr lang="en-US" altLang="ko-KR" sz="1200" b="1" dirty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0191B4B6-D225-3115-5250-422FB599C082}"/>
              </a:ext>
            </a:extLst>
          </p:cNvPr>
          <p:cNvSpPr/>
          <p:nvPr/>
        </p:nvSpPr>
        <p:spPr>
          <a:xfrm flipV="1">
            <a:off x="8191256" y="4107379"/>
            <a:ext cx="1800000" cy="178182"/>
          </a:xfrm>
          <a:prstGeom prst="triangle">
            <a:avLst/>
          </a:prstGeom>
          <a:gradFill>
            <a:gsLst>
              <a:gs pos="80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76000"/>
                  <a:lumOff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B4D642FA-41EB-FAE9-A01C-A5B0A763F3B8}"/>
              </a:ext>
            </a:extLst>
          </p:cNvPr>
          <p:cNvSpPr/>
          <p:nvPr/>
        </p:nvSpPr>
        <p:spPr>
          <a:xfrm rot="16200000" flipV="1">
            <a:off x="5186169" y="5299970"/>
            <a:ext cx="1800000" cy="178182"/>
          </a:xfrm>
          <a:prstGeom prst="triangle">
            <a:avLst/>
          </a:prstGeom>
          <a:gradFill>
            <a:gsLst>
              <a:gs pos="8000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76000"/>
                  <a:lumOff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FDF169E4-DF6B-881D-F471-221D9E92C6CF}"/>
                  </a:ext>
                </a:extLst>
              </p14:cNvPr>
              <p14:cNvContentPartPr/>
              <p14:nvPr/>
            </p14:nvContentPartPr>
            <p14:xfrm>
              <a:off x="3467113" y="1595213"/>
              <a:ext cx="86040" cy="1296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FDF169E4-DF6B-881D-F471-221D9E92C6C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62793" y="1590893"/>
                <a:ext cx="9468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248B99C0-D9B2-7088-EFFC-21A07F7E56E2}"/>
                  </a:ext>
                </a:extLst>
              </p14:cNvPr>
              <p14:cNvContentPartPr/>
              <p14:nvPr/>
            </p14:nvContentPartPr>
            <p14:xfrm>
              <a:off x="4423993" y="1580453"/>
              <a:ext cx="92880" cy="23400"/>
            </p14:xfrm>
          </p:contentPart>
        </mc:Choice>
        <mc:Fallback xmlns=""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248B99C0-D9B2-7088-EFFC-21A07F7E56E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19673" y="1576133"/>
                <a:ext cx="10152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B541CD09-E4C1-7726-C416-0DA75C8E440C}"/>
                  </a:ext>
                </a:extLst>
              </p14:cNvPr>
              <p14:cNvContentPartPr/>
              <p14:nvPr/>
            </p14:nvContentPartPr>
            <p14:xfrm>
              <a:off x="3078673" y="1586933"/>
              <a:ext cx="60840" cy="1224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B541CD09-E4C1-7726-C416-0DA75C8E440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74353" y="1582613"/>
                <a:ext cx="6948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그룹 23">
            <a:extLst>
              <a:ext uri="{FF2B5EF4-FFF2-40B4-BE49-F238E27FC236}">
                <a16:creationId xmlns:a16="http://schemas.microsoft.com/office/drawing/2014/main" id="{77043EE7-4E5F-6B82-9900-085432E8773A}"/>
              </a:ext>
            </a:extLst>
          </p:cNvPr>
          <p:cNvGrpSpPr/>
          <p:nvPr/>
        </p:nvGrpSpPr>
        <p:grpSpPr>
          <a:xfrm>
            <a:off x="6361200" y="1591200"/>
            <a:ext cx="5465373" cy="2411028"/>
            <a:chOff x="6382747" y="1591200"/>
            <a:chExt cx="5465373" cy="2411028"/>
          </a:xfrm>
        </p:grpSpPr>
        <p:pic>
          <p:nvPicPr>
            <p:cNvPr id="27" name="그림 26" descr="텍스트, 스크린샷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58B8C78-9D3B-D298-ECA9-813C5F330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82747" y="1591200"/>
              <a:ext cx="2736000" cy="2411028"/>
            </a:xfrm>
            <a:prstGeom prst="rect">
              <a:avLst/>
            </a:prstGeom>
          </p:spPr>
        </p:pic>
        <p:pic>
          <p:nvPicPr>
            <p:cNvPr id="29" name="그림 28" descr="텍스트, 스크린샷, 번호, 도표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C7804F8-842E-53F3-A16D-50F633F39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12120" y="1591200"/>
              <a:ext cx="2736000" cy="2411027"/>
            </a:xfrm>
            <a:prstGeom prst="rect">
              <a:avLst/>
            </a:prstGeom>
          </p:spPr>
        </p:pic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208C71B-AD64-0F7D-2308-5704FEDF9494}"/>
              </a:ext>
            </a:extLst>
          </p:cNvPr>
          <p:cNvGrpSpPr/>
          <p:nvPr/>
        </p:nvGrpSpPr>
        <p:grpSpPr>
          <a:xfrm>
            <a:off x="759759" y="1775012"/>
            <a:ext cx="720001" cy="645459"/>
            <a:chOff x="759759" y="1775012"/>
            <a:chExt cx="720001" cy="645459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A04FF3C-DAA8-3104-8C0B-EF7C99112D1C}"/>
                </a:ext>
              </a:extLst>
            </p:cNvPr>
            <p:cNvSpPr/>
            <p:nvPr/>
          </p:nvSpPr>
          <p:spPr>
            <a:xfrm>
              <a:off x="759759" y="1775012"/>
              <a:ext cx="720001" cy="64545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DBDB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</a:pPr>
              <a:r>
                <a:rPr lang="en-US" altLang="ko-KR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  Size 20</a:t>
              </a:r>
            </a:p>
            <a:p>
              <a:pPr algn="ctr">
                <a:lnSpc>
                  <a:spcPct val="125000"/>
                </a:lnSpc>
              </a:pPr>
              <a:r>
                <a:rPr lang="en-US" altLang="ko-KR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Basic</a:t>
              </a:r>
            </a:p>
            <a:p>
              <a:pPr>
                <a:lnSpc>
                  <a:spcPct val="125000"/>
                </a:lnSpc>
              </a:pPr>
              <a:r>
                <a:rPr lang="en-US" altLang="ko-KR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   L/S</a:t>
              </a:r>
            </a:p>
            <a:p>
              <a:pPr algn="ctr">
                <a:lnSpc>
                  <a:spcPct val="125000"/>
                </a:lnSpc>
              </a:pPr>
              <a:r>
                <a:rPr lang="en-US" altLang="ko-KR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Kospi</a:t>
              </a:r>
              <a:endParaRPr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4EBF254A-9534-4885-E7FD-D6AB8FAACFEC}"/>
                </a:ext>
              </a:extLst>
            </p:cNvPr>
            <p:cNvCxnSpPr>
              <a:cxnSpLocks/>
            </p:cNvCxnSpPr>
            <p:nvPr/>
          </p:nvCxnSpPr>
          <p:spPr>
            <a:xfrm>
              <a:off x="804674" y="1882588"/>
              <a:ext cx="144000" cy="0"/>
            </a:xfrm>
            <a:prstGeom prst="line">
              <a:avLst/>
            </a:prstGeom>
            <a:ln w="31750">
              <a:solidFill>
                <a:srgbClr val="FF7F0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6086DF20-4876-9EF8-8737-BA26CF89F059}"/>
                </a:ext>
              </a:extLst>
            </p:cNvPr>
            <p:cNvCxnSpPr>
              <a:cxnSpLocks/>
            </p:cNvCxnSpPr>
            <p:nvPr/>
          </p:nvCxnSpPr>
          <p:spPr>
            <a:xfrm>
              <a:off x="804674" y="2031815"/>
              <a:ext cx="144000" cy="0"/>
            </a:xfrm>
            <a:prstGeom prst="line">
              <a:avLst/>
            </a:prstGeom>
            <a:ln w="31750">
              <a:solidFill>
                <a:srgbClr val="1F77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8355DACF-238D-1F07-50BC-B3F60CB9F104}"/>
                </a:ext>
              </a:extLst>
            </p:cNvPr>
            <p:cNvCxnSpPr>
              <a:cxnSpLocks/>
            </p:cNvCxnSpPr>
            <p:nvPr/>
          </p:nvCxnSpPr>
          <p:spPr>
            <a:xfrm>
              <a:off x="804674" y="2181042"/>
              <a:ext cx="144000" cy="0"/>
            </a:xfrm>
            <a:prstGeom prst="line">
              <a:avLst/>
            </a:prstGeom>
            <a:ln w="31750">
              <a:solidFill>
                <a:srgbClr val="2CA0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30419400-DC86-F706-73FC-EA4BC70D5C9C}"/>
                </a:ext>
              </a:extLst>
            </p:cNvPr>
            <p:cNvCxnSpPr>
              <a:cxnSpLocks/>
            </p:cNvCxnSpPr>
            <p:nvPr/>
          </p:nvCxnSpPr>
          <p:spPr>
            <a:xfrm>
              <a:off x="804674" y="2330268"/>
              <a:ext cx="144000" cy="0"/>
            </a:xfrm>
            <a:prstGeom prst="line">
              <a:avLst/>
            </a:prstGeom>
            <a:ln w="31750">
              <a:solidFill>
                <a:srgbClr val="D6272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그림 15" descr="그래프, 텍스트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916044-B00C-31A2-680D-808A10DC59BE}"/>
              </a:ext>
            </a:extLst>
          </p:cNvPr>
          <p:cNvPicPr preferRelativeResize="0"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968725"/>
            <a:ext cx="5472000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296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1D088-A11C-DC74-4C7A-A6DEB8202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0BB6763-6BCE-F162-5DCB-FE5CF26FD9D1}"/>
              </a:ext>
            </a:extLst>
          </p:cNvPr>
          <p:cNvSpPr txBox="1"/>
          <p:nvPr/>
        </p:nvSpPr>
        <p:spPr>
          <a:xfrm>
            <a:off x="540000" y="630000"/>
            <a:ext cx="5015542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Regression Results - Basic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DA06316-AF44-6675-2C41-813261A92D16}"/>
              </a:ext>
            </a:extLst>
          </p:cNvPr>
          <p:cNvSpPr/>
          <p:nvPr/>
        </p:nvSpPr>
        <p:spPr>
          <a:xfrm>
            <a:off x="360000" y="720000"/>
            <a:ext cx="101948" cy="251534"/>
          </a:xfrm>
          <a:prstGeom prst="rect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8887735-E3F5-0AD9-87D3-AAB23F60B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302685"/>
              </p:ext>
            </p:extLst>
          </p:nvPr>
        </p:nvGraphicFramePr>
        <p:xfrm>
          <a:off x="359997" y="1584000"/>
          <a:ext cx="5472000" cy="22333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3806487040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289270652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1237149366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1454922817"/>
                    </a:ext>
                  </a:extLst>
                </a:gridCol>
              </a:tblGrid>
              <a:tr h="3130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Variable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coefficient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t-stat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P-value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240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Alpha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0.0123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8.71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0.000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094039"/>
                  </a:ext>
                </a:extLst>
              </a:tr>
              <a:tr h="1464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MKT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0.9916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31.871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0.000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526639"/>
                  </a:ext>
                </a:extLst>
              </a:tr>
              <a:tr h="1375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SMB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1.0624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22.596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0.000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122649"/>
                  </a:ext>
                </a:extLst>
              </a:tr>
              <a:tr h="118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HML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-0.2023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-3.618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0.000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624625"/>
                  </a:ext>
                </a:extLst>
              </a:tr>
              <a:tr h="1395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MOM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-0.0868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-1.799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0.072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51397"/>
                  </a:ext>
                </a:extLst>
              </a:tr>
              <a:tr h="140547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R-squared : 0.931</a:t>
                      </a:r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222876"/>
                  </a:ext>
                </a:extLst>
              </a:tr>
              <a:tr h="180859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Adj. R-squared : 0.929</a:t>
                      </a:r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169810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0A31040-74C3-68C1-1C1B-BF495E4C9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48508"/>
              </p:ext>
            </p:extLst>
          </p:nvPr>
        </p:nvGraphicFramePr>
        <p:xfrm>
          <a:off x="6361200" y="1584870"/>
          <a:ext cx="5472000" cy="2501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3806487040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289270652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1237149366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1454922817"/>
                    </a:ext>
                  </a:extLst>
                </a:gridCol>
              </a:tblGrid>
              <a:tr h="3066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Variable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coefficient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t-stat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P-value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240065"/>
                  </a:ext>
                </a:extLst>
              </a:tr>
              <a:tr h="2173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Alpha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-0.0006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-0.438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0.661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18381"/>
                  </a:ext>
                </a:extLst>
              </a:tr>
              <a:tr h="1789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MKT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0.998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27.607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0.000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526639"/>
                  </a:ext>
                </a:extLst>
              </a:tr>
              <a:tr h="1897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SMB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0.9635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21.033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0.000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122649"/>
                  </a:ext>
                </a:extLst>
              </a:tr>
              <a:tr h="2006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HML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-0.1884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-5.104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0.000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624625"/>
                  </a:ext>
                </a:extLst>
              </a:tr>
              <a:tr h="2114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MOM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-0.0978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-2.697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0.007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51397"/>
                  </a:ext>
                </a:extLst>
              </a:tr>
              <a:tr h="1730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Factor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0.7085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9.88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0.000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1899437"/>
                  </a:ext>
                </a:extLst>
              </a:tr>
              <a:tr h="223217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R-squared : 0.96</a:t>
                      </a:r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09349"/>
                  </a:ext>
                </a:extLst>
              </a:tr>
              <a:tr h="145542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Adj. R-squared : 0.958</a:t>
                      </a:r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1698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73F6115-3D0B-D319-1F82-24A7FE67D7AD}"/>
              </a:ext>
            </a:extLst>
          </p:cNvPr>
          <p:cNvSpPr txBox="1">
            <a:spLocks/>
          </p:cNvSpPr>
          <p:nvPr/>
        </p:nvSpPr>
        <p:spPr>
          <a:xfrm rot="10800000" flipV="1">
            <a:off x="360000" y="180000"/>
            <a:ext cx="4644204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200" b="1" dirty="0">
                <a:solidFill>
                  <a:schemeClr val="tx2">
                    <a:lumMod val="75000"/>
                    <a:lumOff val="25000"/>
                    <a:alpha val="50000"/>
                  </a:schemeClr>
                </a:solidFill>
              </a:rPr>
              <a:t>04. Conclusion</a:t>
            </a:r>
          </a:p>
        </p:txBody>
      </p:sp>
      <p:pic>
        <p:nvPicPr>
          <p:cNvPr id="9" name="그림 8" descr="텍스트, 폰트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22F050-6556-AE52-F27E-15D7E38E8F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4" y="6455949"/>
            <a:ext cx="1209904" cy="40330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9774EE-8A54-D51C-DD4A-BD2CB08939DE}"/>
              </a:ext>
            </a:extLst>
          </p:cNvPr>
          <p:cNvSpPr/>
          <p:nvPr/>
        </p:nvSpPr>
        <p:spPr>
          <a:xfrm>
            <a:off x="472076" y="1947600"/>
            <a:ext cx="176980" cy="17698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BCB45E1-32E0-46E7-4CF7-9659C4528158}"/>
              </a:ext>
            </a:extLst>
          </p:cNvPr>
          <p:cNvSpPr/>
          <p:nvPr/>
        </p:nvSpPr>
        <p:spPr>
          <a:xfrm>
            <a:off x="6511092" y="1949013"/>
            <a:ext cx="176980" cy="17698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83302CF-2DC7-3F46-0A8A-F759FDDBEEEA}"/>
              </a:ext>
            </a:extLst>
          </p:cNvPr>
          <p:cNvSpPr/>
          <p:nvPr/>
        </p:nvSpPr>
        <p:spPr>
          <a:xfrm>
            <a:off x="6511092" y="3289812"/>
            <a:ext cx="176980" cy="17698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DF98A53-0E76-5252-8C86-C601621F9843}"/>
              </a:ext>
            </a:extLst>
          </p:cNvPr>
          <p:cNvGrpSpPr/>
          <p:nvPr/>
        </p:nvGrpSpPr>
        <p:grpSpPr>
          <a:xfrm>
            <a:off x="360000" y="1160463"/>
            <a:ext cx="5472000" cy="311949"/>
            <a:chOff x="360000" y="1171988"/>
            <a:chExt cx="3565389" cy="311950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4ED1B9E-3D79-9289-C438-E4A02B2E5E92}"/>
                </a:ext>
              </a:extLst>
            </p:cNvPr>
            <p:cNvSpPr/>
            <p:nvPr/>
          </p:nvSpPr>
          <p:spPr>
            <a:xfrm>
              <a:off x="360000" y="1171988"/>
              <a:ext cx="3497841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Factor-Spread OLS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4AFF6BA2-2DF1-0254-F7FB-501E114A6F77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C1F12FE-3DB4-3101-6346-FF403422BEB4}"/>
              </a:ext>
            </a:extLst>
          </p:cNvPr>
          <p:cNvGrpSpPr/>
          <p:nvPr/>
        </p:nvGrpSpPr>
        <p:grpSpPr>
          <a:xfrm>
            <a:off x="6361200" y="1171988"/>
            <a:ext cx="5493548" cy="311949"/>
            <a:chOff x="345960" y="1171988"/>
            <a:chExt cx="3579429" cy="311950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D191C6A8-3AA0-F01F-0F5A-95B82397B665}"/>
                </a:ext>
              </a:extLst>
            </p:cNvPr>
            <p:cNvSpPr/>
            <p:nvPr/>
          </p:nvSpPr>
          <p:spPr>
            <a:xfrm>
              <a:off x="345960" y="1171988"/>
              <a:ext cx="3497841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Factor-Adjusted OLS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08C69805-5B40-D3FC-CAC6-8993E67DCCED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왼쪽 중괄호 34">
            <a:extLst>
              <a:ext uri="{FF2B5EF4-FFF2-40B4-BE49-F238E27FC236}">
                <a16:creationId xmlns:a16="http://schemas.microsoft.com/office/drawing/2014/main" id="{467DE6F6-B14A-4D6E-953D-82C224C65951}"/>
              </a:ext>
            </a:extLst>
          </p:cNvPr>
          <p:cNvSpPr/>
          <p:nvPr/>
        </p:nvSpPr>
        <p:spPr>
          <a:xfrm>
            <a:off x="6736729" y="2276222"/>
            <a:ext cx="113029" cy="858501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D662D49-6492-149D-3FCC-F528FB4D8152}"/>
              </a:ext>
            </a:extLst>
          </p:cNvPr>
          <p:cNvSpPr/>
          <p:nvPr/>
        </p:nvSpPr>
        <p:spPr>
          <a:xfrm>
            <a:off x="6511092" y="2595000"/>
            <a:ext cx="176980" cy="17698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410CA2D-2F00-984F-1853-578FAEE09EAC}"/>
              </a:ext>
            </a:extLst>
          </p:cNvPr>
          <p:cNvSpPr/>
          <p:nvPr/>
        </p:nvSpPr>
        <p:spPr>
          <a:xfrm>
            <a:off x="7963374" y="3855790"/>
            <a:ext cx="176980" cy="17698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5</a:t>
            </a:r>
            <a:endParaRPr lang="ko-KR" altLang="en-US" sz="1200" b="1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FD9D386-2F24-FF25-46B4-77EEB15527B2}"/>
              </a:ext>
            </a:extLst>
          </p:cNvPr>
          <p:cNvSpPr/>
          <p:nvPr/>
        </p:nvSpPr>
        <p:spPr>
          <a:xfrm>
            <a:off x="359997" y="4170323"/>
            <a:ext cx="5472000" cy="2138402"/>
          </a:xfrm>
          <a:prstGeom prst="rect">
            <a:avLst/>
          </a:prstGeom>
          <a:noFill/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Alpha</a:t>
            </a:r>
            <a:r>
              <a:rPr lang="ko-KR" altLang="en-US" sz="1200" dirty="0">
                <a:solidFill>
                  <a:schemeClr val="tx1"/>
                </a:solidFill>
              </a:rPr>
              <a:t>는 다른 회귀변수로 설명되지 않는 초과수익률을 의미한다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스프레드 회귀분석에서 월 </a:t>
            </a:r>
            <a:r>
              <a:rPr lang="en-US" altLang="ko-KR" sz="1200" dirty="0">
                <a:solidFill>
                  <a:schemeClr val="tx1"/>
                </a:solidFill>
              </a:rPr>
              <a:t>1.23%, </a:t>
            </a:r>
            <a:r>
              <a:rPr lang="ko-KR" altLang="en-US" sz="1200" dirty="0">
                <a:solidFill>
                  <a:schemeClr val="tx1"/>
                </a:solidFill>
              </a:rPr>
              <a:t>연율화 약 </a:t>
            </a:r>
            <a:r>
              <a:rPr lang="en-US" altLang="ko-KR" sz="1200" dirty="0">
                <a:solidFill>
                  <a:schemeClr val="tx1"/>
                </a:solidFill>
              </a:rPr>
              <a:t>16%</a:t>
            </a:r>
            <a:r>
              <a:rPr lang="ko-KR" altLang="en-US" sz="1200" dirty="0">
                <a:solidFill>
                  <a:schemeClr val="tx1"/>
                </a:solidFill>
              </a:rPr>
              <a:t>의     </a:t>
            </a:r>
            <a:r>
              <a:rPr lang="en-US" altLang="ko-KR" sz="1200" b="1" dirty="0">
                <a:solidFill>
                  <a:schemeClr val="tx1"/>
                </a:solidFill>
              </a:rPr>
              <a:t>Alpha</a:t>
            </a:r>
            <a:r>
              <a:rPr lang="ko-KR" altLang="en-US" sz="1200" dirty="0">
                <a:solidFill>
                  <a:schemeClr val="tx1"/>
                </a:solidFill>
              </a:rPr>
              <a:t>가 존재한다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r>
              <a:rPr lang="en-US" altLang="ko-KR" sz="1200" b="1" dirty="0">
                <a:solidFill>
                  <a:schemeClr val="tx1"/>
                </a:solidFill>
              </a:rPr>
              <a:t>Alpha</a:t>
            </a:r>
            <a:r>
              <a:rPr lang="ko-KR" altLang="en-US" sz="1200" dirty="0">
                <a:solidFill>
                  <a:schemeClr val="tx1"/>
                </a:solidFill>
              </a:rPr>
              <a:t>값이 </a:t>
            </a:r>
            <a:r>
              <a:rPr lang="en-US" altLang="ko-KR" sz="1200" dirty="0">
                <a:solidFill>
                  <a:schemeClr val="tx1"/>
                </a:solidFill>
              </a:rPr>
              <a:t>-0.0006, P-value 0.661</a:t>
            </a:r>
            <a:r>
              <a:rPr lang="ko-KR" altLang="en-US" sz="1200" dirty="0">
                <a:solidFill>
                  <a:schemeClr val="tx1"/>
                </a:solidFill>
              </a:rPr>
              <a:t>로 통계적 유의성을 잃게 되는데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이는      </a:t>
            </a:r>
            <a:r>
              <a:rPr lang="en-US" altLang="ko-KR" sz="1200" b="1" dirty="0">
                <a:solidFill>
                  <a:schemeClr val="tx1"/>
                </a:solidFill>
              </a:rPr>
              <a:t>Factor</a:t>
            </a:r>
            <a:r>
              <a:rPr lang="ko-KR" altLang="en-US" sz="1200" dirty="0">
                <a:solidFill>
                  <a:schemeClr val="tx1"/>
                </a:solidFill>
              </a:rPr>
              <a:t>값이 </a:t>
            </a:r>
            <a:r>
              <a:rPr lang="en-US" altLang="ko-KR" sz="1200" dirty="0">
                <a:solidFill>
                  <a:schemeClr val="tx1"/>
                </a:solidFill>
              </a:rPr>
              <a:t>0.7085, P-value 0</a:t>
            </a:r>
            <a:r>
              <a:rPr lang="ko-KR" altLang="en-US" sz="1200" dirty="0">
                <a:solidFill>
                  <a:schemeClr val="tx1"/>
                </a:solidFill>
              </a:rPr>
              <a:t>으로 유의미한 회귀변수로 작용하면서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Basic Portfolio</a:t>
            </a:r>
            <a:r>
              <a:rPr lang="ko-KR" altLang="en-US" sz="1200" dirty="0">
                <a:solidFill>
                  <a:schemeClr val="tx1"/>
                </a:solidFill>
              </a:rPr>
              <a:t>의 초과수익률은 </a:t>
            </a:r>
            <a:r>
              <a:rPr lang="ko-KR" altLang="en-US" sz="1200" dirty="0" err="1">
                <a:solidFill>
                  <a:schemeClr val="tx1"/>
                </a:solidFill>
              </a:rPr>
              <a:t>공왜도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팩터</a:t>
            </a:r>
            <a:r>
              <a:rPr lang="ko-KR" altLang="en-US" sz="1200" dirty="0">
                <a:solidFill>
                  <a:schemeClr val="tx1"/>
                </a:solidFill>
              </a:rPr>
              <a:t> 노출로 설명됨을 의미한다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A2EA364-A7D2-B310-3C4B-B3CC8D59D7F0}"/>
              </a:ext>
            </a:extLst>
          </p:cNvPr>
          <p:cNvSpPr/>
          <p:nvPr/>
        </p:nvSpPr>
        <p:spPr>
          <a:xfrm>
            <a:off x="359997" y="4170324"/>
            <a:ext cx="159655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200" b="1" dirty="0"/>
              <a:t>Alpha</a:t>
            </a:r>
            <a:endParaRPr lang="ko-KR" altLang="en-US" sz="1200" b="1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530CD92-CE97-47EB-14AA-6A6E54DF57F1}"/>
              </a:ext>
            </a:extLst>
          </p:cNvPr>
          <p:cNvSpPr/>
          <p:nvPr/>
        </p:nvSpPr>
        <p:spPr>
          <a:xfrm>
            <a:off x="389034" y="4194993"/>
            <a:ext cx="176980" cy="1769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200" b="1" dirty="0">
                <a:solidFill>
                  <a:srgbClr val="156082"/>
                </a:solidFill>
              </a:rPr>
              <a:t>1</a:t>
            </a:r>
            <a:endParaRPr lang="ko-KR" altLang="en-US" sz="1200" b="1" dirty="0">
              <a:solidFill>
                <a:srgbClr val="156082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60EA296-C254-B0B9-071F-4207E3E455AE}"/>
              </a:ext>
            </a:extLst>
          </p:cNvPr>
          <p:cNvSpPr/>
          <p:nvPr/>
        </p:nvSpPr>
        <p:spPr>
          <a:xfrm>
            <a:off x="595051" y="4194993"/>
            <a:ext cx="176980" cy="1769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156082"/>
                </a:solidFill>
              </a:rPr>
              <a:t>2</a:t>
            </a:r>
            <a:endParaRPr lang="ko-KR" altLang="en-US" sz="1200" b="1" dirty="0">
              <a:solidFill>
                <a:srgbClr val="156082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B904FD6-B705-F731-80C6-D363636765A8}"/>
              </a:ext>
            </a:extLst>
          </p:cNvPr>
          <p:cNvGrpSpPr/>
          <p:nvPr/>
        </p:nvGrpSpPr>
        <p:grpSpPr>
          <a:xfrm>
            <a:off x="6361200" y="4163599"/>
            <a:ext cx="5473363" cy="2140092"/>
            <a:chOff x="6382800" y="4163599"/>
            <a:chExt cx="5473363" cy="2140092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A05EE03F-5D99-93D3-1393-4102763BCAB8}"/>
                </a:ext>
              </a:extLst>
            </p:cNvPr>
            <p:cNvSpPr/>
            <p:nvPr/>
          </p:nvSpPr>
          <p:spPr>
            <a:xfrm>
              <a:off x="6384163" y="4163599"/>
              <a:ext cx="5472000" cy="1221867"/>
            </a:xfrm>
            <a:prstGeom prst="rect">
              <a:avLst/>
            </a:prstGeom>
            <a:noFill/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/>
                  </a:solidFill>
                </a:rPr>
                <a:t>Fama-French</a:t>
              </a:r>
              <a:r>
                <a:rPr lang="ko-KR" altLang="en-US" sz="1200" dirty="0">
                  <a:solidFill>
                    <a:schemeClr val="tx1"/>
                  </a:solidFill>
                </a:rPr>
                <a:t> </a:t>
              </a:r>
              <a:r>
                <a:rPr lang="en-US" altLang="ko-KR" sz="1200" dirty="0">
                  <a:solidFill>
                    <a:schemeClr val="tx1"/>
                  </a:solidFill>
                </a:rPr>
                <a:t>3 Factor - MKT(</a:t>
              </a:r>
              <a:r>
                <a:rPr lang="ko-KR" altLang="en-US" sz="1200" dirty="0">
                  <a:solidFill>
                    <a:schemeClr val="tx1"/>
                  </a:solidFill>
                </a:rPr>
                <a:t>시장효과</a:t>
              </a:r>
              <a:r>
                <a:rPr lang="en-US" altLang="ko-KR" sz="1200" dirty="0">
                  <a:solidFill>
                    <a:schemeClr val="tx1"/>
                  </a:solidFill>
                </a:rPr>
                <a:t>), SMB(</a:t>
              </a:r>
              <a:r>
                <a:rPr lang="ko-KR" altLang="en-US" sz="1200" dirty="0">
                  <a:solidFill>
                    <a:schemeClr val="tx1"/>
                  </a:solidFill>
                </a:rPr>
                <a:t>규모효과</a:t>
              </a:r>
              <a:r>
                <a:rPr lang="en-US" altLang="ko-KR" sz="1200" dirty="0">
                  <a:solidFill>
                    <a:schemeClr val="tx1"/>
                  </a:solidFill>
                </a:rPr>
                <a:t>), HML(</a:t>
              </a:r>
              <a:r>
                <a:rPr lang="ko-KR" altLang="en-US" sz="1200" dirty="0">
                  <a:solidFill>
                    <a:schemeClr val="tx1"/>
                  </a:solidFill>
                </a:rPr>
                <a:t>가치효과</a:t>
              </a:r>
              <a:r>
                <a:rPr lang="en-US" altLang="ko-KR" sz="1200" dirty="0">
                  <a:solidFill>
                    <a:schemeClr val="tx1"/>
                  </a:solidFill>
                </a:rPr>
                <a:t>)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/>
                  </a:solidFill>
                </a:rPr>
                <a:t>MKT = 0.998, SMB = 0.9635, HML = -.0.1884, MOM = -0.0978</a:t>
              </a:r>
            </a:p>
            <a:p>
              <a:pPr algn="ctr">
                <a:lnSpc>
                  <a:spcPct val="150000"/>
                </a:lnSpc>
              </a:pPr>
              <a:r>
                <a:rPr lang="ko-KR" altLang="en-US" sz="1200" dirty="0">
                  <a:solidFill>
                    <a:schemeClr val="tx1"/>
                  </a:solidFill>
                </a:rPr>
                <a:t>강한 시장</a:t>
              </a:r>
              <a:r>
                <a:rPr lang="en-US" altLang="ko-KR" sz="1200" dirty="0">
                  <a:solidFill>
                    <a:schemeClr val="tx1"/>
                  </a:solidFill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</a:rPr>
                <a:t>소형주 노출정도</a:t>
              </a:r>
              <a:r>
                <a:rPr lang="en-US" altLang="ko-KR" sz="1200" dirty="0">
                  <a:solidFill>
                    <a:schemeClr val="tx1"/>
                  </a:solidFill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</a:rPr>
                <a:t>약한 성장주</a:t>
              </a:r>
              <a:r>
                <a:rPr lang="en-US" altLang="ko-KR" sz="1200" dirty="0">
                  <a:solidFill>
                    <a:schemeClr val="tx1"/>
                  </a:solidFill>
                </a:rPr>
                <a:t>, </a:t>
              </a:r>
              <a:r>
                <a:rPr lang="ko-KR" altLang="en-US" sz="1200" dirty="0">
                  <a:solidFill>
                    <a:schemeClr val="tx1"/>
                  </a:solidFill>
                </a:rPr>
                <a:t>음의 모멘텀 노출정도를 보인다</a:t>
              </a:r>
              <a:r>
                <a:rPr lang="en-US" altLang="ko-KR" sz="1200" dirty="0">
                  <a:solidFill>
                    <a:schemeClr val="tx1"/>
                  </a:solidFill>
                </a:rPr>
                <a:t>.</a:t>
              </a:r>
            </a:p>
            <a:p>
              <a:pPr algn="ctr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>
                <a:lnSpc>
                  <a:spcPct val="150000"/>
                </a:lnSpc>
              </a:pP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14474752-0967-1AEF-3C9A-F4349FAF7DE5}"/>
                </a:ext>
              </a:extLst>
            </p:cNvPr>
            <p:cNvSpPr/>
            <p:nvPr/>
          </p:nvSpPr>
          <p:spPr>
            <a:xfrm>
              <a:off x="6382800" y="4163600"/>
              <a:ext cx="1598400" cy="3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/>
                <a:t>FF3 + MOM</a:t>
              </a:r>
              <a:endParaRPr lang="ko-KR" altLang="en-US" sz="1200" b="1" dirty="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BE5E355F-DC51-9EBA-82E3-D04C4BC2D2F4}"/>
                </a:ext>
              </a:extLst>
            </p:cNvPr>
            <p:cNvSpPr/>
            <p:nvPr/>
          </p:nvSpPr>
          <p:spPr>
            <a:xfrm>
              <a:off x="6411838" y="4188269"/>
              <a:ext cx="176980" cy="1769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rgbClr val="156082"/>
                  </a:solidFill>
                </a:rPr>
                <a:t>3</a:t>
              </a:r>
              <a:endParaRPr lang="ko-KR" altLang="en-US" sz="1200" b="1" dirty="0">
                <a:solidFill>
                  <a:srgbClr val="156082"/>
                </a:solidFill>
              </a:endParaRP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B59D46BB-C77A-D4F9-4A51-05D01C25B2AD}"/>
                </a:ext>
              </a:extLst>
            </p:cNvPr>
            <p:cNvGrpSpPr/>
            <p:nvPr/>
          </p:nvGrpSpPr>
          <p:grpSpPr>
            <a:xfrm>
              <a:off x="6382800" y="5488317"/>
              <a:ext cx="5472001" cy="815374"/>
              <a:chOff x="359996" y="4295146"/>
              <a:chExt cx="5472001" cy="815374"/>
            </a:xfrm>
          </p:grpSpPr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5B56D957-348D-9271-621E-7E8F1739D99C}"/>
                  </a:ext>
                </a:extLst>
              </p:cNvPr>
              <p:cNvSpPr/>
              <p:nvPr/>
            </p:nvSpPr>
            <p:spPr>
              <a:xfrm>
                <a:off x="359997" y="4295146"/>
                <a:ext cx="5472000" cy="815374"/>
              </a:xfrm>
              <a:prstGeom prst="rect">
                <a:avLst/>
              </a:prstGeom>
              <a:noFill/>
              <a:ln>
                <a:solidFill>
                  <a:srgbClr val="15608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US" altLang="ko-KR" sz="1900" dirty="0">
                  <a:solidFill>
                    <a:schemeClr val="tx1"/>
                  </a:solidFill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ko-KR" altLang="en-US" sz="1200" dirty="0">
                    <a:solidFill>
                      <a:schemeClr val="tx1"/>
                    </a:solidFill>
                  </a:rPr>
                  <a:t>회귀 모형의 설명력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(Adj. R-squared)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이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 0.958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로 매우 높게 확보되어</a:t>
                </a:r>
                <a:endParaRPr lang="en-US" altLang="ko-KR" sz="1200" dirty="0">
                  <a:solidFill>
                    <a:schemeClr val="tx1"/>
                  </a:solidFill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ko-KR" altLang="en-US" sz="1200" dirty="0" err="1">
                    <a:solidFill>
                      <a:schemeClr val="tx1"/>
                    </a:solidFill>
                  </a:rPr>
                  <a:t>공왜도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1200" dirty="0" err="1">
                    <a:solidFill>
                      <a:schemeClr val="tx1"/>
                    </a:solidFill>
                  </a:rPr>
                  <a:t>팩터를</a:t>
                </a:r>
                <a:r>
                  <a:rPr lang="ko-KR" altLang="en-US" sz="1200" dirty="0">
                    <a:solidFill>
                      <a:schemeClr val="tx1"/>
                    </a:solidFill>
                  </a:rPr>
                  <a:t> 통해 전략의 수익을 설명함을 통계적으로 입증한다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.</a:t>
                </a:r>
                <a:endParaRPr lang="ko-KR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313C2E12-763F-28D1-F0A8-64F80E3B318F}"/>
                  </a:ext>
                </a:extLst>
              </p:cNvPr>
              <p:cNvSpPr/>
              <p:nvPr/>
            </p:nvSpPr>
            <p:spPr>
              <a:xfrm>
                <a:off x="359996" y="4295146"/>
                <a:ext cx="1598400" cy="3600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dirty="0"/>
                  <a:t>Adj. R-squared</a:t>
                </a:r>
                <a:endParaRPr lang="ko-KR" altLang="en-US" sz="1200" b="1" dirty="0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729860C5-58CD-3052-58CB-8149D59B2835}"/>
                  </a:ext>
                </a:extLst>
              </p:cNvPr>
              <p:cNvSpPr/>
              <p:nvPr/>
            </p:nvSpPr>
            <p:spPr>
              <a:xfrm>
                <a:off x="389034" y="4319815"/>
                <a:ext cx="176980" cy="17698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dirty="0">
                    <a:solidFill>
                      <a:srgbClr val="156082"/>
                    </a:solidFill>
                  </a:rPr>
                  <a:t>5</a:t>
                </a:r>
                <a:endParaRPr lang="ko-KR" altLang="en-US" sz="1200" b="1" dirty="0">
                  <a:solidFill>
                    <a:srgbClr val="156082"/>
                  </a:solidFill>
                </a:endParaRPr>
              </a:p>
            </p:txBody>
          </p:sp>
        </p:grpSp>
      </p:grp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72C975E-BF03-53C5-A380-7C2C01A82996}"/>
              </a:ext>
            </a:extLst>
          </p:cNvPr>
          <p:cNvSpPr/>
          <p:nvPr/>
        </p:nvSpPr>
        <p:spPr>
          <a:xfrm>
            <a:off x="4149232" y="5037436"/>
            <a:ext cx="176980" cy="176981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16F78C2-CAAE-DC46-87A5-DECB120BC071}"/>
              </a:ext>
            </a:extLst>
          </p:cNvPr>
          <p:cNvSpPr/>
          <p:nvPr/>
        </p:nvSpPr>
        <p:spPr>
          <a:xfrm>
            <a:off x="914556" y="5593791"/>
            <a:ext cx="176980" cy="176981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9BD40AF6-3E42-01FB-23E4-65741CCE5CF9}"/>
              </a:ext>
            </a:extLst>
          </p:cNvPr>
          <p:cNvSpPr/>
          <p:nvPr/>
        </p:nvSpPr>
        <p:spPr>
          <a:xfrm>
            <a:off x="692089" y="5318425"/>
            <a:ext cx="176980" cy="176981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447614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D0ED3-E302-5FE9-2AC4-2F1AA17EB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F945784-DAA7-55E6-CBEE-11EB2E482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088367"/>
              </p:ext>
            </p:extLst>
          </p:nvPr>
        </p:nvGraphicFramePr>
        <p:xfrm>
          <a:off x="6361200" y="1584000"/>
          <a:ext cx="5472000" cy="2232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3806487040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289270652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1237149366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1454922817"/>
                    </a:ext>
                  </a:extLst>
                </a:gridCol>
              </a:tblGrid>
              <a:tr h="3073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Variable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coefficient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t-stat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P-value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240065"/>
                  </a:ext>
                </a:extLst>
              </a:tr>
              <a:tr h="2749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Alpha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0.0238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6.933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0.000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18381"/>
                  </a:ext>
                </a:extLst>
              </a:tr>
              <a:tr h="2749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MKT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0.9839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28.248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0.000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526639"/>
                  </a:ext>
                </a:extLst>
              </a:tr>
              <a:tr h="2749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SMB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1.2923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14.64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0.000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122649"/>
                  </a:ext>
                </a:extLst>
              </a:tr>
              <a:tr h="2749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HML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-0.1313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-2.065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0.039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624625"/>
                  </a:ext>
                </a:extLst>
              </a:tr>
              <a:tr h="2749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MOM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-0.0935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-1.214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0.225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51397"/>
                  </a:ext>
                </a:extLst>
              </a:tr>
              <a:tr h="274951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R-squared : 0.81</a:t>
                      </a:r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209349"/>
                  </a:ext>
                </a:extLst>
              </a:tr>
              <a:tr h="274951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Adj. R-squared : 0.804</a:t>
                      </a:r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169810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915C36E-EA55-426D-C20F-72342FB097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666280"/>
              </p:ext>
            </p:extLst>
          </p:nvPr>
        </p:nvGraphicFramePr>
        <p:xfrm>
          <a:off x="360000" y="1584000"/>
          <a:ext cx="5472000" cy="22333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3806487040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289270652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1237149366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1454922817"/>
                    </a:ext>
                  </a:extLst>
                </a:gridCol>
              </a:tblGrid>
              <a:tr h="3130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Variable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coefficient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t-stat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P-value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240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Alpha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0.0097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11.107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0.000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094039"/>
                  </a:ext>
                </a:extLst>
              </a:tr>
              <a:tr h="1464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MKT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-0.0048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-0.176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0.860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526639"/>
                  </a:ext>
                </a:extLst>
              </a:tr>
              <a:tr h="1375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SMB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4.626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0.000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122649"/>
                  </a:ext>
                </a:extLst>
              </a:tr>
              <a:tr h="118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HML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-0.0072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-0.246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0.806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624625"/>
                  </a:ext>
                </a:extLst>
              </a:tr>
              <a:tr h="1395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MOM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-0.006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-0.274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0.784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51397"/>
                  </a:ext>
                </a:extLst>
              </a:tr>
              <a:tr h="140547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R-squared : 0.191</a:t>
                      </a:r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222876"/>
                  </a:ext>
                </a:extLst>
              </a:tr>
              <a:tr h="180859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Adj. R-squared : 0.165</a:t>
                      </a:r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1698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0B7EA5E-DAEB-435C-1A55-55BAD90D99F9}"/>
              </a:ext>
            </a:extLst>
          </p:cNvPr>
          <p:cNvSpPr txBox="1"/>
          <p:nvPr/>
        </p:nvSpPr>
        <p:spPr>
          <a:xfrm>
            <a:off x="539999" y="630000"/>
            <a:ext cx="6148073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Regression Results – L/S , Size 20 Portfolio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73EAD9E-886C-9BEF-A437-C0C81C083FCE}"/>
              </a:ext>
            </a:extLst>
          </p:cNvPr>
          <p:cNvSpPr/>
          <p:nvPr/>
        </p:nvSpPr>
        <p:spPr>
          <a:xfrm>
            <a:off x="360000" y="720000"/>
            <a:ext cx="101948" cy="251534"/>
          </a:xfrm>
          <a:prstGeom prst="rect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32C1EC-9800-9C41-21D0-EAC589BE25B6}"/>
              </a:ext>
            </a:extLst>
          </p:cNvPr>
          <p:cNvSpPr txBox="1">
            <a:spLocks/>
          </p:cNvSpPr>
          <p:nvPr/>
        </p:nvSpPr>
        <p:spPr>
          <a:xfrm rot="10800000" flipV="1">
            <a:off x="360000" y="180000"/>
            <a:ext cx="4644204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1200" b="1" dirty="0">
                <a:solidFill>
                  <a:schemeClr val="tx2">
                    <a:lumMod val="75000"/>
                    <a:lumOff val="25000"/>
                    <a:alpha val="50000"/>
                  </a:schemeClr>
                </a:solidFill>
              </a:rPr>
              <a:t>04. Conclusion</a:t>
            </a:r>
          </a:p>
        </p:txBody>
      </p:sp>
      <p:pic>
        <p:nvPicPr>
          <p:cNvPr id="9" name="그림 8" descr="텍스트, 폰트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0CA67D-BE53-1917-1CD8-EA3DF551FD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4" y="6455949"/>
            <a:ext cx="1209904" cy="40330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7452ABDC-DC13-5A43-5B2E-227BA3DD4FAD}"/>
              </a:ext>
            </a:extLst>
          </p:cNvPr>
          <p:cNvSpPr/>
          <p:nvPr/>
        </p:nvSpPr>
        <p:spPr>
          <a:xfrm>
            <a:off x="476905" y="1949012"/>
            <a:ext cx="176980" cy="17698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003F91-EF62-EEEB-17EF-DE05AC6ECD15}"/>
              </a:ext>
            </a:extLst>
          </p:cNvPr>
          <p:cNvSpPr/>
          <p:nvPr/>
        </p:nvSpPr>
        <p:spPr>
          <a:xfrm>
            <a:off x="6511092" y="1949013"/>
            <a:ext cx="176980" cy="17698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D98D457-A798-F128-5F79-1B230C411F18}"/>
              </a:ext>
            </a:extLst>
          </p:cNvPr>
          <p:cNvGrpSpPr/>
          <p:nvPr/>
        </p:nvGrpSpPr>
        <p:grpSpPr>
          <a:xfrm>
            <a:off x="360000" y="1160463"/>
            <a:ext cx="5472000" cy="311949"/>
            <a:chOff x="360000" y="1171988"/>
            <a:chExt cx="3565389" cy="311950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BF4887E-BD7C-6EB3-B980-9268783AF836}"/>
                </a:ext>
              </a:extLst>
            </p:cNvPr>
            <p:cNvSpPr/>
            <p:nvPr/>
          </p:nvSpPr>
          <p:spPr>
            <a:xfrm>
              <a:off x="360000" y="1171988"/>
              <a:ext cx="3497841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Factor-Spread OLS – L/S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B18BC622-3A8F-F8BB-DF31-DF8B669FF7B1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3A9EB8B8-FF57-A7F7-7E68-3C721167BAEA}"/>
              </a:ext>
            </a:extLst>
          </p:cNvPr>
          <p:cNvGrpSpPr/>
          <p:nvPr/>
        </p:nvGrpSpPr>
        <p:grpSpPr>
          <a:xfrm>
            <a:off x="6361200" y="1171988"/>
            <a:ext cx="5472000" cy="311949"/>
            <a:chOff x="360000" y="1171988"/>
            <a:chExt cx="3565389" cy="311950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6AC7250-B315-BE9F-620D-7F56893E18D6}"/>
                </a:ext>
              </a:extLst>
            </p:cNvPr>
            <p:cNvSpPr/>
            <p:nvPr/>
          </p:nvSpPr>
          <p:spPr>
            <a:xfrm>
              <a:off x="360000" y="1171988"/>
              <a:ext cx="3497841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Factor-Spread OLS – Size 20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3C598AA0-51DC-3799-F63F-747C90B3C0CC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3565389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왼쪽 중괄호 34">
            <a:extLst>
              <a:ext uri="{FF2B5EF4-FFF2-40B4-BE49-F238E27FC236}">
                <a16:creationId xmlns:a16="http://schemas.microsoft.com/office/drawing/2014/main" id="{0DFF3560-9A51-A322-36BE-6B33AA04F256}"/>
              </a:ext>
            </a:extLst>
          </p:cNvPr>
          <p:cNvSpPr/>
          <p:nvPr/>
        </p:nvSpPr>
        <p:spPr>
          <a:xfrm>
            <a:off x="6736729" y="2276222"/>
            <a:ext cx="113029" cy="858501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DFC780-EAFF-6FF8-3599-000E69BD6AE5}"/>
              </a:ext>
            </a:extLst>
          </p:cNvPr>
          <p:cNvSpPr/>
          <p:nvPr/>
        </p:nvSpPr>
        <p:spPr>
          <a:xfrm>
            <a:off x="6511092" y="2595000"/>
            <a:ext cx="176980" cy="17698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4</a:t>
            </a:r>
            <a:endParaRPr lang="ko-KR" altLang="en-US" sz="1200" b="1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8E82A81-C963-2531-5560-5FC10D5F3C9B}"/>
              </a:ext>
            </a:extLst>
          </p:cNvPr>
          <p:cNvSpPr/>
          <p:nvPr/>
        </p:nvSpPr>
        <p:spPr>
          <a:xfrm>
            <a:off x="359997" y="4170323"/>
            <a:ext cx="5472000" cy="739395"/>
          </a:xfrm>
          <a:prstGeom prst="rect">
            <a:avLst/>
          </a:prstGeom>
          <a:noFill/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월간 </a:t>
            </a:r>
            <a:r>
              <a:rPr lang="en-US" altLang="ko-KR" sz="1200" dirty="0">
                <a:solidFill>
                  <a:schemeClr val="tx1"/>
                </a:solidFill>
              </a:rPr>
              <a:t>0.97%, </a:t>
            </a:r>
            <a:r>
              <a:rPr lang="ko-KR" altLang="en-US" sz="1200" dirty="0">
                <a:solidFill>
                  <a:schemeClr val="tx1"/>
                </a:solidFill>
              </a:rPr>
              <a:t>연율화 약 </a:t>
            </a:r>
            <a:r>
              <a:rPr lang="en-US" altLang="ko-KR" sz="1200" dirty="0">
                <a:solidFill>
                  <a:schemeClr val="tx1"/>
                </a:solidFill>
              </a:rPr>
              <a:t>12%</a:t>
            </a:r>
            <a:r>
              <a:rPr lang="ko-KR" altLang="en-US" sz="1200" dirty="0">
                <a:solidFill>
                  <a:schemeClr val="tx1"/>
                </a:solidFill>
              </a:rPr>
              <a:t>의 </a:t>
            </a:r>
            <a:r>
              <a:rPr lang="en-US" altLang="ko-KR" sz="1200" dirty="0">
                <a:solidFill>
                  <a:schemeClr val="tx1"/>
                </a:solidFill>
              </a:rPr>
              <a:t>Alpha</a:t>
            </a:r>
            <a:r>
              <a:rPr lang="ko-KR" altLang="en-US" sz="1200" dirty="0">
                <a:solidFill>
                  <a:schemeClr val="tx1"/>
                </a:solidFill>
              </a:rPr>
              <a:t>가 존재한다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7342E6D-A27F-50E9-9FB9-A563FAD6C959}"/>
              </a:ext>
            </a:extLst>
          </p:cNvPr>
          <p:cNvSpPr/>
          <p:nvPr/>
        </p:nvSpPr>
        <p:spPr>
          <a:xfrm>
            <a:off x="359997" y="4170324"/>
            <a:ext cx="159655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200" b="1" dirty="0"/>
              <a:t>Alpha</a:t>
            </a:r>
            <a:endParaRPr lang="ko-KR" altLang="en-US" sz="1200" b="1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F28ED71-71E4-2F51-BD16-A0F18A8C970E}"/>
              </a:ext>
            </a:extLst>
          </p:cNvPr>
          <p:cNvSpPr/>
          <p:nvPr/>
        </p:nvSpPr>
        <p:spPr>
          <a:xfrm>
            <a:off x="389034" y="4194993"/>
            <a:ext cx="176980" cy="1769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200" b="1" dirty="0">
                <a:solidFill>
                  <a:srgbClr val="156082"/>
                </a:solidFill>
              </a:rPr>
              <a:t>1</a:t>
            </a:r>
            <a:endParaRPr lang="ko-KR" altLang="en-US" sz="1200" b="1" dirty="0">
              <a:solidFill>
                <a:srgbClr val="156082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A4493A6-DC9F-3E7D-18A9-5CE1C32E7AC0}"/>
              </a:ext>
            </a:extLst>
          </p:cNvPr>
          <p:cNvGrpSpPr/>
          <p:nvPr/>
        </p:nvGrpSpPr>
        <p:grpSpPr>
          <a:xfrm>
            <a:off x="6361200" y="4163600"/>
            <a:ext cx="5473363" cy="739395"/>
            <a:chOff x="6382800" y="4163600"/>
            <a:chExt cx="5473363" cy="739395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0B48B2FC-01B3-09C1-11A1-75BE3EC97955}"/>
                </a:ext>
              </a:extLst>
            </p:cNvPr>
            <p:cNvSpPr/>
            <p:nvPr/>
          </p:nvSpPr>
          <p:spPr>
            <a:xfrm>
              <a:off x="6384163" y="4163600"/>
              <a:ext cx="5472000" cy="739395"/>
            </a:xfrm>
            <a:prstGeom prst="rect">
              <a:avLst/>
            </a:prstGeom>
            <a:noFill/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200" dirty="0">
                  <a:solidFill>
                    <a:schemeClr val="tx1"/>
                  </a:solidFill>
                </a:rPr>
                <a:t>월간 </a:t>
              </a:r>
              <a:r>
                <a:rPr lang="en-US" altLang="ko-KR" sz="1200" dirty="0">
                  <a:solidFill>
                    <a:schemeClr val="tx1"/>
                  </a:solidFill>
                </a:rPr>
                <a:t>2.38%, </a:t>
              </a:r>
              <a:r>
                <a:rPr lang="ko-KR" altLang="en-US" sz="1200" dirty="0">
                  <a:solidFill>
                    <a:schemeClr val="tx1"/>
                  </a:solidFill>
                </a:rPr>
                <a:t>연율화 약 </a:t>
              </a:r>
              <a:r>
                <a:rPr lang="en-US" altLang="ko-KR" sz="1200" dirty="0">
                  <a:solidFill>
                    <a:schemeClr val="tx1"/>
                  </a:solidFill>
                </a:rPr>
                <a:t>32%</a:t>
              </a:r>
              <a:r>
                <a:rPr lang="ko-KR" altLang="en-US" sz="1200" dirty="0">
                  <a:solidFill>
                    <a:schemeClr val="tx1"/>
                  </a:solidFill>
                </a:rPr>
                <a:t>의 </a:t>
              </a:r>
              <a:r>
                <a:rPr lang="en-US" altLang="ko-KR" sz="1200" dirty="0">
                  <a:solidFill>
                    <a:schemeClr val="tx1"/>
                  </a:solidFill>
                </a:rPr>
                <a:t>Alpha</a:t>
              </a:r>
              <a:r>
                <a:rPr lang="ko-KR" altLang="en-US" sz="1200" dirty="0">
                  <a:solidFill>
                    <a:schemeClr val="tx1"/>
                  </a:solidFill>
                </a:rPr>
                <a:t>가 존재한다</a:t>
              </a:r>
              <a:r>
                <a:rPr lang="en-US" altLang="ko-KR" sz="1200" dirty="0">
                  <a:solidFill>
                    <a:schemeClr val="tx1"/>
                  </a:solidFill>
                </a:rPr>
                <a:t>.</a:t>
              </a:r>
            </a:p>
            <a:p>
              <a:pPr algn="ctr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>
                <a:lnSpc>
                  <a:spcPct val="150000"/>
                </a:lnSpc>
              </a:pP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B47B1671-9763-AFA4-8C39-7A75374ADFA9}"/>
                </a:ext>
              </a:extLst>
            </p:cNvPr>
            <p:cNvSpPr/>
            <p:nvPr/>
          </p:nvSpPr>
          <p:spPr>
            <a:xfrm>
              <a:off x="6382800" y="4163600"/>
              <a:ext cx="1598400" cy="3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/>
                <a:t>Alpha</a:t>
              </a:r>
              <a:endParaRPr lang="ko-KR" altLang="en-US" sz="1200" b="1" dirty="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7FB4A1F8-95F5-0DFE-6459-7D1DB304FB67}"/>
                </a:ext>
              </a:extLst>
            </p:cNvPr>
            <p:cNvSpPr/>
            <p:nvPr/>
          </p:nvSpPr>
          <p:spPr>
            <a:xfrm>
              <a:off x="6411838" y="4188269"/>
              <a:ext cx="176980" cy="1769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rgbClr val="156082"/>
                  </a:solidFill>
                </a:rPr>
                <a:t>3</a:t>
              </a:r>
              <a:endParaRPr lang="ko-KR" altLang="en-US" sz="1200" b="1" dirty="0">
                <a:solidFill>
                  <a:srgbClr val="156082"/>
                </a:solidFill>
              </a:endParaRPr>
            </a:p>
          </p:txBody>
        </p:sp>
      </p:grpSp>
      <p:sp>
        <p:nvSpPr>
          <p:cNvPr id="6" name="왼쪽 중괄호 5">
            <a:extLst>
              <a:ext uri="{FF2B5EF4-FFF2-40B4-BE49-F238E27FC236}">
                <a16:creationId xmlns:a16="http://schemas.microsoft.com/office/drawing/2014/main" id="{D85A43E9-8312-1D7A-30EE-34CD9B2CB775}"/>
              </a:ext>
            </a:extLst>
          </p:cNvPr>
          <p:cNvSpPr/>
          <p:nvPr/>
        </p:nvSpPr>
        <p:spPr>
          <a:xfrm>
            <a:off x="702542" y="2276222"/>
            <a:ext cx="113029" cy="858501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228F901-EC8E-43EC-0230-05C4B9CB3A94}"/>
              </a:ext>
            </a:extLst>
          </p:cNvPr>
          <p:cNvSpPr/>
          <p:nvPr/>
        </p:nvSpPr>
        <p:spPr>
          <a:xfrm>
            <a:off x="476905" y="2595000"/>
            <a:ext cx="176980" cy="176981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ACF9161-23DE-771F-E618-31F7F0923042}"/>
              </a:ext>
            </a:extLst>
          </p:cNvPr>
          <p:cNvGrpSpPr/>
          <p:nvPr/>
        </p:nvGrpSpPr>
        <p:grpSpPr>
          <a:xfrm>
            <a:off x="356784" y="5068067"/>
            <a:ext cx="5473363" cy="1229527"/>
            <a:chOff x="6382800" y="4163599"/>
            <a:chExt cx="5473363" cy="1229527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9209FB0-C830-2E25-0680-2D9EE7A07E4E}"/>
                </a:ext>
              </a:extLst>
            </p:cNvPr>
            <p:cNvSpPr/>
            <p:nvPr/>
          </p:nvSpPr>
          <p:spPr>
            <a:xfrm>
              <a:off x="6384163" y="4163599"/>
              <a:ext cx="5472000" cy="1229527"/>
            </a:xfrm>
            <a:prstGeom prst="rect">
              <a:avLst/>
            </a:prstGeom>
            <a:noFill/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/>
                  </a:solidFill>
                </a:rPr>
                <a:t>MKT = </a:t>
              </a:r>
              <a:r>
                <a:rPr lang="ko-KR" altLang="en-US" sz="1200" dirty="0">
                  <a:solidFill>
                    <a:schemeClr val="tx1"/>
                  </a:solidFill>
                </a:rPr>
                <a:t>약 </a:t>
              </a:r>
              <a:r>
                <a:rPr lang="en-US" altLang="ko-KR" sz="1200" dirty="0">
                  <a:solidFill>
                    <a:schemeClr val="tx1"/>
                  </a:solidFill>
                </a:rPr>
                <a:t>-0.005, P-value 0.86(</a:t>
              </a:r>
              <a:r>
                <a:rPr lang="ko-KR" altLang="en-US" sz="1200" dirty="0">
                  <a:solidFill>
                    <a:schemeClr val="tx1"/>
                  </a:solidFill>
                </a:rPr>
                <a:t>비유의</a:t>
              </a:r>
              <a:r>
                <a:rPr lang="en-US" altLang="ko-KR" sz="1200" dirty="0">
                  <a:solidFill>
                    <a:schemeClr val="tx1"/>
                  </a:solidFill>
                </a:rPr>
                <a:t>)</a:t>
              </a:r>
              <a:r>
                <a:rPr lang="ko-KR" altLang="en-US" sz="1200" dirty="0">
                  <a:solidFill>
                    <a:schemeClr val="tx1"/>
                  </a:solidFill>
                </a:rPr>
                <a:t>으로 시장 노출이 없음을</a:t>
              </a:r>
              <a:r>
                <a:rPr lang="en-US" altLang="ko-KR" sz="1200" dirty="0">
                  <a:solidFill>
                    <a:schemeClr val="tx1"/>
                  </a:solidFill>
                </a:rPr>
                <a:t> </a:t>
              </a:r>
              <a:r>
                <a:rPr lang="ko-KR" altLang="en-US" sz="1200" dirty="0">
                  <a:solidFill>
                    <a:schemeClr val="tx1"/>
                  </a:solidFill>
                </a:rPr>
                <a:t>의미하여   성공적으로 시장 중립적 수익 창출이 확인된다</a:t>
              </a:r>
              <a:r>
                <a:rPr lang="en-US" altLang="ko-KR" sz="1200" dirty="0">
                  <a:solidFill>
                    <a:schemeClr val="tx1"/>
                  </a:solidFill>
                </a:rPr>
                <a:t>.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/>
                  </a:solidFill>
                </a:rPr>
                <a:t>SMB = 0.142</a:t>
              </a:r>
              <a:r>
                <a:rPr lang="ko-KR" altLang="en-US" sz="1200" dirty="0">
                  <a:solidFill>
                    <a:schemeClr val="tx1"/>
                  </a:solidFill>
                </a:rPr>
                <a:t>로 약한 소형주 노출정도</a:t>
              </a:r>
              <a:r>
                <a:rPr lang="en-US" altLang="ko-KR" sz="1200" dirty="0">
                  <a:solidFill>
                    <a:schemeClr val="tx1"/>
                  </a:solidFill>
                </a:rPr>
                <a:t>,</a:t>
              </a:r>
              <a:r>
                <a:rPr lang="ko-KR" altLang="en-US" sz="1200" dirty="0">
                  <a:solidFill>
                    <a:schemeClr val="tx1"/>
                  </a:solidFill>
                </a:rPr>
                <a:t> 기타 변수의 방향성은 뚜렷하지 않다</a:t>
              </a:r>
              <a:r>
                <a:rPr lang="en-US" altLang="ko-KR" sz="1200" dirty="0">
                  <a:solidFill>
                    <a:schemeClr val="tx1"/>
                  </a:solidFill>
                </a:rPr>
                <a:t>.</a:t>
              </a:r>
            </a:p>
            <a:p>
              <a:pPr algn="ctr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>
                <a:lnSpc>
                  <a:spcPct val="150000"/>
                </a:lnSpc>
              </a:pP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9204E36-E46C-F650-1AFF-A661C4E24D24}"/>
                </a:ext>
              </a:extLst>
            </p:cNvPr>
            <p:cNvSpPr/>
            <p:nvPr/>
          </p:nvSpPr>
          <p:spPr>
            <a:xfrm>
              <a:off x="6382800" y="4163600"/>
              <a:ext cx="1598400" cy="3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/>
                <a:t>FF3 + MOM</a:t>
              </a:r>
              <a:endParaRPr lang="ko-KR" altLang="en-US" sz="1200" b="1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4BE8798F-7A75-2DEC-C65B-2872AD32E527}"/>
                </a:ext>
              </a:extLst>
            </p:cNvPr>
            <p:cNvSpPr/>
            <p:nvPr/>
          </p:nvSpPr>
          <p:spPr>
            <a:xfrm>
              <a:off x="6411838" y="4188269"/>
              <a:ext cx="176980" cy="1769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rgbClr val="156082"/>
                  </a:solidFill>
                </a:rPr>
                <a:t>2</a:t>
              </a:r>
              <a:endParaRPr lang="ko-KR" altLang="en-US" sz="1200" b="1" dirty="0">
                <a:solidFill>
                  <a:srgbClr val="156082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23857AB-AE67-68C1-54E8-8AC2F96E6243}"/>
              </a:ext>
            </a:extLst>
          </p:cNvPr>
          <p:cNvGrpSpPr/>
          <p:nvPr/>
        </p:nvGrpSpPr>
        <p:grpSpPr>
          <a:xfrm>
            <a:off x="6361200" y="5068067"/>
            <a:ext cx="5472000" cy="1240658"/>
            <a:chOff x="6360325" y="4163600"/>
            <a:chExt cx="5472000" cy="1240658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BD3AF27-C3D5-6F2D-C764-D00B4138740D}"/>
                </a:ext>
              </a:extLst>
            </p:cNvPr>
            <p:cNvSpPr/>
            <p:nvPr/>
          </p:nvSpPr>
          <p:spPr>
            <a:xfrm>
              <a:off x="6360325" y="4163600"/>
              <a:ext cx="5472000" cy="1240658"/>
            </a:xfrm>
            <a:prstGeom prst="rect">
              <a:avLst/>
            </a:prstGeom>
            <a:noFill/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/>
                  </a:solidFill>
                </a:rPr>
                <a:t>MKT = 0.9839</a:t>
              </a:r>
              <a:r>
                <a:rPr lang="ko-KR" altLang="en-US" sz="1200" dirty="0">
                  <a:solidFill>
                    <a:schemeClr val="tx1"/>
                  </a:solidFill>
                </a:rPr>
                <a:t>로 강한 시장 노출정도를 보인다</a:t>
              </a:r>
              <a:r>
                <a:rPr lang="en-US" altLang="ko-KR" sz="1200" dirty="0">
                  <a:solidFill>
                    <a:schemeClr val="tx1"/>
                  </a:solidFill>
                </a:rPr>
                <a:t>.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/>
                  </a:solidFill>
                </a:rPr>
                <a:t>SMB = 1.2923</a:t>
              </a:r>
              <a:r>
                <a:rPr lang="ko-KR" altLang="en-US" sz="1200" dirty="0">
                  <a:solidFill>
                    <a:schemeClr val="tx1"/>
                  </a:solidFill>
                </a:rPr>
                <a:t>으로 </a:t>
              </a:r>
              <a:r>
                <a:rPr lang="en-US" altLang="ko-KR" sz="1200" dirty="0">
                  <a:solidFill>
                    <a:schemeClr val="tx1"/>
                  </a:solidFill>
                </a:rPr>
                <a:t>Basic Portfolio</a:t>
              </a:r>
              <a:r>
                <a:rPr lang="ko-KR" altLang="en-US" sz="1200" dirty="0">
                  <a:solidFill>
                    <a:schemeClr val="tx1"/>
                  </a:solidFill>
                </a:rPr>
                <a:t>보다 더 강한 소형주 노출을 보이며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solidFill>
                    <a:schemeClr val="tx1"/>
                  </a:solidFill>
                </a:rPr>
                <a:t>HML = -0.1313</a:t>
              </a:r>
              <a:r>
                <a:rPr lang="ko-KR" altLang="en-US" sz="1200" dirty="0">
                  <a:solidFill>
                    <a:schemeClr val="tx1"/>
                  </a:solidFill>
                </a:rPr>
                <a:t>으로 약한 성장주 노출정도</a:t>
              </a:r>
              <a:r>
                <a:rPr lang="en-US" altLang="ko-KR" sz="1200" dirty="0">
                  <a:solidFill>
                    <a:schemeClr val="tx1"/>
                  </a:solidFill>
                </a:rPr>
                <a:t>, MOM</a:t>
              </a:r>
              <a:r>
                <a:rPr lang="ko-KR" altLang="en-US" sz="1200" dirty="0">
                  <a:solidFill>
                    <a:schemeClr val="tx1"/>
                  </a:solidFill>
                </a:rPr>
                <a:t>의 방향성은 뚜렷하지 않다</a:t>
              </a:r>
              <a:r>
                <a:rPr lang="en-US" altLang="ko-KR" sz="1200" dirty="0">
                  <a:solidFill>
                    <a:schemeClr val="tx1"/>
                  </a:solidFill>
                </a:rPr>
                <a:t>.</a:t>
              </a:r>
            </a:p>
            <a:p>
              <a:pPr algn="ctr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>
                <a:lnSpc>
                  <a:spcPct val="150000"/>
                </a:lnSpc>
              </a:pP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DCE3A2B-14EA-BCE5-CAF7-AAAE0EE79CBE}"/>
                </a:ext>
              </a:extLst>
            </p:cNvPr>
            <p:cNvSpPr/>
            <p:nvPr/>
          </p:nvSpPr>
          <p:spPr>
            <a:xfrm>
              <a:off x="6382800" y="4163600"/>
              <a:ext cx="1598400" cy="3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/>
                <a:t>FF3 + MOM</a:t>
              </a:r>
              <a:endParaRPr lang="ko-KR" altLang="en-US" sz="1200" b="1" dirty="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431FFFB-2940-7CC1-EC11-629AFE2D285E}"/>
                </a:ext>
              </a:extLst>
            </p:cNvPr>
            <p:cNvSpPr/>
            <p:nvPr/>
          </p:nvSpPr>
          <p:spPr>
            <a:xfrm>
              <a:off x="6389125" y="4188269"/>
              <a:ext cx="176980" cy="17698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rgbClr val="156082"/>
                  </a:solidFill>
                </a:rPr>
                <a:t>4</a:t>
              </a:r>
              <a:endParaRPr lang="ko-KR" altLang="en-US" sz="1200" b="1" dirty="0">
                <a:solidFill>
                  <a:srgbClr val="15608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6533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4F0F8-3E9A-B604-552F-3C09564E3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9B038E6E-0348-8640-089C-7F4C87544675}"/>
              </a:ext>
            </a:extLst>
          </p:cNvPr>
          <p:cNvSpPr txBox="1"/>
          <p:nvPr/>
        </p:nvSpPr>
        <p:spPr>
          <a:xfrm>
            <a:off x="540000" y="630000"/>
            <a:ext cx="8837680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참고문헌</a:t>
            </a:r>
            <a:endParaRPr lang="en-US" altLang="ko-KR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5D468B5-A609-7CCE-AB8F-3BBED75E00B4}"/>
              </a:ext>
            </a:extLst>
          </p:cNvPr>
          <p:cNvSpPr/>
          <p:nvPr/>
        </p:nvSpPr>
        <p:spPr>
          <a:xfrm>
            <a:off x="360000" y="720000"/>
            <a:ext cx="101948" cy="251534"/>
          </a:xfrm>
          <a:prstGeom prst="rect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A2BA853-1373-94E0-9A97-CC7ECE04B80C}"/>
              </a:ext>
            </a:extLst>
          </p:cNvPr>
          <p:cNvSpPr/>
          <p:nvPr/>
        </p:nvSpPr>
        <p:spPr>
          <a:xfrm>
            <a:off x="360000" y="720000"/>
            <a:ext cx="101948" cy="251534"/>
          </a:xfrm>
          <a:prstGeom prst="rect">
            <a:avLst/>
          </a:prstGeom>
          <a:solidFill>
            <a:srgbClr val="215F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60593D9-C9DA-73A1-B8BC-98DDE879B6FC}"/>
              </a:ext>
            </a:extLst>
          </p:cNvPr>
          <p:cNvGrpSpPr/>
          <p:nvPr/>
        </p:nvGrpSpPr>
        <p:grpSpPr>
          <a:xfrm>
            <a:off x="360000" y="1171990"/>
            <a:ext cx="11486561" cy="311948"/>
            <a:chOff x="360000" y="1171989"/>
            <a:chExt cx="7610686" cy="311949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B82D494-8FE7-E7E3-C522-6182CC723B80}"/>
                </a:ext>
              </a:extLst>
            </p:cNvPr>
            <p:cNvSpPr/>
            <p:nvPr/>
          </p:nvSpPr>
          <p:spPr>
            <a:xfrm>
              <a:off x="360000" y="1171989"/>
              <a:ext cx="3497841" cy="3119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r>
                <a:rPr lang="en-US" altLang="ko-KR" sz="1400" b="1" dirty="0">
                  <a:solidFill>
                    <a:srgbClr val="215F9A"/>
                  </a:solidFill>
                </a:rPr>
                <a:t>Academic</a:t>
              </a:r>
              <a:r>
                <a:rPr lang="ko-KR" altLang="en-US" sz="1400" b="1" dirty="0">
                  <a:solidFill>
                    <a:srgbClr val="215F9A"/>
                  </a:solidFill>
                </a:rPr>
                <a:t> </a:t>
              </a:r>
              <a:r>
                <a:rPr lang="en-US" altLang="ko-KR" sz="1400" b="1" dirty="0">
                  <a:solidFill>
                    <a:srgbClr val="215F9A"/>
                  </a:solidFill>
                </a:rPr>
                <a:t>Foundation</a:t>
              </a:r>
              <a:r>
                <a:rPr lang="ko-KR" altLang="en-US" sz="1400" b="1" dirty="0">
                  <a:solidFill>
                    <a:srgbClr val="215F9A"/>
                  </a:solidFill>
                </a:rPr>
                <a:t> </a:t>
              </a:r>
              <a:r>
                <a:rPr lang="en-US" altLang="ko-KR" sz="1400" b="1" dirty="0">
                  <a:solidFill>
                    <a:srgbClr val="215F9A"/>
                  </a:solidFill>
                </a:rPr>
                <a:t>&amp;</a:t>
              </a:r>
              <a:r>
                <a:rPr lang="ko-KR" altLang="en-US" sz="1400" b="1" dirty="0">
                  <a:solidFill>
                    <a:srgbClr val="215F9A"/>
                  </a:solidFill>
                </a:rPr>
                <a:t> </a:t>
              </a:r>
              <a:r>
                <a:rPr lang="en-US" altLang="ko-KR" sz="1400" b="1" dirty="0">
                  <a:solidFill>
                    <a:srgbClr val="215F9A"/>
                  </a:solidFill>
                </a:rPr>
                <a:t>References</a:t>
              </a:r>
              <a:endParaRPr lang="ko-KR" altLang="en-US" sz="1400" b="1" dirty="0">
                <a:solidFill>
                  <a:srgbClr val="215F9A"/>
                </a:solidFill>
              </a:endParaRPr>
            </a:p>
          </p:txBody>
        </p: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6B155B72-9DAB-F7E0-7E1D-DAAF7B59311E}"/>
                </a:ext>
              </a:extLst>
            </p:cNvPr>
            <p:cNvCxnSpPr>
              <a:cxnSpLocks/>
            </p:cNvCxnSpPr>
            <p:nvPr/>
          </p:nvCxnSpPr>
          <p:spPr>
            <a:xfrm>
              <a:off x="360000" y="1483938"/>
              <a:ext cx="7610686" cy="0"/>
            </a:xfrm>
            <a:prstGeom prst="line">
              <a:avLst/>
            </a:prstGeom>
            <a:ln w="666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0A08B0D-2F14-B3F3-0D1D-F198D179FAEF}"/>
              </a:ext>
            </a:extLst>
          </p:cNvPr>
          <p:cNvSpPr txBox="1"/>
          <p:nvPr/>
        </p:nvSpPr>
        <p:spPr>
          <a:xfrm>
            <a:off x="360000" y="1625818"/>
            <a:ext cx="9535666" cy="3934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Kraus, A. &amp; Litzenberger, R.H. (1976). </a:t>
            </a:r>
            <a:r>
              <a:rPr lang="en-US" altLang="ko-KR" sz="1200" i="1" dirty="0"/>
              <a:t>“Skewness Preference and the Valuation of Risk Assets.”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Harvey, C.R. &amp; Siddique, A. (2000). </a:t>
            </a:r>
            <a:r>
              <a:rPr lang="en-US" altLang="ko-KR" sz="1200" i="1" dirty="0"/>
              <a:t>“Conditional Skewness in Asset Pricing Tests.”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err="1"/>
              <a:t>Kozhan</a:t>
            </a:r>
            <a:r>
              <a:rPr lang="en-US" altLang="ko-KR" sz="1200" dirty="0"/>
              <a:t>, R., Neuberger, A. &amp; Schneider, P. (2013). </a:t>
            </a:r>
            <a:r>
              <a:rPr lang="en-US" altLang="ko-KR" sz="1200" i="1" dirty="0"/>
              <a:t>“The Skew Risk Premium in the Equity Index Market.”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Constantinides, G.M. &amp; </a:t>
            </a:r>
            <a:r>
              <a:rPr lang="en-US" altLang="ko-KR" sz="1200" dirty="0" err="1"/>
              <a:t>Ilut</a:t>
            </a:r>
            <a:r>
              <a:rPr lang="en-US" altLang="ko-KR" sz="1200" dirty="0"/>
              <a:t>, C.L. (2013). </a:t>
            </a:r>
            <a:r>
              <a:rPr lang="en-US" altLang="ko-KR" sz="1200" i="1" dirty="0"/>
              <a:t>“Skewness Premium for Short-Term Exposure to Squared Market Risk.”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Suh, Song, and Lee. (2014). “</a:t>
            </a:r>
            <a:r>
              <a:rPr lang="en-US" altLang="ko-KR" sz="1200" i="1" dirty="0"/>
              <a:t>Portfolio Selection Using New Factors Based on Co-moments.”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Chu, P.K. (2022). </a:t>
            </a:r>
            <a:r>
              <a:rPr lang="en-US" altLang="ko-KR" sz="1200" i="1" dirty="0"/>
              <a:t>“</a:t>
            </a:r>
            <a:r>
              <a:rPr lang="en-US" altLang="ko-KR" sz="1200" i="1" dirty="0" err="1"/>
              <a:t>Semibeta</a:t>
            </a:r>
            <a:r>
              <a:rPr lang="en-US" altLang="ko-KR" sz="1200" i="1" dirty="0"/>
              <a:t> asset pricing in the Korean stock market.”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Bollerslev, T., Todorov, V., &amp; Xu, L. (2015). </a:t>
            </a:r>
            <a:r>
              <a:rPr lang="en-US" altLang="ko-KR" sz="1200" i="1" dirty="0"/>
              <a:t>"The Skewness Risk Premium in Equity Index Options."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Sharpe, W.F. (1964). </a:t>
            </a:r>
            <a:r>
              <a:rPr lang="en-US" altLang="ko-KR" sz="1200" i="1" dirty="0"/>
              <a:t>“Capital Asset Prices: A Theory of Market Equilibrium under Conditions of Risk.”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Fama, E.F., &amp; French, K.R. (1993). </a:t>
            </a:r>
            <a:r>
              <a:rPr lang="en-US" altLang="ko-KR" sz="1200" i="1" dirty="0"/>
              <a:t>“Common risk factors in the returns on stocks and bonds.”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Ross, S.A. (1976). </a:t>
            </a:r>
            <a:r>
              <a:rPr lang="en-US" altLang="ko-KR" sz="1200" i="1" dirty="0"/>
              <a:t>“The Arbitrage Theory of Capital Asset Pricing.”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Merton, R.C. (1973). </a:t>
            </a:r>
            <a:r>
              <a:rPr lang="en-US" altLang="ko-KR" sz="1200" i="1" dirty="0"/>
              <a:t>“An Intertemporal Capital Asset Pricing Model.”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Altay, E. (2024). </a:t>
            </a:r>
            <a:r>
              <a:rPr lang="en-US" altLang="ko-KR" sz="1200" i="1" dirty="0"/>
              <a:t>“Conditional effects of higher order co-moments in asset pricing: Evidence from Borsa Istanbul.”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Hashmi, A.R. (2007). </a:t>
            </a:r>
            <a:r>
              <a:rPr lang="en-US" altLang="ko-KR" sz="1200" i="1" dirty="0"/>
              <a:t>“Global regional sources of risk in equity markets: Evidence from factor models with time-varying skewness.”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/>
              <a:t>Azher &amp; Iqbal (2018). </a:t>
            </a:r>
            <a:r>
              <a:rPr lang="en-US" altLang="ko-KR" sz="1200" i="1" dirty="0"/>
              <a:t>“Role of Realized Skewness and Kurtosis in Predicting Volatility.”</a:t>
            </a:r>
            <a:endParaRPr lang="ko-KR" altLang="en-US" sz="1200" i="1" dirty="0"/>
          </a:p>
        </p:txBody>
      </p:sp>
      <p:pic>
        <p:nvPicPr>
          <p:cNvPr id="2" name="그림 1" descr="텍스트, 폰트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DA21C7-27C7-5C53-A59A-E18DDBBD70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4" y="6455949"/>
            <a:ext cx="1209904" cy="40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640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8805</TotalTime>
  <Words>2348</Words>
  <Application>Microsoft Office PowerPoint</Application>
  <PresentationFormat>와이드스크린</PresentationFormat>
  <Paragraphs>581</Paragraphs>
  <Slides>17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Arial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박해성</dc:creator>
  <cp:lastModifiedBy>박해성</cp:lastModifiedBy>
  <cp:revision>166</cp:revision>
  <dcterms:created xsi:type="dcterms:W3CDTF">2025-10-29T07:40:38Z</dcterms:created>
  <dcterms:modified xsi:type="dcterms:W3CDTF">2025-11-15T09:17:53Z</dcterms:modified>
</cp:coreProperties>
</file>